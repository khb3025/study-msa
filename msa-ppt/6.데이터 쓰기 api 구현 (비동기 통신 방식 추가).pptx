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81F992F-C9A8-4658-8E68-17F25D722148}">
          <p14:sldIdLst>
            <p14:sldId id="256"/>
          </p14:sldIdLst>
        </p14:section>
        <p14:section name="동기/비동기 통신 구분" id="{5EAC6B32-95CC-470D-8DAE-ED0087F02175}">
          <p14:sldIdLst>
            <p14:sldId id="257"/>
          </p14:sldIdLst>
        </p14:section>
        <p14:section name="프로젝트 구조 변경" id="{348666BE-A691-4185-8CC5-10BCB92E3EB0}">
          <p14:sldIdLst>
            <p14:sldId id="258"/>
          </p14:sldIdLst>
        </p14:section>
        <p14:section name="Kafka로 이벤트 발행" id="{31FE7D67-BC6E-47D9-89DD-97F8168338E5}">
          <p14:sldIdLst>
            <p14:sldId id="259"/>
            <p14:sldId id="260"/>
            <p14:sldId id="261"/>
            <p14:sldId id="262"/>
          </p14:sldIdLst>
        </p14:section>
        <p14:section name="Kafka로 발행 이벤트 구독" id="{0363596B-4BAE-4873-AEF8-7BC01AB52CE6}">
          <p14:sldIdLst>
            <p14:sldId id="263"/>
            <p14:sldId id="264"/>
            <p14:sldId id="265"/>
            <p14:sldId id="266"/>
          </p14:sldIdLst>
        </p14:section>
        <p14:section name="구현 확인하기" id="{55EB700D-0F96-4434-8199-CEB1383C69ED}">
          <p14:sldIdLst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27D6-BF3F-4A34-B39B-28537EF692EA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8D0B-9D85-4746-9BF1-BB3C2B03AA6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546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27D6-BF3F-4A34-B39B-28537EF692EA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8D0B-9D85-4746-9BF1-BB3C2B03A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304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27D6-BF3F-4A34-B39B-28537EF692EA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8D0B-9D85-4746-9BF1-BB3C2B03AA6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913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27D6-BF3F-4A34-B39B-28537EF692EA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8D0B-9D85-4746-9BF1-BB3C2B03A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44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27D6-BF3F-4A34-B39B-28537EF692EA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8D0B-9D85-4746-9BF1-BB3C2B03A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73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27D6-BF3F-4A34-B39B-28537EF692EA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8D0B-9D85-4746-9BF1-BB3C2B03A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41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27D6-BF3F-4A34-B39B-28537EF692EA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8D0B-9D85-4746-9BF1-BB3C2B03A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710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DC727D6-BF3F-4A34-B39B-28537EF692EA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788D0B-9D85-4746-9BF1-BB3C2B03A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993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27D6-BF3F-4A34-B39B-28537EF692EA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8D0B-9D85-4746-9BF1-BB3C2B03A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863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27D6-BF3F-4A34-B39B-28537EF692EA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8D0B-9D85-4746-9BF1-BB3C2B03A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859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27D6-BF3F-4A34-B39B-28537EF692EA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8D0B-9D85-4746-9BF1-BB3C2B03A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083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DC727D6-BF3F-4A34-B39B-28537EF692EA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9788D0B-9D85-4746-9BF1-BB3C2B03AA6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71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EF35B-B4A4-8491-14B9-987B5C12E0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000"/>
              <a:t>데이터 쓰기 </a:t>
            </a:r>
            <a:r>
              <a:rPr lang="en-US" altLang="ko-KR" sz="6000"/>
              <a:t>API </a:t>
            </a:r>
            <a:r>
              <a:rPr lang="ko-KR" altLang="en-US" sz="6000"/>
              <a:t>구현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BC3969D-FF55-7605-5E02-E0F95B6A5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동기</a:t>
            </a:r>
            <a:r>
              <a:rPr lang="en-US" altLang="ko-KR"/>
              <a:t>/</a:t>
            </a:r>
            <a:r>
              <a:rPr lang="ko-KR" altLang="en-US"/>
              <a:t>비동기 통신 구분하기</a:t>
            </a:r>
          </a:p>
        </p:txBody>
      </p:sp>
    </p:spTree>
    <p:extLst>
      <p:ext uri="{BB962C8B-B14F-4D97-AF65-F5344CB8AC3E}">
        <p14:creationId xmlns:p14="http://schemas.microsoft.com/office/powerpoint/2010/main" val="3096664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DFDDB-334B-6335-946C-76DE5C49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동기</a:t>
            </a:r>
            <a:r>
              <a:rPr lang="en-US" altLang="ko-KR"/>
              <a:t>/</a:t>
            </a:r>
            <a:r>
              <a:rPr lang="ko-KR" altLang="en-US"/>
              <a:t>비동기 방식 구별하기</a:t>
            </a:r>
            <a:r>
              <a:rPr lang="en-US" altLang="ko-KR"/>
              <a:t>.</a:t>
            </a:r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3649B2B-F9F9-D4C9-847A-3720479DFCC8}"/>
              </a:ext>
            </a:extLst>
          </p:cNvPr>
          <p:cNvGrpSpPr/>
          <p:nvPr/>
        </p:nvGrpSpPr>
        <p:grpSpPr>
          <a:xfrm>
            <a:off x="466345" y="1828800"/>
            <a:ext cx="5312664" cy="5029200"/>
            <a:chOff x="2212848" y="163125"/>
            <a:chExt cx="5460275" cy="5039811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F5199D5D-E572-BB2F-A383-994E9ECF2645}"/>
                </a:ext>
              </a:extLst>
            </p:cNvPr>
            <p:cNvGrpSpPr/>
            <p:nvPr/>
          </p:nvGrpSpPr>
          <p:grpSpPr>
            <a:xfrm>
              <a:off x="2212848" y="163125"/>
              <a:ext cx="5460275" cy="5039811"/>
              <a:chOff x="3256134" y="1818189"/>
              <a:chExt cx="5460275" cy="5039811"/>
            </a:xfrm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59602F47-887C-F826-D3C0-6507485EB56D}"/>
                  </a:ext>
                </a:extLst>
              </p:cNvPr>
              <p:cNvGrpSpPr/>
              <p:nvPr/>
            </p:nvGrpSpPr>
            <p:grpSpPr>
              <a:xfrm>
                <a:off x="3256134" y="1818189"/>
                <a:ext cx="5460275" cy="5039811"/>
                <a:chOff x="3256134" y="1818189"/>
                <a:chExt cx="5460275" cy="5039811"/>
              </a:xfrm>
            </p:grpSpPr>
            <p:grpSp>
              <p:nvGrpSpPr>
                <p:cNvPr id="7" name="그룹 6">
                  <a:extLst>
                    <a:ext uri="{FF2B5EF4-FFF2-40B4-BE49-F238E27FC236}">
                      <a16:creationId xmlns:a16="http://schemas.microsoft.com/office/drawing/2014/main" id="{0FE7D6FB-C621-6215-DD3F-D6993BCA1D19}"/>
                    </a:ext>
                  </a:extLst>
                </p:cNvPr>
                <p:cNvGrpSpPr/>
                <p:nvPr/>
              </p:nvGrpSpPr>
              <p:grpSpPr>
                <a:xfrm>
                  <a:off x="3256134" y="1818189"/>
                  <a:ext cx="5460275" cy="5039811"/>
                  <a:chOff x="3256134" y="1818189"/>
                  <a:chExt cx="5460275" cy="5039811"/>
                </a:xfrm>
              </p:grpSpPr>
              <p:pic>
                <p:nvPicPr>
                  <p:cNvPr id="4" name="그림 3">
                    <a:extLst>
                      <a:ext uri="{FF2B5EF4-FFF2-40B4-BE49-F238E27FC236}">
                        <a16:creationId xmlns:a16="http://schemas.microsoft.com/office/drawing/2014/main" id="{B7CFC2E7-ADA7-A28C-BFC7-613BAF54DC2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3256134" y="1818189"/>
                    <a:ext cx="5460275" cy="5039811"/>
                  </a:xfrm>
                  <a:prstGeom prst="rect">
                    <a:avLst/>
                  </a:prstGeom>
                </p:spPr>
              </p:pic>
              <p:sp>
                <p:nvSpPr>
                  <p:cNvPr id="5" name="직사각형 4">
                    <a:extLst>
                      <a:ext uri="{FF2B5EF4-FFF2-40B4-BE49-F238E27FC236}">
                        <a16:creationId xmlns:a16="http://schemas.microsoft.com/office/drawing/2014/main" id="{AD5D0D0E-A3B2-7D49-189E-045A6713D88F}"/>
                      </a:ext>
                    </a:extLst>
                  </p:cNvPr>
                  <p:cNvSpPr/>
                  <p:nvPr/>
                </p:nvSpPr>
                <p:spPr>
                  <a:xfrm>
                    <a:off x="4617720" y="4507992"/>
                    <a:ext cx="1755648" cy="228600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6" name="직사각형 5">
                    <a:extLst>
                      <a:ext uri="{FF2B5EF4-FFF2-40B4-BE49-F238E27FC236}">
                        <a16:creationId xmlns:a16="http://schemas.microsoft.com/office/drawing/2014/main" id="{F482C0DA-2A36-3D23-6654-D782394FB60F}"/>
                      </a:ext>
                    </a:extLst>
                  </p:cNvPr>
                  <p:cNvSpPr/>
                  <p:nvPr/>
                </p:nvSpPr>
                <p:spPr>
                  <a:xfrm>
                    <a:off x="3849624" y="4507992"/>
                    <a:ext cx="420624" cy="228600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11CBA236-D3F0-1547-76E3-47F0BDF54CF3}"/>
                    </a:ext>
                  </a:extLst>
                </p:cNvPr>
                <p:cNvSpPr/>
                <p:nvPr/>
              </p:nvSpPr>
              <p:spPr>
                <a:xfrm>
                  <a:off x="6217920" y="6080760"/>
                  <a:ext cx="2423160" cy="155448"/>
                </a:xfrm>
                <a:prstGeom prst="rect">
                  <a:avLst/>
                </a:pr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9EA38F88-9A5A-B489-8C87-8C73769EF345}"/>
                    </a:ext>
                  </a:extLst>
                </p:cNvPr>
                <p:cNvSpPr/>
                <p:nvPr/>
              </p:nvSpPr>
              <p:spPr>
                <a:xfrm>
                  <a:off x="3406140" y="6236208"/>
                  <a:ext cx="443484" cy="155448"/>
                </a:xfrm>
                <a:prstGeom prst="rect">
                  <a:avLst/>
                </a:pr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011FF1C3-25A4-5AB9-4492-A967E88D641B}"/>
                    </a:ext>
                  </a:extLst>
                </p:cNvPr>
                <p:cNvSpPr/>
                <p:nvPr/>
              </p:nvSpPr>
              <p:spPr>
                <a:xfrm>
                  <a:off x="7077456" y="5925312"/>
                  <a:ext cx="1563624" cy="15544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04F001E2-94F4-63BD-5599-8C3F8D47FBB7}"/>
                    </a:ext>
                  </a:extLst>
                </p:cNvPr>
                <p:cNvSpPr/>
                <p:nvPr/>
              </p:nvSpPr>
              <p:spPr>
                <a:xfrm>
                  <a:off x="3399172" y="6053328"/>
                  <a:ext cx="2423159" cy="182880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1A86E99C-4BCE-887B-AA44-C9A9B0BEEF7A}"/>
                  </a:ext>
                </a:extLst>
              </p:cNvPr>
              <p:cNvSpPr/>
              <p:nvPr/>
            </p:nvSpPr>
            <p:spPr>
              <a:xfrm>
                <a:off x="5239512" y="6364224"/>
                <a:ext cx="3476896" cy="182880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477BC5C7-9655-B013-0289-566F4B594120}"/>
                  </a:ext>
                </a:extLst>
              </p:cNvPr>
              <p:cNvSpPr/>
              <p:nvPr/>
            </p:nvSpPr>
            <p:spPr>
              <a:xfrm>
                <a:off x="3406140" y="6547104"/>
                <a:ext cx="2263140" cy="155448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98647BA-382A-E7DE-684A-42D353B94C67}"/>
                </a:ext>
              </a:extLst>
            </p:cNvPr>
            <p:cNvSpPr/>
            <p:nvPr/>
          </p:nvSpPr>
          <p:spPr>
            <a:xfrm>
              <a:off x="5174634" y="3922776"/>
              <a:ext cx="2179320" cy="22860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47B6195-F96F-07C5-9024-EDA76A5637C2}"/>
                </a:ext>
              </a:extLst>
            </p:cNvPr>
            <p:cNvSpPr/>
            <p:nvPr/>
          </p:nvSpPr>
          <p:spPr>
            <a:xfrm>
              <a:off x="2944368" y="3899916"/>
              <a:ext cx="713232" cy="22860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5715A1D-1A19-825C-6DD0-91D17CEC4C7A}"/>
              </a:ext>
            </a:extLst>
          </p:cNvPr>
          <p:cNvSpPr txBox="1"/>
          <p:nvPr/>
        </p:nvSpPr>
        <p:spPr>
          <a:xfrm>
            <a:off x="5989320" y="1737360"/>
            <a:ext cx="5852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요약 </a:t>
            </a:r>
            <a:r>
              <a:rPr lang="en-US" altLang="ko-KR"/>
              <a:t>: </a:t>
            </a:r>
          </a:p>
          <a:p>
            <a:pPr marL="171450" indent="-171450">
              <a:buFontTx/>
              <a:buChar char="-"/>
            </a:pPr>
            <a:r>
              <a:rPr lang="ko-KR" altLang="en-US" sz="1200"/>
              <a:t>동기 방식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요청에 대한 응답이 반드시 필요한 경우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( EX: </a:t>
            </a:r>
            <a:r>
              <a:rPr lang="ko-KR" altLang="en-US" sz="1200">
                <a:sym typeface="Wingdings" panose="05000000000000000000" pitchFamily="2" charset="2"/>
              </a:rPr>
              <a:t>포인트 차감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게시글 작성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작성된 게시글 노출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                              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/>
              <a:t>비동기 방식 </a:t>
            </a:r>
            <a:r>
              <a:rPr lang="en-US" altLang="ko-KR" sz="1200">
                <a:sym typeface="Wingdings" panose="05000000000000000000" pitchFamily="2" charset="2"/>
              </a:rPr>
              <a:t>  </a:t>
            </a:r>
            <a:r>
              <a:rPr lang="ko-KR" altLang="en-US" sz="1200">
                <a:sym typeface="Wingdings" panose="05000000000000000000" pitchFamily="2" charset="2"/>
              </a:rPr>
              <a:t>요청에 대한 응답을 받지 않아도 되는경우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                           </a:t>
            </a:r>
            <a:r>
              <a:rPr lang="ko-KR" altLang="en-US" sz="1200">
                <a:sym typeface="Wingdings" panose="05000000000000000000" pitchFamily="2" charset="2"/>
              </a:rPr>
              <a:t>당장 처리 결과를 보여주지 않아도 되는 경우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200"/>
              <a:t>( EX: </a:t>
            </a:r>
            <a:r>
              <a:rPr lang="ko-KR" altLang="en-US" sz="1200"/>
              <a:t>게시글 작성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활동포인트 적립 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  <a:endParaRPr lang="en-US" altLang="ko-KR" sz="12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23B033-8416-3BA1-7B9F-148E548E6315}"/>
              </a:ext>
            </a:extLst>
          </p:cNvPr>
          <p:cNvSpPr txBox="1"/>
          <p:nvPr/>
        </p:nvSpPr>
        <p:spPr>
          <a:xfrm>
            <a:off x="6096000" y="3602736"/>
            <a:ext cx="5745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※ MSA </a:t>
            </a:r>
            <a:r>
              <a:rPr lang="ko-KR" altLang="en-US"/>
              <a:t>환경에서 비동기 통신만 사용하는건 아님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    </a:t>
            </a:r>
            <a:r>
              <a:rPr lang="ko-KR" altLang="en-US"/>
              <a:t>혼용해서 적재적소에 맞는 통신방식을 사용한다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373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F5D61-1852-6541-CF90-345BE1972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구조 설계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CEE7998-EE69-D1B9-6E8F-84B52E3643FF}"/>
              </a:ext>
            </a:extLst>
          </p:cNvPr>
          <p:cNvGrpSpPr/>
          <p:nvPr/>
        </p:nvGrpSpPr>
        <p:grpSpPr>
          <a:xfrm>
            <a:off x="225010" y="2842589"/>
            <a:ext cx="5481256" cy="2821119"/>
            <a:chOff x="225010" y="2842589"/>
            <a:chExt cx="5481256" cy="282111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7155C97-47B9-BFD1-0A10-A90101B53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010" y="2842589"/>
              <a:ext cx="5481256" cy="245178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6B186A-C61D-C648-4433-C2E95D5CE5ED}"/>
                </a:ext>
              </a:extLst>
            </p:cNvPr>
            <p:cNvSpPr txBox="1"/>
            <p:nvPr/>
          </p:nvSpPr>
          <p:spPr>
            <a:xfrm>
              <a:off x="225010" y="5294376"/>
              <a:ext cx="4160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현재 구조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1448094-7991-C99D-F511-F544415EDADA}"/>
              </a:ext>
            </a:extLst>
          </p:cNvPr>
          <p:cNvGrpSpPr/>
          <p:nvPr/>
        </p:nvGrpSpPr>
        <p:grpSpPr>
          <a:xfrm>
            <a:off x="6168090" y="2099755"/>
            <a:ext cx="5798900" cy="4471642"/>
            <a:chOff x="6168090" y="2099755"/>
            <a:chExt cx="5798900" cy="447164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AE340FA-A8A4-1358-E669-5520F16E7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8090" y="2099755"/>
              <a:ext cx="5798900" cy="411103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62E5B94-410B-AE07-DA32-E23BB5E4EEE7}"/>
                </a:ext>
              </a:extLst>
            </p:cNvPr>
            <p:cNvSpPr txBox="1"/>
            <p:nvPr/>
          </p:nvSpPr>
          <p:spPr>
            <a:xfrm>
              <a:off x="6168090" y="6202065"/>
              <a:ext cx="4160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변경 구조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4091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A5B8F7-849A-0B18-81CD-ABE63823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Kafka </a:t>
            </a:r>
            <a:r>
              <a:rPr lang="ko-KR" altLang="en-US"/>
              <a:t>도커 컨테이너 생성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066615-9EFA-1398-BF9E-D4C490E577AE}"/>
              </a:ext>
            </a:extLst>
          </p:cNvPr>
          <p:cNvSpPr txBox="1"/>
          <p:nvPr/>
        </p:nvSpPr>
        <p:spPr>
          <a:xfrm>
            <a:off x="1181862" y="1737360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/>
              <a:t>CMD : </a:t>
            </a:r>
            <a:r>
              <a:rPr lang="ko-KR" altLang="en-US" sz="1400"/>
              <a:t>docker run --name msa_kafka -d -p 9092:9092 apache/kafka:4.1.0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9F8144F-54A5-3D30-027F-1FAE598F5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862" y="2246305"/>
            <a:ext cx="9097645" cy="36866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2294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3438FC-9912-CAFC-A0C6-0CDE55EAA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Kafka </a:t>
            </a:r>
            <a:r>
              <a:rPr lang="ko-KR" altLang="en-US" sz="4000"/>
              <a:t>설정 변경 및 의존성 추가</a:t>
            </a:r>
            <a:r>
              <a:rPr lang="en-US" altLang="ko-KR" sz="4000"/>
              <a:t>(board-service)</a:t>
            </a:r>
            <a:endParaRPr lang="ko-KR" altLang="en-US" sz="400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0DD9BA7-415C-4E79-71BB-D1F5EF69CC2B}"/>
              </a:ext>
            </a:extLst>
          </p:cNvPr>
          <p:cNvGrpSpPr/>
          <p:nvPr/>
        </p:nvGrpSpPr>
        <p:grpSpPr>
          <a:xfrm>
            <a:off x="1097280" y="1831513"/>
            <a:ext cx="7388352" cy="4293483"/>
            <a:chOff x="1097280" y="1831513"/>
            <a:chExt cx="7388352" cy="4293483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B42DEEF-F4A3-AE99-A955-3FB1978A1904}"/>
                </a:ext>
              </a:extLst>
            </p:cNvPr>
            <p:cNvGrpSpPr/>
            <p:nvPr/>
          </p:nvGrpSpPr>
          <p:grpSpPr>
            <a:xfrm>
              <a:off x="1097280" y="1831513"/>
              <a:ext cx="7388352" cy="4031873"/>
              <a:chOff x="1097280" y="1831513"/>
              <a:chExt cx="7388352" cy="4031873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E4F6AF-0276-B398-AEBD-DDE0719F212E}"/>
                  </a:ext>
                </a:extLst>
              </p:cNvPr>
              <p:cNvSpPr txBox="1"/>
              <p:nvPr/>
            </p:nvSpPr>
            <p:spPr>
              <a:xfrm>
                <a:off x="1097280" y="1831513"/>
                <a:ext cx="7388352" cy="403187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spring</a:t>
                </a: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</a:t>
                </a:r>
                <a:r>
                  <a:rPr lang="en-US" altLang="ko-KR" sz="105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datasource</a:t>
                </a: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5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url</a:t>
                </a: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5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jdbc:mysql://localhost:3321/board-db</a:t>
                </a:r>
                <a:endParaRPr lang="en-US" altLang="ko-KR" sz="105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5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username</a:t>
                </a: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5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root</a:t>
                </a:r>
                <a:endParaRPr lang="en-US" altLang="ko-KR" sz="105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5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password</a:t>
                </a: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5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password</a:t>
                </a:r>
                <a:endParaRPr lang="en-US" altLang="ko-KR" sz="105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5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driver-class-name</a:t>
                </a: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5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com.mysql.cj.jdbc.Driver</a:t>
                </a:r>
                <a:endParaRPr lang="en-US" altLang="ko-KR" sz="105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endParaRPr lang="en-US" altLang="ko-KR" sz="105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</a:t>
                </a:r>
                <a:r>
                  <a:rPr lang="en-US" altLang="ko-KR" sz="105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jpa</a:t>
                </a: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5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hibernate</a:t>
                </a: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    </a:t>
                </a:r>
                <a:r>
                  <a:rPr lang="en-US" altLang="ko-KR" sz="105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ddl-auto</a:t>
                </a: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5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update</a:t>
                </a:r>
                <a:endParaRPr lang="en-US" altLang="ko-KR" sz="105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5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show-sql</a:t>
                </a: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50" b="0">
                    <a:solidFill>
                      <a:srgbClr val="569CD6"/>
                    </a:solidFill>
                    <a:effectLst/>
                    <a:latin typeface="Consolas" panose="020B0609020204030204" pitchFamily="49" charset="0"/>
                  </a:rPr>
                  <a:t>true</a:t>
                </a:r>
                <a:endParaRPr lang="en-US" altLang="ko-KR" sz="105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endParaRPr lang="en-US" altLang="ko-KR" sz="105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</a:t>
                </a:r>
                <a:r>
                  <a:rPr lang="en-US" altLang="ko-KR" sz="105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kafka</a:t>
                </a: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5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bootstrap-servers</a:t>
                </a: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5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localhost:9092</a:t>
                </a:r>
                <a:endParaRPr lang="en-US" altLang="ko-KR" sz="105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5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producer</a:t>
                </a: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    </a:t>
                </a:r>
                <a:r>
                  <a:rPr lang="en-US" altLang="ko-KR" sz="105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key-serializer</a:t>
                </a: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5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org.apache.kafka.common.serialization.StringSerializer</a:t>
                </a:r>
                <a:endParaRPr lang="en-US" altLang="ko-KR" sz="105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    </a:t>
                </a:r>
                <a:r>
                  <a:rPr lang="en-US" altLang="ko-KR" sz="105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value-serializer</a:t>
                </a: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5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org.</a:t>
                </a:r>
                <a:r>
                  <a:rPr lang="en-US" altLang="ko-KR" sz="1050">
                    <a:solidFill>
                      <a:srgbClr val="A5D6FF"/>
                    </a:solidFill>
                    <a:latin typeface="Consolas" panose="020B0609020204030204" pitchFamily="49" charset="0"/>
                  </a:rPr>
                  <a:t>apache.kafka.</a:t>
                </a:r>
                <a:r>
                  <a:rPr lang="en-US" altLang="ko-KR" sz="105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common.serialization.StringSerializer</a:t>
                </a:r>
                <a:endParaRPr lang="en-US" altLang="ko-KR" sz="105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    </a:t>
                </a:r>
                <a:r>
                  <a:rPr lang="en-US" altLang="ko-KR" sz="1050" b="0">
                    <a:solidFill>
                      <a:srgbClr val="8B949E"/>
                    </a:solidFill>
                    <a:effectLst/>
                    <a:latin typeface="Consolas" panose="020B0609020204030204" pitchFamily="49" charset="0"/>
                  </a:rPr>
                  <a:t># properties:</a:t>
                </a:r>
                <a:endParaRPr lang="en-US" altLang="ko-KR" sz="105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    </a:t>
                </a:r>
                <a:r>
                  <a:rPr lang="en-US" altLang="ko-KR" sz="1050" b="0">
                    <a:solidFill>
                      <a:srgbClr val="8B949E"/>
                    </a:solidFill>
                    <a:effectLst/>
                    <a:latin typeface="Consolas" panose="020B0609020204030204" pitchFamily="49" charset="0"/>
                  </a:rPr>
                  <a:t>#     patitioner.class: org.apache.kafka.clients.producer.RoundRobinPartitioner</a:t>
                </a:r>
                <a:endParaRPr lang="en-US" altLang="ko-KR" sz="105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endParaRPr lang="en-US" altLang="ko-KR" sz="105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</a:t>
                </a:r>
                <a:r>
                  <a:rPr lang="en-US" altLang="ko-KR" sz="105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application</a:t>
                </a: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5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name</a:t>
                </a:r>
                <a:r>
                  <a:rPr lang="en-US" altLang="ko-KR" sz="105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5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board-service</a:t>
                </a:r>
                <a:endParaRPr lang="en-US" altLang="ko-KR" sz="105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BF7871A2-214D-F772-803D-81DFD3B501D2}"/>
                  </a:ext>
                </a:extLst>
              </p:cNvPr>
              <p:cNvSpPr/>
              <p:nvPr/>
            </p:nvSpPr>
            <p:spPr>
              <a:xfrm>
                <a:off x="1435608" y="3977640"/>
                <a:ext cx="6601968" cy="138988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6C5B827-326F-B107-3F51-CEFFD8DBE805}"/>
                </a:ext>
              </a:extLst>
            </p:cNvPr>
            <p:cNvSpPr txBox="1"/>
            <p:nvPr/>
          </p:nvSpPr>
          <p:spPr>
            <a:xfrm>
              <a:off x="1097280" y="5863386"/>
              <a:ext cx="73883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>
                  <a:solidFill>
                    <a:srgbClr val="FF0000"/>
                  </a:solidFill>
                </a:rPr>
                <a:t>application.yml </a:t>
              </a:r>
              <a:endParaRPr lang="ko-KR" altLang="en-US" sz="1100" b="1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2508E4D-1981-8AFB-C2FC-4FB5A7A705F2}"/>
              </a:ext>
            </a:extLst>
          </p:cNvPr>
          <p:cNvGrpSpPr/>
          <p:nvPr/>
        </p:nvGrpSpPr>
        <p:grpSpPr>
          <a:xfrm>
            <a:off x="1097280" y="6228983"/>
            <a:ext cx="7388352" cy="564133"/>
            <a:chOff x="1097280" y="6228983"/>
            <a:chExt cx="7388352" cy="56413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B0BD3FC-4EA9-5F53-58B0-AB7D13CB8FCF}"/>
                </a:ext>
              </a:extLst>
            </p:cNvPr>
            <p:cNvSpPr txBox="1"/>
            <p:nvPr/>
          </p:nvSpPr>
          <p:spPr>
            <a:xfrm>
              <a:off x="1097280" y="6531506"/>
              <a:ext cx="73883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>
                  <a:solidFill>
                    <a:srgbClr val="92D050"/>
                  </a:solidFill>
                </a:rPr>
                <a:t>build.gradle</a:t>
              </a:r>
              <a:endParaRPr lang="ko-KR" altLang="en-US" sz="1100" b="1">
                <a:solidFill>
                  <a:srgbClr val="92D05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03821D6-1C8A-1635-0EB7-C4AE6FA0A04C}"/>
                </a:ext>
              </a:extLst>
            </p:cNvPr>
            <p:cNvSpPr txBox="1"/>
            <p:nvPr/>
          </p:nvSpPr>
          <p:spPr>
            <a:xfrm>
              <a:off x="1097280" y="6228983"/>
              <a:ext cx="6864858" cy="26052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05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implementation</a:t>
              </a:r>
              <a:r>
                <a:rPr lang="en-US" altLang="ko-KR" sz="105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5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'org.springframework.boot:spring-boot-starter-kafka' </a:t>
              </a:r>
              <a:r>
                <a:rPr lang="en-US" altLang="ko-KR" sz="1050" b="0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#</a:t>
              </a:r>
              <a:r>
                <a:rPr lang="ko-KR" altLang="en-US" sz="1050" b="0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카프카 의존성 추가</a:t>
              </a:r>
              <a:endParaRPr lang="en-US" altLang="ko-KR" sz="1050" b="0">
                <a:solidFill>
                  <a:srgbClr val="00B050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6237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13177D-7956-C939-4168-19380C792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게시글 작성 완료 이벤트 </a:t>
            </a:r>
            <a:r>
              <a:rPr lang="en-US" altLang="ko-KR" sz="4000"/>
              <a:t>DTO </a:t>
            </a:r>
            <a:r>
              <a:rPr lang="ko-KR" altLang="en-US" sz="4000"/>
              <a:t>작성하기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06731FD-8FBA-38A6-84DC-18934FAFE1C4}"/>
              </a:ext>
            </a:extLst>
          </p:cNvPr>
          <p:cNvGrpSpPr/>
          <p:nvPr/>
        </p:nvGrpSpPr>
        <p:grpSpPr>
          <a:xfrm>
            <a:off x="1097280" y="1882357"/>
            <a:ext cx="2867425" cy="2343477"/>
            <a:chOff x="1097280" y="1882357"/>
            <a:chExt cx="2867425" cy="234347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475268F-108F-632F-E245-6BCBB7D03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82357"/>
              <a:ext cx="2867425" cy="234347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D222067-3A30-5F85-E1C1-E3ED1D2A0964}"/>
                </a:ext>
              </a:extLst>
            </p:cNvPr>
            <p:cNvSpPr/>
            <p:nvPr/>
          </p:nvSpPr>
          <p:spPr>
            <a:xfrm>
              <a:off x="1490472" y="3968496"/>
              <a:ext cx="1600200" cy="2573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15D230D-B538-E0F4-8E96-DE7261B80A21}"/>
              </a:ext>
            </a:extLst>
          </p:cNvPr>
          <p:cNvSpPr txBox="1"/>
          <p:nvPr/>
        </p:nvSpPr>
        <p:spPr>
          <a:xfrm>
            <a:off x="4364755" y="1882357"/>
            <a:ext cx="6094476" cy="24407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BoardCreatedEvent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6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BoardCreatedEvent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BoardCreatedEvent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(){}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16029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6F079-2125-2FDF-C249-BB4537D52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게시글 작성 이벤트 수정</a:t>
            </a:r>
            <a:r>
              <a:rPr lang="en-US" altLang="ko-KR" sz="4000"/>
              <a:t>(</a:t>
            </a:r>
            <a:r>
              <a:rPr lang="ko-KR" altLang="en-US" sz="4000"/>
              <a:t>활동 점수 적립</a:t>
            </a:r>
            <a:r>
              <a:rPr lang="en-US" altLang="ko-KR" sz="4000"/>
              <a:t>)</a:t>
            </a:r>
            <a:endParaRPr lang="ko-KR" altLang="en-US" sz="400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1221406-7B2D-7D34-9FB0-13B3639657A6}"/>
              </a:ext>
            </a:extLst>
          </p:cNvPr>
          <p:cNvGrpSpPr/>
          <p:nvPr/>
        </p:nvGrpSpPr>
        <p:grpSpPr>
          <a:xfrm>
            <a:off x="431323" y="1900645"/>
            <a:ext cx="2276793" cy="2343477"/>
            <a:chOff x="431323" y="1900645"/>
            <a:chExt cx="2276793" cy="234347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0AAE375-7C73-9BEC-EFA1-09CA18AC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1323" y="1900645"/>
              <a:ext cx="2276793" cy="234347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9C0D127-B3FF-310D-2A71-332E4291014A}"/>
                </a:ext>
              </a:extLst>
            </p:cNvPr>
            <p:cNvSpPr/>
            <p:nvPr/>
          </p:nvSpPr>
          <p:spPr>
            <a:xfrm>
              <a:off x="769619" y="3995928"/>
              <a:ext cx="1196341" cy="24819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D26A1FF-35CF-8F15-A5C9-3E61646A6380}"/>
              </a:ext>
            </a:extLst>
          </p:cNvPr>
          <p:cNvGrpSpPr/>
          <p:nvPr/>
        </p:nvGrpSpPr>
        <p:grpSpPr>
          <a:xfrm>
            <a:off x="2854912" y="1900645"/>
            <a:ext cx="5806790" cy="4576780"/>
            <a:chOff x="2854912" y="1900645"/>
            <a:chExt cx="5806790" cy="457678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D3C42C5-F38C-AAE8-847A-75C061A01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4912" y="1900645"/>
              <a:ext cx="5806790" cy="4576780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9AA4DC1-35E6-08C8-D46E-A792C2DA5E65}"/>
                </a:ext>
              </a:extLst>
            </p:cNvPr>
            <p:cNvSpPr/>
            <p:nvPr/>
          </p:nvSpPr>
          <p:spPr>
            <a:xfrm>
              <a:off x="3831336" y="5294376"/>
              <a:ext cx="4069080" cy="5120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E27EDBD-5578-0548-409D-B748735A53D5}"/>
                </a:ext>
              </a:extLst>
            </p:cNvPr>
            <p:cNvSpPr/>
            <p:nvPr/>
          </p:nvSpPr>
          <p:spPr>
            <a:xfrm>
              <a:off x="3831336" y="5806440"/>
              <a:ext cx="4830366" cy="67098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D5F154C-659B-C08A-9CF9-4CBE5BA3E62B}"/>
              </a:ext>
            </a:extLst>
          </p:cNvPr>
          <p:cNvSpPr txBox="1"/>
          <p:nvPr/>
        </p:nvSpPr>
        <p:spPr>
          <a:xfrm>
            <a:off x="8769096" y="1900645"/>
            <a:ext cx="322783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빨간 박스 코드 </a:t>
            </a:r>
            <a:r>
              <a:rPr lang="en-US" altLang="ko-KR" sz="1100">
                <a:sym typeface="Wingdings" panose="05000000000000000000" pitchFamily="2" charset="2"/>
              </a:rPr>
              <a:t> </a:t>
            </a:r>
            <a:r>
              <a:rPr lang="ko-KR" altLang="en-US" sz="1100">
                <a:sym typeface="Wingdings" panose="05000000000000000000" pitchFamily="2" charset="2"/>
              </a:rPr>
              <a:t>초록 박스 코드로 변경</a:t>
            </a:r>
            <a:endParaRPr lang="en-US" altLang="ko-KR" sz="1100">
              <a:sym typeface="Wingdings" panose="05000000000000000000" pitchFamily="2" charset="2"/>
            </a:endParaRPr>
          </a:p>
          <a:p>
            <a:endParaRPr lang="en-US" altLang="ko-KR" sz="1100">
              <a:sym typeface="Wingdings" panose="05000000000000000000" pitchFamily="2" charset="2"/>
            </a:endParaRPr>
          </a:p>
          <a:p>
            <a:r>
              <a:rPr lang="en-US" altLang="ko-KR" sz="1100"/>
              <a:t>toJsonString </a:t>
            </a:r>
            <a:r>
              <a:rPr lang="ko-KR" altLang="en-US" sz="1100"/>
              <a:t>메소드 </a:t>
            </a:r>
            <a:r>
              <a:rPr lang="en-US" altLang="ko-KR" sz="1100">
                <a:sym typeface="Wingdings" panose="05000000000000000000" pitchFamily="2" charset="2"/>
              </a:rPr>
              <a:t> ObjectMapper</a:t>
            </a:r>
            <a:r>
              <a:rPr lang="ko-KR" altLang="en-US" sz="1100">
                <a:sym typeface="Wingdings" panose="05000000000000000000" pitchFamily="2" charset="2"/>
              </a:rPr>
              <a:t>를 사용한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              Java</a:t>
            </a:r>
            <a:r>
              <a:rPr lang="ko-KR" altLang="en-US" sz="1100">
                <a:sym typeface="Wingdings" panose="05000000000000000000" pitchFamily="2" charset="2"/>
              </a:rPr>
              <a:t>객체 </a:t>
            </a:r>
            <a:r>
              <a:rPr lang="en-US" altLang="ko-KR" sz="1100">
                <a:sym typeface="Wingdings" panose="05000000000000000000" pitchFamily="2" charset="2"/>
              </a:rPr>
              <a:t>-&gt; JsonString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             </a:t>
            </a:r>
            <a:r>
              <a:rPr lang="ko-KR" altLang="en-US" sz="1100">
                <a:sym typeface="Wingdings" panose="05000000000000000000" pitchFamily="2" charset="2"/>
              </a:rPr>
              <a:t>직렬화 변환</a:t>
            </a:r>
            <a:r>
              <a:rPr lang="en-US" altLang="ko-KR" sz="1100"/>
              <a:t> </a:t>
            </a:r>
            <a:endParaRPr lang="ko-KR" altLang="en-US" sz="110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B042D32-517A-A4B2-5D2E-B476F7912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131" y="3428999"/>
            <a:ext cx="5534797" cy="1752845"/>
          </a:xfrm>
          <a:prstGeom prst="rect">
            <a:avLst/>
          </a:prstGeom>
          <a:ln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3355005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F88D8-1283-B915-AB59-7797BC346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Kafka </a:t>
            </a:r>
            <a:r>
              <a:rPr lang="ko-KR" altLang="en-US" sz="3600"/>
              <a:t>설정 변경 및 의존성 추가</a:t>
            </a:r>
            <a:r>
              <a:rPr lang="en-US" altLang="ko-KR" sz="3600"/>
              <a:t>(user-service)</a:t>
            </a:r>
            <a:endParaRPr lang="ko-KR" altLang="en-US" sz="360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60BF25F-1EDE-4A43-2233-9FDDCE5CC445}"/>
              </a:ext>
            </a:extLst>
          </p:cNvPr>
          <p:cNvGrpSpPr/>
          <p:nvPr/>
        </p:nvGrpSpPr>
        <p:grpSpPr>
          <a:xfrm>
            <a:off x="1097280" y="1737360"/>
            <a:ext cx="7781544" cy="4428052"/>
            <a:chOff x="1097280" y="1737360"/>
            <a:chExt cx="7781544" cy="4428052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3E3C7ED5-D2CB-90F5-DBFB-844FAC5D2AE2}"/>
                </a:ext>
              </a:extLst>
            </p:cNvPr>
            <p:cNvGrpSpPr/>
            <p:nvPr/>
          </p:nvGrpSpPr>
          <p:grpSpPr>
            <a:xfrm>
              <a:off x="1097280" y="1737360"/>
              <a:ext cx="7781544" cy="4209742"/>
              <a:chOff x="1097280" y="1737360"/>
              <a:chExt cx="7781544" cy="420974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7CBE14-9008-FC2D-35EB-224C2A86A761}"/>
                  </a:ext>
                </a:extLst>
              </p:cNvPr>
              <p:cNvSpPr txBox="1"/>
              <p:nvPr/>
            </p:nvSpPr>
            <p:spPr>
              <a:xfrm>
                <a:off x="1097280" y="1737360"/>
                <a:ext cx="7781544" cy="420974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spring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</a:t>
                </a: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datasource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url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jdbc:mysql://localhost:3320/user-db</a:t>
                </a:r>
                <a:endPara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username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root</a:t>
                </a:r>
                <a:endPara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password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password</a:t>
                </a:r>
                <a:endPara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driver-class-name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com.mysql.cj.jdbc.Driver</a:t>
                </a:r>
                <a:endPara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b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</a:br>
                <a:endPara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</a:t>
                </a: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jpa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hibernate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    </a:t>
                </a: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ddl-auto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update</a:t>
                </a:r>
                <a:endPara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show-sql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00" b="0">
                    <a:solidFill>
                      <a:srgbClr val="569CD6"/>
                    </a:solidFill>
                    <a:effectLst/>
                    <a:latin typeface="Consolas" panose="020B0609020204030204" pitchFamily="49" charset="0"/>
                  </a:rPr>
                  <a:t>true</a:t>
                </a:r>
                <a:endPara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</a:t>
                </a: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application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name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user-service</a:t>
                </a:r>
                <a:endPara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b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</a:br>
                <a:endPara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</a:t>
                </a: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kafka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bootstrap-servers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localhost:9092</a:t>
                </a:r>
                <a:endPara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consumer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    </a:t>
                </a: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auto-offset-reset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earliest</a:t>
                </a:r>
                <a:endPara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    </a:t>
                </a: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key-deserializer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org.apache.kafka.common.serialization.StringDeserializer</a:t>
                </a:r>
                <a:endPara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    </a:t>
                </a:r>
                <a:r>
                  <a:rPr lang="en-US" altLang="ko-KR" sz="10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value-deserializer</a:t>
                </a:r>
                <a:r>
                  <a:rPr lang="en-US" altLang="ko-KR" sz="10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0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org.apache.kafka.common.serialization.StringDeserializer</a:t>
                </a:r>
                <a:endPara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CECA8F93-1E2A-7C39-B1B9-3E355FBEE14D}"/>
                  </a:ext>
                </a:extLst>
              </p:cNvPr>
              <p:cNvSpPr/>
              <p:nvPr/>
            </p:nvSpPr>
            <p:spPr>
              <a:xfrm>
                <a:off x="1371600" y="4791456"/>
                <a:ext cx="6044184" cy="115564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B3A4AEB-549C-5CC2-03AB-E19DFFAEDF79}"/>
                </a:ext>
              </a:extLst>
            </p:cNvPr>
            <p:cNvSpPr txBox="1"/>
            <p:nvPr/>
          </p:nvSpPr>
          <p:spPr>
            <a:xfrm>
              <a:off x="1097280" y="5903802"/>
              <a:ext cx="73883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>
                  <a:solidFill>
                    <a:srgbClr val="FF0000"/>
                  </a:solidFill>
                </a:rPr>
                <a:t>application.yml </a:t>
              </a:r>
              <a:endParaRPr lang="ko-KR" altLang="en-US" sz="1100" b="1"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5D849DF-E1C6-7C5F-1413-434849429254}"/>
              </a:ext>
            </a:extLst>
          </p:cNvPr>
          <p:cNvGrpSpPr/>
          <p:nvPr/>
        </p:nvGrpSpPr>
        <p:grpSpPr>
          <a:xfrm>
            <a:off x="1097280" y="6228983"/>
            <a:ext cx="7388352" cy="564133"/>
            <a:chOff x="1097280" y="6228983"/>
            <a:chExt cx="7388352" cy="56413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4695D06-2480-1FEE-273F-99F098B14AC5}"/>
                </a:ext>
              </a:extLst>
            </p:cNvPr>
            <p:cNvSpPr txBox="1"/>
            <p:nvPr/>
          </p:nvSpPr>
          <p:spPr>
            <a:xfrm>
              <a:off x="1097280" y="6531506"/>
              <a:ext cx="73883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>
                  <a:solidFill>
                    <a:srgbClr val="92D050"/>
                  </a:solidFill>
                </a:rPr>
                <a:t>build.gradle</a:t>
              </a:r>
              <a:endParaRPr lang="ko-KR" altLang="en-US" sz="1100" b="1">
                <a:solidFill>
                  <a:srgbClr val="92D05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C878FA-D23F-8778-12A7-4F4975F3BE49}"/>
                </a:ext>
              </a:extLst>
            </p:cNvPr>
            <p:cNvSpPr txBox="1"/>
            <p:nvPr/>
          </p:nvSpPr>
          <p:spPr>
            <a:xfrm>
              <a:off x="1097280" y="6228983"/>
              <a:ext cx="6864858" cy="26052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05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implementation</a:t>
              </a:r>
              <a:r>
                <a:rPr lang="en-US" altLang="ko-KR" sz="105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5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'org.springframework.boot:spring-boot-starter-kafka' </a:t>
              </a:r>
              <a:r>
                <a:rPr lang="en-US" altLang="ko-KR" sz="1050" b="0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#</a:t>
              </a:r>
              <a:r>
                <a:rPr lang="ko-KR" altLang="en-US" sz="1050" b="0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카프카 의존성 추가</a:t>
              </a:r>
              <a:endParaRPr lang="en-US" altLang="ko-KR" sz="1050" b="0">
                <a:solidFill>
                  <a:srgbClr val="00B050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2975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7BDBEA-6E6B-0592-9C34-CAA08E5EF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BoardCreatedEvent(DTO) </a:t>
            </a:r>
            <a:r>
              <a:rPr lang="ko-KR" altLang="en-US" sz="4000"/>
              <a:t>작성</a:t>
            </a:r>
            <a:r>
              <a:rPr lang="en-US" altLang="ko-KR" sz="4000"/>
              <a:t>(user-service)</a:t>
            </a:r>
            <a:endParaRPr lang="ko-KR" altLang="en-US" sz="400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7DF2EC2-7236-8B9E-329E-85B3FA055F52}"/>
              </a:ext>
            </a:extLst>
          </p:cNvPr>
          <p:cNvGrpSpPr/>
          <p:nvPr/>
        </p:nvGrpSpPr>
        <p:grpSpPr>
          <a:xfrm>
            <a:off x="261586" y="1848840"/>
            <a:ext cx="2305372" cy="2191056"/>
            <a:chOff x="261586" y="1848840"/>
            <a:chExt cx="2305372" cy="219105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1CF0266-D9F8-4D0E-EEEB-3C4B29517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1586" y="1848840"/>
              <a:ext cx="2305372" cy="2191056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395B0C5-5C90-7342-93A1-430154BF4B49}"/>
                </a:ext>
              </a:extLst>
            </p:cNvPr>
            <p:cNvSpPr/>
            <p:nvPr/>
          </p:nvSpPr>
          <p:spPr>
            <a:xfrm>
              <a:off x="493776" y="3538728"/>
              <a:ext cx="1682496" cy="50116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B74A873-B6E2-2B4C-F2EC-5D7B94D8C018}"/>
              </a:ext>
            </a:extLst>
          </p:cNvPr>
          <p:cNvSpPr txBox="1"/>
          <p:nvPr/>
        </p:nvSpPr>
        <p:spPr>
          <a:xfrm>
            <a:off x="2628680" y="1848840"/>
            <a:ext cx="6094476" cy="475168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BoardCreatedEvent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BoardCreatedEvent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BoardCreatedEvent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BoardCreatedEvent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fromJson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readValue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BoardCreatedEvent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class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JacksonException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printStackTrace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"Json </a:t>
            </a:r>
            <a:r>
              <a:rPr lang="ko-KR" altLang="en-US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파싱 실패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EB978D-EA84-DE87-B73F-882241C8814A}"/>
              </a:ext>
            </a:extLst>
          </p:cNvPr>
          <p:cNvSpPr txBox="1"/>
          <p:nvPr/>
        </p:nvSpPr>
        <p:spPr>
          <a:xfrm>
            <a:off x="8796528" y="1848840"/>
            <a:ext cx="313388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Producer</a:t>
            </a:r>
            <a:r>
              <a:rPr lang="ko-KR" altLang="en-US" sz="1200"/>
              <a:t>역할의 서비스는 서비스 내 </a:t>
            </a:r>
            <a:endParaRPr lang="en-US" altLang="ko-KR" sz="1200"/>
          </a:p>
          <a:p>
            <a:r>
              <a:rPr lang="en-US" altLang="ko-KR" sz="1200"/>
              <a:t>toJsonString </a:t>
            </a:r>
          </a:p>
          <a:p>
            <a:endParaRPr lang="en-US" altLang="ko-KR" sz="1200"/>
          </a:p>
          <a:p>
            <a:r>
              <a:rPr lang="en-US" altLang="ko-KR" sz="1200"/>
              <a:t>consume</a:t>
            </a:r>
            <a:r>
              <a:rPr lang="ko-KR" altLang="en-US" sz="1200"/>
              <a:t>역할의 서비스는 역직렬화 대상 </a:t>
            </a:r>
            <a:r>
              <a:rPr lang="en-US" altLang="ko-KR" sz="1200"/>
              <a:t>DTO </a:t>
            </a:r>
            <a:r>
              <a:rPr lang="ko-KR" altLang="en-US" sz="1200"/>
              <a:t>내 </a:t>
            </a:r>
            <a:r>
              <a:rPr lang="en-US" altLang="ko-KR" sz="1200"/>
              <a:t>fromJson </a:t>
            </a:r>
            <a:r>
              <a:rPr lang="ko-KR" altLang="en-US" sz="1200"/>
              <a:t>스태틱 메소드로 </a:t>
            </a:r>
            <a:endParaRPr lang="en-US" altLang="ko-KR" sz="1200"/>
          </a:p>
          <a:p>
            <a:r>
              <a:rPr lang="ko-KR" altLang="en-US" sz="1200"/>
              <a:t>역직렬화</a:t>
            </a:r>
            <a:r>
              <a:rPr lang="en-US" altLang="ko-KR" sz="1200"/>
              <a:t>(</a:t>
            </a:r>
            <a:r>
              <a:rPr lang="ko-KR" altLang="en-US" sz="1200"/>
              <a:t>파싱</a:t>
            </a:r>
            <a:r>
              <a:rPr lang="en-US" altLang="ko-KR" sz="1200"/>
              <a:t>) </a:t>
            </a:r>
            <a:r>
              <a:rPr lang="ko-KR" altLang="en-US" sz="1200"/>
              <a:t>구현</a:t>
            </a:r>
            <a:br>
              <a:rPr lang="en-US" altLang="ko-KR" sz="1200"/>
            </a:br>
            <a:endParaRPr lang="en-US" altLang="ko-KR" sz="120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sz="1200">
                <a:sym typeface="Wingdings" panose="05000000000000000000" pitchFamily="2" charset="2"/>
              </a:rPr>
              <a:t>user-service</a:t>
            </a:r>
            <a:r>
              <a:rPr lang="ko-KR" altLang="en-US" sz="1200">
                <a:sym typeface="Wingdings" panose="05000000000000000000" pitchFamily="2" charset="2"/>
              </a:rPr>
              <a:t>는 </a:t>
            </a:r>
            <a:r>
              <a:rPr lang="en-US" altLang="ko-KR" sz="1200">
                <a:sym typeface="Wingdings" panose="05000000000000000000" pitchFamily="2" charset="2"/>
              </a:rPr>
              <a:t>board-service</a:t>
            </a:r>
            <a:r>
              <a:rPr lang="ko-KR" altLang="en-US" sz="1200">
                <a:sym typeface="Wingdings" panose="05000000000000000000" pitchFamily="2" charset="2"/>
              </a:rPr>
              <a:t>로 부터 게시글 작성완료 이벤트를 </a:t>
            </a:r>
            <a:r>
              <a:rPr lang="en-US" altLang="ko-KR" sz="1200">
                <a:sym typeface="Wingdings" panose="05000000000000000000" pitchFamily="2" charset="2"/>
              </a:rPr>
              <a:t>JsonString</a:t>
            </a:r>
            <a:r>
              <a:rPr lang="ko-KR" altLang="en-US" sz="1200">
                <a:sym typeface="Wingdings" panose="05000000000000000000" pitchFamily="2" charset="2"/>
              </a:rPr>
              <a:t>으로 전달받음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(JsonString</a:t>
            </a:r>
            <a:r>
              <a:rPr lang="ko-KR" altLang="en-US" sz="1200">
                <a:sym typeface="Wingdings" panose="05000000000000000000" pitchFamily="2" charset="2"/>
              </a:rPr>
              <a:t>을 </a:t>
            </a:r>
            <a:r>
              <a:rPr lang="en-US" altLang="ko-KR" sz="1200">
                <a:sym typeface="Wingdings" panose="05000000000000000000" pitchFamily="2" charset="2"/>
              </a:rPr>
              <a:t>BoardCreatedEvent</a:t>
            </a:r>
            <a:r>
              <a:rPr lang="ko-KR" altLang="en-US" sz="1200">
                <a:sym typeface="Wingdings" panose="05000000000000000000" pitchFamily="2" charset="2"/>
              </a:rPr>
              <a:t>로 역직렬화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57400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C8CA8-4646-3FCF-07F3-06F81E1D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BoardCreatedEventConsumer </a:t>
            </a:r>
            <a:r>
              <a:rPr lang="ko-KR" altLang="en-US"/>
              <a:t>작성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9636DEE-C21A-4738-2EEB-33AE8FEB6EA3}"/>
              </a:ext>
            </a:extLst>
          </p:cNvPr>
          <p:cNvGrpSpPr/>
          <p:nvPr/>
        </p:nvGrpSpPr>
        <p:grpSpPr>
          <a:xfrm>
            <a:off x="391864" y="1909252"/>
            <a:ext cx="2648320" cy="1343212"/>
            <a:chOff x="583888" y="1888714"/>
            <a:chExt cx="2648320" cy="134321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01CBBD2-B6A4-9B3B-911C-0B27C8134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3888" y="1888714"/>
              <a:ext cx="2648320" cy="134321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801214E-6689-D137-2098-AEA3B1856ACC}"/>
                </a:ext>
              </a:extLst>
            </p:cNvPr>
            <p:cNvSpPr/>
            <p:nvPr/>
          </p:nvSpPr>
          <p:spPr>
            <a:xfrm>
              <a:off x="978408" y="2935224"/>
              <a:ext cx="2066544" cy="29670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1E9CB64-7D57-560E-FB78-5BB87D565B35}"/>
              </a:ext>
            </a:extLst>
          </p:cNvPr>
          <p:cNvSpPr txBox="1"/>
          <p:nvPr/>
        </p:nvSpPr>
        <p:spPr>
          <a:xfrm>
            <a:off x="6605016" y="1737360"/>
            <a:ext cx="5586984" cy="51041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KafkaListener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topics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"board-created"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"user-service"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concurrency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"3"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@RetryableTopic(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    attempts = "3",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    backOff = @BackOff(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        delay=1000,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        multiplier=2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    ),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    dltTopicSuffix = ".dlt"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)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consume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BoardCreatedEvent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boardCreatedEvent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BoardCreatedEvent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fromJson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게시글 작성 시 활동 점수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점 추가</a:t>
            </a:r>
            <a:endParaRPr lang="ko-KR" altLang="en-US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boardCreatedEvent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addActivityScore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사용자 점수 적립 완료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DFDEC9-E02D-E1FA-19AE-715E468E0894}"/>
              </a:ext>
            </a:extLst>
          </p:cNvPr>
          <p:cNvSpPr txBox="1"/>
          <p:nvPr/>
        </p:nvSpPr>
        <p:spPr>
          <a:xfrm>
            <a:off x="391864" y="5230368"/>
            <a:ext cx="609447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메세지 실패에 대한 재시도 및 </a:t>
            </a:r>
            <a:r>
              <a:rPr lang="en-US" altLang="ko-KR" sz="1400"/>
              <a:t>dlt </a:t>
            </a:r>
            <a:r>
              <a:rPr lang="ko-KR" altLang="en-US" sz="1400"/>
              <a:t>파일 생성은 실무에선 필수다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MSA </a:t>
            </a:r>
            <a:r>
              <a:rPr lang="ko-KR" altLang="en-US" sz="1400"/>
              <a:t>학습용임으로 영상에서는 설정하지 않은듯 하다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concurrency </a:t>
            </a:r>
            <a:r>
              <a:rPr lang="ko-KR" altLang="en-US" sz="1400"/>
              <a:t>도 설정하지 않았음 영상에선 </a:t>
            </a:r>
            <a:r>
              <a:rPr lang="en-US" altLang="ko-KR" sz="1400"/>
              <a:t>- </a:t>
            </a:r>
            <a:r>
              <a:rPr lang="ko-KR" altLang="en-US" sz="1400"/>
              <a:t>실무적으론 해야함</a:t>
            </a:r>
            <a:endParaRPr lang="en-US" altLang="ko-KR" sz="1400"/>
          </a:p>
          <a:p>
            <a:r>
              <a:rPr lang="en-US" altLang="ko-KR" sz="1400"/>
              <a:t>※ </a:t>
            </a:r>
            <a:r>
              <a:rPr lang="en-US" altLang="ko-KR" sz="1400" b="1">
                <a:solidFill>
                  <a:srgbClr val="0070C0"/>
                </a:solidFill>
              </a:rPr>
              <a:t>concurrency</a:t>
            </a:r>
            <a:r>
              <a:rPr lang="en-US" altLang="ko-KR" sz="1400"/>
              <a:t> =</a:t>
            </a:r>
            <a:r>
              <a:rPr lang="ko-KR" altLang="en-US" sz="1400"/>
              <a:t> 메세지 처리에 사용될 쓰레드 수</a:t>
            </a:r>
            <a:endParaRPr lang="en-US" altLang="ko-KR" sz="1400"/>
          </a:p>
          <a:p>
            <a:r>
              <a:rPr lang="en-US" altLang="ko-KR" sz="1400"/>
              <a:t>    </a:t>
            </a:r>
            <a:r>
              <a:rPr lang="en-US" altLang="ko-KR" sz="1400" b="1">
                <a:solidFill>
                  <a:srgbClr val="0070C0"/>
                </a:solidFill>
              </a:rPr>
              <a:t>@RetryableTopic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실패시 반복 시도 횟수</a:t>
            </a:r>
            <a:r>
              <a:rPr lang="en-US" altLang="ko-KR" sz="1400">
                <a:sym typeface="Wingdings" panose="05000000000000000000" pitchFamily="2" charset="2"/>
              </a:rPr>
              <a:t> /@BackOff </a:t>
            </a:r>
            <a:r>
              <a:rPr lang="ko-KR" altLang="en-US" sz="1400">
                <a:sym typeface="Wingdings" panose="05000000000000000000" pitchFamily="2" charset="2"/>
              </a:rPr>
              <a:t>재시도 규칙 설정</a:t>
            </a:r>
            <a:endParaRPr lang="en-US" altLang="ko-KR" sz="1400">
              <a:sym typeface="Wingdings" panose="05000000000000000000" pitchFamily="2" charset="2"/>
            </a:endParaRPr>
          </a:p>
          <a:p>
            <a:r>
              <a:rPr lang="en-US" altLang="ko-KR" sz="1400">
                <a:solidFill>
                  <a:srgbClr val="0070C0"/>
                </a:solidFill>
                <a:sym typeface="Wingdings" panose="05000000000000000000" pitchFamily="2" charset="2"/>
              </a:rPr>
              <a:t>    </a:t>
            </a:r>
            <a:r>
              <a:rPr lang="en-US" altLang="ko-KR" sz="1400" b="1">
                <a:solidFill>
                  <a:srgbClr val="0070C0"/>
                </a:solidFill>
                <a:sym typeface="Wingdings" panose="05000000000000000000" pitchFamily="2" charset="2"/>
              </a:rPr>
              <a:t>dltTopicSuffix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재시도가 완전히 완료되어도 실패한 경우 실패 메세지 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                                   </a:t>
            </a:r>
            <a:r>
              <a:rPr lang="ko-KR" altLang="en-US" sz="1400">
                <a:sym typeface="Wingdings" panose="05000000000000000000" pitchFamily="2" charset="2"/>
              </a:rPr>
              <a:t>파일명 명명 규칙 설정</a:t>
            </a:r>
            <a:endParaRPr lang="en-US" altLang="ko-KR" sz="140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A896577-14B3-AB07-CC48-95C81E8B8D57}"/>
              </a:ext>
            </a:extLst>
          </p:cNvPr>
          <p:cNvGrpSpPr/>
          <p:nvPr/>
        </p:nvGrpSpPr>
        <p:grpSpPr>
          <a:xfrm>
            <a:off x="391864" y="1837944"/>
            <a:ext cx="6213152" cy="3294572"/>
            <a:chOff x="391864" y="1837944"/>
            <a:chExt cx="6213152" cy="329457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191A2D1-70FF-AB77-9D60-AC47F4364A01}"/>
                </a:ext>
              </a:extLst>
            </p:cNvPr>
            <p:cNvSpPr txBox="1"/>
            <p:nvPr/>
          </p:nvSpPr>
          <p:spPr>
            <a:xfrm>
              <a:off x="391864" y="3424356"/>
              <a:ext cx="6094476" cy="170816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@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Component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BoardCreatedEventConsumer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final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UserService</a:t>
              </a:r>
              <a:r>
                <a:rPr lang="en-US" altLang="ko-KR" sz="11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userService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BoardCreatedEventConsumer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UserService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userService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1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userService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userService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5C0572B-F7CD-CD0E-7040-D43A9DAF2172}"/>
                </a:ext>
              </a:extLst>
            </p:cNvPr>
            <p:cNvSpPr/>
            <p:nvPr/>
          </p:nvSpPr>
          <p:spPr>
            <a:xfrm>
              <a:off x="391864" y="3424356"/>
              <a:ext cx="952304" cy="29670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F19FEF7B-19A1-2952-8963-E9CF33924EC4}"/>
                </a:ext>
              </a:extLst>
            </p:cNvPr>
            <p:cNvCxnSpPr/>
            <p:nvPr/>
          </p:nvCxnSpPr>
          <p:spPr>
            <a:xfrm flipV="1">
              <a:off x="1344168" y="2569464"/>
              <a:ext cx="2240280" cy="96012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28CAA3A-B478-47BC-AD8E-A5CBFAD8BA08}"/>
                </a:ext>
              </a:extLst>
            </p:cNvPr>
            <p:cNvSpPr txBox="1"/>
            <p:nvPr/>
          </p:nvSpPr>
          <p:spPr>
            <a:xfrm>
              <a:off x="3584448" y="1837944"/>
              <a:ext cx="3020568" cy="16004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Kafka </a:t>
              </a:r>
              <a:r>
                <a:rPr lang="ko-KR" altLang="en-US" sz="1400"/>
                <a:t>학습시 </a:t>
              </a:r>
              <a:r>
                <a:rPr lang="en-US" altLang="ko-KR" sz="1400"/>
                <a:t>@Service</a:t>
              </a:r>
              <a:r>
                <a:rPr lang="ko-KR" altLang="en-US" sz="1400"/>
                <a:t>로 배웠다</a:t>
              </a:r>
              <a:r>
                <a:rPr lang="en-US" altLang="ko-KR" sz="1400"/>
                <a:t>.</a:t>
              </a:r>
            </a:p>
            <a:p>
              <a:r>
                <a:rPr lang="ko-KR" altLang="en-US" sz="1400"/>
                <a:t>실무에선 </a:t>
              </a:r>
              <a:r>
                <a:rPr lang="en-US" altLang="ko-KR" sz="1400" b="1">
                  <a:solidFill>
                    <a:srgbClr val="FF0000"/>
                  </a:solidFill>
                </a:rPr>
                <a:t>@Component</a:t>
              </a:r>
              <a:r>
                <a:rPr lang="ko-KR" altLang="en-US" sz="1400"/>
                <a:t>로 작성하나 보다</a:t>
              </a:r>
              <a:r>
                <a:rPr lang="en-US" altLang="ko-KR" sz="1400"/>
                <a:t>. (Kafka</a:t>
              </a:r>
              <a:r>
                <a:rPr lang="ko-KR" altLang="en-US" sz="1400"/>
                <a:t> 강의에선 </a:t>
              </a:r>
              <a:r>
                <a:rPr lang="en-US" altLang="ko-KR" sz="1400"/>
                <a:t>Consumer</a:t>
              </a:r>
              <a:r>
                <a:rPr lang="ko-KR" altLang="en-US" sz="1400"/>
                <a:t>가 처리하는 </a:t>
              </a:r>
              <a:r>
                <a:rPr lang="en-US" altLang="ko-KR" sz="1400"/>
                <a:t>Api (Controller </a:t>
              </a:r>
              <a:r>
                <a:rPr lang="ko-KR" altLang="en-US" sz="1400"/>
                <a:t>정의</a:t>
              </a:r>
              <a:r>
                <a:rPr lang="en-US" altLang="ko-KR" sz="1400"/>
                <a:t>) </a:t>
              </a:r>
              <a:r>
                <a:rPr lang="ko-KR" altLang="en-US" sz="1400"/>
                <a:t>가 없었기 때문에 </a:t>
              </a:r>
              <a:r>
                <a:rPr lang="en-US" altLang="ko-KR" sz="1400"/>
                <a:t>@Service</a:t>
              </a:r>
              <a:r>
                <a:rPr lang="ko-KR" altLang="en-US" sz="1400"/>
                <a:t>로 작성한것으로 어림짐작</a:t>
              </a:r>
              <a:r>
                <a:rPr lang="en-US" altLang="ko-KR" sz="1400"/>
                <a:t>.</a:t>
              </a:r>
            </a:p>
            <a:p>
              <a:endParaRPr lang="ko-KR" alt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3057012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69E89-C249-8E18-F6DD-7307F8326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활동점수적립 </a:t>
            </a:r>
            <a:r>
              <a:rPr lang="en-US" altLang="ko-KR"/>
              <a:t>Test </a:t>
            </a:r>
            <a:r>
              <a:rPr lang="ko-KR" altLang="en-US"/>
              <a:t>하기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75DF128-6162-9519-3202-13EA3A1D70B9}"/>
              </a:ext>
            </a:extLst>
          </p:cNvPr>
          <p:cNvGrpSpPr/>
          <p:nvPr/>
        </p:nvGrpSpPr>
        <p:grpSpPr>
          <a:xfrm>
            <a:off x="1097280" y="1908531"/>
            <a:ext cx="8879079" cy="1295581"/>
            <a:chOff x="1097280" y="1908531"/>
            <a:chExt cx="8879079" cy="129558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F77A66B-1AFF-DF07-A5F5-0CCABBAC7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908531"/>
              <a:ext cx="3953427" cy="126700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71A2584-C3DE-842C-11A6-21CE1F26E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69509" y="1908531"/>
              <a:ext cx="2686425" cy="943107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AD796D7-28D6-7A66-CA3F-45AFB2D7D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47304" y="1908531"/>
              <a:ext cx="1829055" cy="1295581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3090AC6-174B-D427-2752-D1A11C66CDCB}"/>
              </a:ext>
            </a:extLst>
          </p:cNvPr>
          <p:cNvSpPr txBox="1"/>
          <p:nvPr/>
        </p:nvSpPr>
        <p:spPr>
          <a:xfrm>
            <a:off x="1097280" y="3282696"/>
            <a:ext cx="8879079" cy="371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데이터를 쉽게 알아보기 위해 </a:t>
            </a:r>
            <a:r>
              <a:rPr lang="en-US" altLang="ko-KR"/>
              <a:t>User / Board / Point </a:t>
            </a:r>
            <a:r>
              <a:rPr lang="ko-KR" altLang="en-US"/>
              <a:t>테이블을 상기와 같이 초기화한다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7353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45A05C-A6DD-B3A3-F518-F56499C59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게시글 작성 </a:t>
            </a:r>
            <a:r>
              <a:rPr lang="en-US" altLang="ko-KR" sz="4000"/>
              <a:t>API </a:t>
            </a:r>
            <a:r>
              <a:rPr lang="ko-KR" altLang="en-US" sz="4000"/>
              <a:t>요청 및 </a:t>
            </a:r>
            <a:r>
              <a:rPr lang="en-US" altLang="ko-KR" sz="4000"/>
              <a:t>DB</a:t>
            </a:r>
            <a:r>
              <a:rPr lang="ko-KR" altLang="en-US" sz="4000"/>
              <a:t>결과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10412EB-A955-3C48-F0B6-63BA41221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53" y="1826412"/>
            <a:ext cx="7636107" cy="2763114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37D0EDB1-B00B-0716-A228-CDBDD1429202}"/>
              </a:ext>
            </a:extLst>
          </p:cNvPr>
          <p:cNvGrpSpPr/>
          <p:nvPr/>
        </p:nvGrpSpPr>
        <p:grpSpPr>
          <a:xfrm>
            <a:off x="433872" y="4845458"/>
            <a:ext cx="8472697" cy="1409897"/>
            <a:chOff x="433872" y="4845458"/>
            <a:chExt cx="8472697" cy="140989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CBC9058-7142-B65D-053C-635BC4F1D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44198" y="4845458"/>
              <a:ext cx="1762371" cy="119079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1E89871-99DD-A1D1-B2A4-48B02644F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04800" y="4845458"/>
              <a:ext cx="2238687" cy="924054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3B47192-5D38-78A4-3FC4-B6191E55A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872" y="4845458"/>
              <a:ext cx="3972479" cy="14098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1780058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137</TotalTime>
  <Words>928</Words>
  <Application>Microsoft Office PowerPoint</Application>
  <PresentationFormat>와이드스크린</PresentationFormat>
  <Paragraphs>163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Calibri</vt:lpstr>
      <vt:lpstr>Calibri Light</vt:lpstr>
      <vt:lpstr>Consolas</vt:lpstr>
      <vt:lpstr>Wingdings</vt:lpstr>
      <vt:lpstr>추억</vt:lpstr>
      <vt:lpstr>데이터 쓰기 API 구현</vt:lpstr>
      <vt:lpstr>동기/비동기 방식 구별하기.</vt:lpstr>
      <vt:lpstr>구조 설계</vt:lpstr>
      <vt:lpstr>Kafka 도커 컨테이너 생성</vt:lpstr>
      <vt:lpstr>Kafka 설정 변경 및 의존성 추가(board-service)</vt:lpstr>
      <vt:lpstr>게시글 작성 완료 이벤트 DTO 작성하기</vt:lpstr>
      <vt:lpstr>게시글 작성 이벤트 수정(활동 점수 적립)</vt:lpstr>
      <vt:lpstr>Kafka 설정 변경 및 의존성 추가(user-service)</vt:lpstr>
      <vt:lpstr>BoardCreatedEvent(DTO) 작성(user-service)</vt:lpstr>
      <vt:lpstr>BoardCreatedEventConsumer 작성</vt:lpstr>
      <vt:lpstr>활동점수적립 Test 하기</vt:lpstr>
      <vt:lpstr>게시글 작성 API 요청 및 DB결과 확인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29</cp:revision>
  <dcterms:created xsi:type="dcterms:W3CDTF">2026-08-15T04:50:52Z</dcterms:created>
  <dcterms:modified xsi:type="dcterms:W3CDTF">2026-08-15T07:08:32Z</dcterms:modified>
</cp:coreProperties>
</file>