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DC5607C-152A-4CB3-A0FE-E508B7BA68AB}">
          <p14:sldIdLst>
            <p14:sldId id="256"/>
            <p14:sldId id="258"/>
            <p14:sldId id="259"/>
          </p14:sldIdLst>
        </p14:section>
        <p14:section name="user-service 로그인 구현" id="{E6344E9C-0B47-432A-AB71-2038121A28F8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API Gateway의 jwt 인증" id="{D4C8CDC5-C68A-4A18-B698-591250FC9AAB}">
          <p14:sldIdLst>
            <p14:sldId id="268"/>
            <p14:sldId id="269"/>
            <p14:sldId id="270"/>
            <p14:sldId id="271"/>
          </p14:sldIdLst>
        </p14:section>
        <p14:section name="board-service 게시판 등록 X-User-Id 사용" id="{22F8DEA7-B1CA-4A53-9559-64AE1ECA174D}">
          <p14:sldIdLst>
            <p14:sldId id="272"/>
            <p14:sldId id="273"/>
            <p14:sldId id="274"/>
          </p14:sldIdLst>
        </p14:section>
        <p14:section name="API테스트" id="{F6598237-AF08-4330-A4EC-F41F74BB2BBC}">
          <p14:sldIdLst>
            <p14:sldId id="275"/>
            <p14:sldId id="27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346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23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67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45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86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40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655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58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484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91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907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CFAA13F-CA67-43CE-A976-2B5DAE401BCC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AABB5ED-972B-437A-BD2D-EAD52A1CD1F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58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1680D-844B-D2E5-7DF7-5A3CD243B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API Gateway JWT</a:t>
            </a:r>
            <a:r>
              <a:rPr lang="ko-KR" altLang="en-US"/>
              <a:t>인증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C4449E-ECD6-7062-44CA-7AE43F43A9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410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5F6ED-3625-D884-1DDA-7E7C8E4B2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MSA</a:t>
            </a:r>
            <a:r>
              <a:rPr lang="ko-KR" altLang="en-US" sz="3200"/>
              <a:t>에서 </a:t>
            </a:r>
            <a:r>
              <a:rPr lang="en-US" altLang="ko-KR" sz="3200"/>
              <a:t>API Gateway</a:t>
            </a:r>
            <a:r>
              <a:rPr lang="ko-KR" altLang="en-US" sz="3200"/>
              <a:t>에 인증로직을 추가해야하는 이유</a:t>
            </a:r>
            <a:r>
              <a:rPr lang="en-US" altLang="ko-KR" sz="3200"/>
              <a:t>-1</a:t>
            </a:r>
            <a:endParaRPr lang="ko-KR" altLang="en-US" sz="32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8D8EE0C-67EF-2D88-7C83-6185D30DB1E1}"/>
              </a:ext>
            </a:extLst>
          </p:cNvPr>
          <p:cNvGrpSpPr/>
          <p:nvPr/>
        </p:nvGrpSpPr>
        <p:grpSpPr>
          <a:xfrm>
            <a:off x="1542414" y="1890498"/>
            <a:ext cx="9107171" cy="3077004"/>
            <a:chOff x="1542414" y="1890498"/>
            <a:chExt cx="9107171" cy="307700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7FEBC6C-21CB-A3B0-D1BC-83A919A823DF}"/>
                </a:ext>
              </a:extLst>
            </p:cNvPr>
            <p:cNvGrpSpPr/>
            <p:nvPr/>
          </p:nvGrpSpPr>
          <p:grpSpPr>
            <a:xfrm>
              <a:off x="1542414" y="1890498"/>
              <a:ext cx="9107171" cy="3077004"/>
              <a:chOff x="1542414" y="1890498"/>
              <a:chExt cx="9107171" cy="3077004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447EA502-3C26-2C41-F0CB-2638F2A230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2414" y="1890498"/>
                <a:ext cx="9107171" cy="3077004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CEC16F19-43DB-2EC9-BDB8-D275F174766D}"/>
                  </a:ext>
                </a:extLst>
              </p:cNvPr>
              <p:cNvSpPr/>
              <p:nvPr/>
            </p:nvSpPr>
            <p:spPr>
              <a:xfrm>
                <a:off x="8375904" y="2359152"/>
                <a:ext cx="2157984" cy="27432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340A9163-A659-076E-CC4E-B21AD7E3B1B7}"/>
                  </a:ext>
                </a:extLst>
              </p:cNvPr>
              <p:cNvSpPr/>
              <p:nvPr/>
            </p:nvSpPr>
            <p:spPr>
              <a:xfrm>
                <a:off x="1542414" y="2606040"/>
                <a:ext cx="2490090" cy="24688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5E9F866-671F-2C61-CAD9-7D2C54985592}"/>
                </a:ext>
              </a:extLst>
            </p:cNvPr>
            <p:cNvSpPr/>
            <p:nvPr/>
          </p:nvSpPr>
          <p:spPr>
            <a:xfrm>
              <a:off x="2081784" y="4431792"/>
              <a:ext cx="6220968" cy="2468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C71D50-61F1-B503-1351-FD190269A83F}"/>
              </a:ext>
            </a:extLst>
          </p:cNvPr>
          <p:cNvSpPr/>
          <p:nvPr/>
        </p:nvSpPr>
        <p:spPr>
          <a:xfrm>
            <a:off x="3349752" y="4708374"/>
            <a:ext cx="7056120" cy="2468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92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876488-4B01-66B6-F3C8-B029B3540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MSA</a:t>
            </a:r>
            <a:r>
              <a:rPr lang="ko-KR" altLang="en-US" sz="3200"/>
              <a:t>에서 </a:t>
            </a:r>
            <a:r>
              <a:rPr lang="en-US" altLang="ko-KR" sz="3200"/>
              <a:t>API Gateway</a:t>
            </a:r>
            <a:r>
              <a:rPr lang="ko-KR" altLang="en-US" sz="3200"/>
              <a:t>에 인증로직을 추가해야하는 이유</a:t>
            </a:r>
            <a:r>
              <a:rPr lang="en-US" altLang="ko-KR" sz="3200"/>
              <a:t>-2</a:t>
            </a:r>
            <a:endParaRPr lang="ko-KR" altLang="en-US" sz="3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C8EFB3-F78E-5CDF-9B22-A756DF2F0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19" y="2496312"/>
            <a:ext cx="4007525" cy="36301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5E5E6E-1EBA-673C-F388-20E07B54064E}"/>
              </a:ext>
            </a:extLst>
          </p:cNvPr>
          <p:cNvSpPr txBox="1"/>
          <p:nvPr/>
        </p:nvSpPr>
        <p:spPr>
          <a:xfrm>
            <a:off x="384048" y="2042915"/>
            <a:ext cx="5660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MSA</a:t>
            </a:r>
            <a:r>
              <a:rPr lang="ko-KR" altLang="en-US" sz="1600"/>
              <a:t>에서 잘못된 인증로직 구조</a:t>
            </a:r>
            <a:r>
              <a:rPr lang="en-US" altLang="ko-KR" sz="1600"/>
              <a:t>(API GateWay</a:t>
            </a:r>
            <a:r>
              <a:rPr lang="ko-KR" altLang="en-US" sz="1600"/>
              <a:t>가 없는 경우</a:t>
            </a:r>
            <a:r>
              <a:rPr lang="en-US" altLang="ko-KR" sz="1600"/>
              <a:t>)</a:t>
            </a:r>
            <a:endParaRPr lang="ko-KR" altLang="en-US" sz="16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B325875-65C7-1BE7-E23C-0164E6281463}"/>
              </a:ext>
            </a:extLst>
          </p:cNvPr>
          <p:cNvGrpSpPr/>
          <p:nvPr/>
        </p:nvGrpSpPr>
        <p:grpSpPr>
          <a:xfrm>
            <a:off x="4391573" y="2465534"/>
            <a:ext cx="7541347" cy="749351"/>
            <a:chOff x="4391573" y="2465534"/>
            <a:chExt cx="7541347" cy="74935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E3D25B2-D52F-4B88-2A10-206B4E5F4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1573" y="2465534"/>
              <a:ext cx="7541347" cy="749351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3347D97-1F05-9BBC-ED41-2DB4BAE23012}"/>
                </a:ext>
              </a:extLst>
            </p:cNvPr>
            <p:cNvSpPr/>
            <p:nvPr/>
          </p:nvSpPr>
          <p:spPr>
            <a:xfrm>
              <a:off x="4489704" y="2496312"/>
              <a:ext cx="5157216" cy="2651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327929E-DB91-8707-4EE3-13A126246645}"/>
                </a:ext>
              </a:extLst>
            </p:cNvPr>
            <p:cNvSpPr/>
            <p:nvPr/>
          </p:nvSpPr>
          <p:spPr>
            <a:xfrm>
              <a:off x="8399098" y="2752010"/>
              <a:ext cx="3320462" cy="2042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F29CC1A-FF60-8C2C-1E95-7C4DED055F02}"/>
              </a:ext>
            </a:extLst>
          </p:cNvPr>
          <p:cNvGrpSpPr/>
          <p:nvPr/>
        </p:nvGrpSpPr>
        <p:grpSpPr>
          <a:xfrm>
            <a:off x="5474208" y="3254728"/>
            <a:ext cx="5333961" cy="2994525"/>
            <a:chOff x="6126480" y="3414527"/>
            <a:chExt cx="5333961" cy="299452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50A2DED-7BE4-1E20-906A-E96EDE759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6480" y="3763071"/>
              <a:ext cx="5333961" cy="264598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999C6E4-3A2F-DAA3-6B13-BC0D7FB71754}"/>
                </a:ext>
              </a:extLst>
            </p:cNvPr>
            <p:cNvSpPr txBox="1"/>
            <p:nvPr/>
          </p:nvSpPr>
          <p:spPr>
            <a:xfrm>
              <a:off x="6126480" y="3414527"/>
              <a:ext cx="5333961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/>
                <a:t>API GateWay</a:t>
              </a:r>
              <a:r>
                <a:rPr lang="ko-KR" altLang="en-US" sz="1600"/>
                <a:t>에 인증 로직이 존재할 경우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0373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2EB4FE-B258-AC62-2176-38C6C5D1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Jwt Token </a:t>
            </a:r>
            <a:r>
              <a:rPr lang="ko-KR" altLang="en-US"/>
              <a:t>의존성 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ED6D23D-36A7-790C-BDD3-2E3DB3080AA0}"/>
              </a:ext>
            </a:extLst>
          </p:cNvPr>
          <p:cNvGrpSpPr/>
          <p:nvPr/>
        </p:nvGrpSpPr>
        <p:grpSpPr>
          <a:xfrm>
            <a:off x="3248406" y="1886208"/>
            <a:ext cx="6094476" cy="2776786"/>
            <a:chOff x="1191006" y="1968504"/>
            <a:chExt cx="6094476" cy="277678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FC6256E-04FE-C7B5-CEB9-5D5979482281}"/>
                </a:ext>
              </a:extLst>
            </p:cNvPr>
            <p:cNvSpPr txBox="1"/>
            <p:nvPr/>
          </p:nvSpPr>
          <p:spPr>
            <a:xfrm>
              <a:off x="1191006" y="1968504"/>
              <a:ext cx="6094476" cy="277678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dependencies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implementation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'org.springframework.boot:spring-boot-starter-data-jpa'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implementation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'org.springframework.boot:spring-boot-starter-webmvc'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implementation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'org.springframework.boot:spring-boot-starter-kafka'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implementation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'io.jsonwebtoken:jjwt-api:0.13.0'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runtimeOnly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'io.jsonwebtoken:jjwt-impl:0.13.0'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runtimeOnly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'io.jsonwebtoken:jjwt-gson:0.13.0'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developmentOnly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'org.springframework.boot:spring-boot-devtools'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runtimeOnly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'com.mysql:mysql-connector-j'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testImplementation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'org.springframework.boot:spring-boot-starter-data-jpa-test'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testImplementation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'org.springframework.boot:spring-boot-starter-webmvc-test'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testRuntimeOnly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'org.junit.platform:junit-platform-launcher'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7BCDC05-2A40-F95F-B690-94B6105F5147}"/>
                </a:ext>
              </a:extLst>
            </p:cNvPr>
            <p:cNvSpPr/>
            <p:nvPr/>
          </p:nvSpPr>
          <p:spPr>
            <a:xfrm>
              <a:off x="1517904" y="2688336"/>
              <a:ext cx="3849624" cy="6035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BD64F259-AB4A-CD34-C538-8962782F9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52" y="1886208"/>
            <a:ext cx="1143160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88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D6382-16BB-17CD-30D6-6660BF54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Jwt </a:t>
            </a:r>
            <a:r>
              <a:rPr lang="ko-KR" altLang="en-US"/>
              <a:t>설정 추가 </a:t>
            </a:r>
            <a:r>
              <a:rPr lang="en-US" altLang="ko-KR"/>
              <a:t>(application.yml)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0C1ADC6-7E39-F582-1D88-A5B3AC71EA4C}"/>
              </a:ext>
            </a:extLst>
          </p:cNvPr>
          <p:cNvGrpSpPr/>
          <p:nvPr/>
        </p:nvGrpSpPr>
        <p:grpSpPr>
          <a:xfrm>
            <a:off x="501210" y="1847088"/>
            <a:ext cx="2187126" cy="4866355"/>
            <a:chOff x="501210" y="1847088"/>
            <a:chExt cx="2187126" cy="486635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5158E95-2289-3A94-7FB5-8ED75414E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1210" y="1847088"/>
              <a:ext cx="2187126" cy="486635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5EDC52D-E8DB-0616-94A1-EAF5EC546C29}"/>
                </a:ext>
              </a:extLst>
            </p:cNvPr>
            <p:cNvSpPr/>
            <p:nvPr/>
          </p:nvSpPr>
          <p:spPr>
            <a:xfrm>
              <a:off x="612648" y="6464808"/>
              <a:ext cx="1078992" cy="2486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9B819CF-2AA2-66E4-4290-F8D327196622}"/>
              </a:ext>
            </a:extLst>
          </p:cNvPr>
          <p:cNvGrpSpPr/>
          <p:nvPr/>
        </p:nvGrpSpPr>
        <p:grpSpPr>
          <a:xfrm>
            <a:off x="2799774" y="1851823"/>
            <a:ext cx="5439679" cy="4861620"/>
            <a:chOff x="2799774" y="1851823"/>
            <a:chExt cx="5439679" cy="486162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1666419-A6CB-5D9A-0DAB-5CA9BF229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99774" y="1851823"/>
              <a:ext cx="5439679" cy="4861620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EB26CCE-D079-0F8D-03D2-06556979199B}"/>
                </a:ext>
              </a:extLst>
            </p:cNvPr>
            <p:cNvSpPr/>
            <p:nvPr/>
          </p:nvSpPr>
          <p:spPr>
            <a:xfrm>
              <a:off x="3127248" y="6373368"/>
              <a:ext cx="2734056" cy="3400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C462915-4EB0-925E-A396-8BB5C866CC8C}"/>
              </a:ext>
            </a:extLst>
          </p:cNvPr>
          <p:cNvSpPr txBox="1"/>
          <p:nvPr/>
        </p:nvSpPr>
        <p:spPr>
          <a:xfrm>
            <a:off x="8330184" y="1847088"/>
            <a:ext cx="38618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FF0000"/>
                </a:solidFill>
              </a:rPr>
              <a:t>(</a:t>
            </a:r>
            <a:r>
              <a:rPr lang="ko-KR" altLang="en-US" sz="1400" b="1">
                <a:solidFill>
                  <a:srgbClr val="FF0000"/>
                </a:solidFill>
              </a:rPr>
              <a:t>중요</a:t>
            </a:r>
            <a:r>
              <a:rPr lang="en-US" altLang="ko-KR" sz="1400" b="1">
                <a:solidFill>
                  <a:srgbClr val="FF0000"/>
                </a:solidFill>
              </a:rPr>
              <a:t>) </a:t>
            </a:r>
            <a:r>
              <a:rPr lang="en-US" altLang="ko-KR" sz="1400"/>
              <a:t>jwt</a:t>
            </a:r>
            <a:r>
              <a:rPr lang="ko-KR" altLang="en-US" sz="1400"/>
              <a:t>를 생성하는데 사용되는 </a:t>
            </a:r>
            <a:r>
              <a:rPr lang="en-US" altLang="ko-KR" sz="1400"/>
              <a:t>secret</a:t>
            </a:r>
            <a:r>
              <a:rPr lang="ko-KR" altLang="en-US" sz="1400"/>
              <a:t>키가 일정 길이 이상이 되지 않으면 </a:t>
            </a:r>
            <a:r>
              <a:rPr lang="en-US" altLang="ko-KR" sz="1400"/>
              <a:t>jwt </a:t>
            </a:r>
            <a:r>
              <a:rPr lang="ko-KR" altLang="en-US" sz="1400"/>
              <a:t>생성시 에러가 발생한다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34701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DA397-5B2D-D02D-5377-C478EB20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Login</a:t>
            </a:r>
            <a:r>
              <a:rPr lang="ko-KR" altLang="en-US"/>
              <a:t>요청 </a:t>
            </a:r>
            <a:r>
              <a:rPr lang="en-US" altLang="ko-KR"/>
              <a:t>DTO </a:t>
            </a:r>
            <a:r>
              <a:rPr lang="ko-KR" altLang="en-US"/>
              <a:t>작성</a:t>
            </a:r>
            <a:r>
              <a:rPr lang="en-US" altLang="ko-KR"/>
              <a:t>(UserRequestDto)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B2266-7293-8261-B781-01278BB77B95}"/>
              </a:ext>
            </a:extLst>
          </p:cNvPr>
          <p:cNvSpPr txBox="1"/>
          <p:nvPr/>
        </p:nvSpPr>
        <p:spPr>
          <a:xfrm>
            <a:off x="3972306" y="1737360"/>
            <a:ext cx="3406902" cy="51338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LoginRequestDto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LoginRequestDto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LoginRequestDto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password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51DFB18-496E-9FFA-C6AF-AC2F9BFEC30A}"/>
              </a:ext>
            </a:extLst>
          </p:cNvPr>
          <p:cNvGrpSpPr/>
          <p:nvPr/>
        </p:nvGrpSpPr>
        <p:grpSpPr>
          <a:xfrm>
            <a:off x="1097280" y="1737360"/>
            <a:ext cx="2600688" cy="4486901"/>
            <a:chOff x="1097280" y="1737360"/>
            <a:chExt cx="2600688" cy="448690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2B5F852-9043-2820-54B5-6042F522D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737360"/>
              <a:ext cx="2600688" cy="4486901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DAF2484-03A5-A9D7-5827-27B507E5747B}"/>
                </a:ext>
              </a:extLst>
            </p:cNvPr>
            <p:cNvSpPr/>
            <p:nvPr/>
          </p:nvSpPr>
          <p:spPr>
            <a:xfrm>
              <a:off x="1444752" y="5330952"/>
              <a:ext cx="1499616" cy="256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0339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2F4A4-DDB8-F146-A7BE-DF79EEFF9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Login</a:t>
            </a:r>
            <a:r>
              <a:rPr lang="ko-KR" altLang="en-US"/>
              <a:t>응답 </a:t>
            </a:r>
            <a:r>
              <a:rPr lang="en-US" altLang="ko-KR"/>
              <a:t>DTO</a:t>
            </a:r>
            <a:r>
              <a:rPr lang="ko-KR" altLang="en-US"/>
              <a:t>작성</a:t>
            </a:r>
            <a:r>
              <a:rPr lang="en-US" altLang="ko-KR"/>
              <a:t>(UserResponseDto)</a:t>
            </a:r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6AC70D0-B7EC-A2A6-0473-5ADD8A0A87B6}"/>
              </a:ext>
            </a:extLst>
          </p:cNvPr>
          <p:cNvGrpSpPr/>
          <p:nvPr/>
        </p:nvGrpSpPr>
        <p:grpSpPr>
          <a:xfrm>
            <a:off x="1097280" y="1737360"/>
            <a:ext cx="2600688" cy="4486901"/>
            <a:chOff x="1097280" y="1737360"/>
            <a:chExt cx="2600688" cy="448690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64E498F-2370-D585-3A4F-47D45E1BC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737360"/>
              <a:ext cx="2600688" cy="448690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4B03EC-16C0-4FA2-91F7-97B7D8053022}"/>
                </a:ext>
              </a:extLst>
            </p:cNvPr>
            <p:cNvSpPr/>
            <p:nvPr/>
          </p:nvSpPr>
          <p:spPr>
            <a:xfrm>
              <a:off x="1453896" y="5541264"/>
              <a:ext cx="1499616" cy="256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A6EFF97-90EC-088E-FB38-E00B1E653144}"/>
              </a:ext>
            </a:extLst>
          </p:cNvPr>
          <p:cNvSpPr txBox="1"/>
          <p:nvPr/>
        </p:nvSpPr>
        <p:spPr>
          <a:xfrm>
            <a:off x="3851928" y="1737360"/>
            <a:ext cx="3691890" cy="313585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LoginResponseDto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LoginResponseDto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LoginResponseDto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getToken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7D00A3-80AB-2DAF-82D6-8C6D7B988EFC}"/>
              </a:ext>
            </a:extLst>
          </p:cNvPr>
          <p:cNvSpPr txBox="1"/>
          <p:nvPr/>
        </p:nvSpPr>
        <p:spPr>
          <a:xfrm>
            <a:off x="7671816" y="1856232"/>
            <a:ext cx="4270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UserResponseDto</a:t>
            </a:r>
            <a:r>
              <a:rPr lang="ko-KR" altLang="en-US"/>
              <a:t>는 생성된 </a:t>
            </a:r>
            <a:r>
              <a:rPr lang="en-US" altLang="ko-KR"/>
              <a:t>Jwt</a:t>
            </a:r>
            <a:r>
              <a:rPr lang="ko-KR" altLang="en-US"/>
              <a:t>토큰을 전달한다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932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38F6A-BB32-B34D-9F9A-BE65083C5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Login</a:t>
            </a:r>
            <a:r>
              <a:rPr lang="ko-KR" altLang="en-US"/>
              <a:t>을 위한 </a:t>
            </a:r>
            <a:r>
              <a:rPr lang="en-US" altLang="ko-KR"/>
              <a:t>Url </a:t>
            </a:r>
            <a:r>
              <a:rPr lang="ko-KR" altLang="en-US"/>
              <a:t>추가 </a:t>
            </a:r>
            <a:r>
              <a:rPr lang="en-US" altLang="ko-KR"/>
              <a:t>(UserController)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216DDD6-5E6E-26A1-64B3-0E7E94065754}"/>
              </a:ext>
            </a:extLst>
          </p:cNvPr>
          <p:cNvGrpSpPr/>
          <p:nvPr/>
        </p:nvGrpSpPr>
        <p:grpSpPr>
          <a:xfrm>
            <a:off x="1036320" y="1737360"/>
            <a:ext cx="2429214" cy="3410426"/>
            <a:chOff x="1036320" y="1737360"/>
            <a:chExt cx="2429214" cy="341042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5699B42-48B7-08CD-CE0D-111EEAD16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" y="1737360"/>
              <a:ext cx="2429214" cy="3410426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EA4C6B4-C4C3-1B15-F9D5-783C48FD0F1D}"/>
                </a:ext>
              </a:extLst>
            </p:cNvPr>
            <p:cNvSpPr/>
            <p:nvPr/>
          </p:nvSpPr>
          <p:spPr>
            <a:xfrm>
              <a:off x="1408176" y="4489704"/>
              <a:ext cx="1499616" cy="256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3368521-9B11-6004-823B-2CDAAC7447DA}"/>
              </a:ext>
            </a:extLst>
          </p:cNvPr>
          <p:cNvGrpSpPr/>
          <p:nvPr/>
        </p:nvGrpSpPr>
        <p:grpSpPr>
          <a:xfrm>
            <a:off x="3650742" y="1737367"/>
            <a:ext cx="4633722" cy="5120633"/>
            <a:chOff x="3650742" y="1737367"/>
            <a:chExt cx="4633722" cy="512063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EEADB02-D236-FC50-4088-A6B413A298C1}"/>
                </a:ext>
              </a:extLst>
            </p:cNvPr>
            <p:cNvSpPr txBox="1"/>
            <p:nvPr/>
          </p:nvSpPr>
          <p:spPr>
            <a:xfrm>
              <a:off x="3650742" y="1737367"/>
              <a:ext cx="4633722" cy="512063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@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RestController</a:t>
              </a: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@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RequestMapping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"/api/users"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UserController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final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UserController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@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PostMapping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"/sign-up"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ResponseEntity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Void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&gt;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signUp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@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RequestBody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SignUpRequestDto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signUpRequestDto</a:t>
              </a: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){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signUp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signUpRequestDto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ResponseEntity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noContent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build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@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PostMapping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"/login"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ResponseEntity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LoginResponseDto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&gt;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login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@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RequestBody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LoginRequestDto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loginRequestDto</a:t>
              </a: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){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LoginResponseDto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loginResponseDto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userService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login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loginRequestDto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ResponseEntity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ok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loginResponseDto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2973778-D0B0-21AE-9DAB-10607F03E297}"/>
                </a:ext>
              </a:extLst>
            </p:cNvPr>
            <p:cNvSpPr/>
            <p:nvPr/>
          </p:nvSpPr>
          <p:spPr>
            <a:xfrm>
              <a:off x="3922776" y="5065776"/>
              <a:ext cx="3511296" cy="1600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763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AF8249-85FB-0992-E610-F0353E49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Login </a:t>
            </a:r>
            <a:r>
              <a:rPr lang="ko-KR" altLang="en-US" sz="4000"/>
              <a:t>로직 추가 </a:t>
            </a:r>
            <a:r>
              <a:rPr lang="en-US" altLang="ko-KR" sz="4000"/>
              <a:t>- UserService(</a:t>
            </a:r>
            <a:r>
              <a:rPr lang="ko-KR" altLang="en-US" sz="4000"/>
              <a:t>의존성주입</a:t>
            </a:r>
            <a:r>
              <a:rPr lang="en-US" altLang="ko-KR" sz="4000"/>
              <a:t>)</a:t>
            </a:r>
            <a:r>
              <a:rPr lang="ko-KR" altLang="en-US" sz="400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DD72F-5E96-F230-917F-1FE4C1845B32}"/>
              </a:ext>
            </a:extLst>
          </p:cNvPr>
          <p:cNvSpPr txBox="1"/>
          <p:nvPr/>
        </p:nvSpPr>
        <p:spPr>
          <a:xfrm>
            <a:off x="5724144" y="1837944"/>
            <a:ext cx="5806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UserService</a:t>
            </a:r>
            <a:r>
              <a:rPr lang="ko-KR" altLang="en-US"/>
              <a:t>내 의존성 주입을 위한 생성자 변경점</a:t>
            </a:r>
            <a:r>
              <a:rPr lang="en-US" altLang="ko-KR"/>
              <a:t>.</a:t>
            </a:r>
          </a:p>
          <a:p>
            <a:r>
              <a:rPr lang="en-US" altLang="ko-KR"/>
              <a:t>jwtSecret </a:t>
            </a:r>
            <a:r>
              <a:rPr lang="ko-KR" altLang="en-US"/>
              <a:t>정보를 </a:t>
            </a:r>
            <a:r>
              <a:rPr lang="en-US" altLang="ko-KR"/>
              <a:t>application.yml </a:t>
            </a:r>
            <a:r>
              <a:rPr lang="ko-KR" altLang="en-US"/>
              <a:t>에서 받아온다</a:t>
            </a:r>
            <a:r>
              <a:rPr lang="en-US" altLang="ko-KR"/>
              <a:t>.</a:t>
            </a:r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F5B9D4F-3DE8-D482-6F5E-DEB3F2F1652A}"/>
              </a:ext>
            </a:extLst>
          </p:cNvPr>
          <p:cNvGrpSpPr/>
          <p:nvPr/>
        </p:nvGrpSpPr>
        <p:grpSpPr>
          <a:xfrm>
            <a:off x="478556" y="1838103"/>
            <a:ext cx="5163271" cy="3181794"/>
            <a:chOff x="478556" y="1838103"/>
            <a:chExt cx="5163271" cy="318179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464502B-2AD9-10B0-3230-DF9B08342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556" y="1838103"/>
              <a:ext cx="5163271" cy="3181794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EA5F11A-EE70-5F0F-85E6-6EB8CC754DE3}"/>
                </a:ext>
              </a:extLst>
            </p:cNvPr>
            <p:cNvSpPr/>
            <p:nvPr/>
          </p:nvSpPr>
          <p:spPr>
            <a:xfrm>
              <a:off x="1179576" y="2770632"/>
              <a:ext cx="2377440" cy="2377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E3CAD5E-F0FF-4EF0-B5A7-EF36A1212D51}"/>
                </a:ext>
              </a:extLst>
            </p:cNvPr>
            <p:cNvSpPr/>
            <p:nvPr/>
          </p:nvSpPr>
          <p:spPr>
            <a:xfrm>
              <a:off x="1386840" y="4550664"/>
              <a:ext cx="2377440" cy="2377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A9B208A-D2A5-A446-EE55-E54B3AF409FC}"/>
                </a:ext>
              </a:extLst>
            </p:cNvPr>
            <p:cNvSpPr/>
            <p:nvPr/>
          </p:nvSpPr>
          <p:spPr>
            <a:xfrm>
              <a:off x="1539240" y="3688080"/>
              <a:ext cx="3105912" cy="2377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3700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50625-DBD0-B643-01FE-8202E0CFD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E342A-AF31-FE83-CF33-E547C5C90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Login </a:t>
            </a:r>
            <a:r>
              <a:rPr lang="ko-KR" altLang="en-US" sz="4000"/>
              <a:t>로직 추가 </a:t>
            </a:r>
            <a:r>
              <a:rPr lang="en-US" altLang="ko-KR" sz="4000"/>
              <a:t>- UserService</a:t>
            </a:r>
            <a:r>
              <a:rPr lang="ko-KR" altLang="en-US" sz="4000"/>
              <a:t> </a:t>
            </a:r>
            <a:r>
              <a:rPr lang="en-US" altLang="ko-KR" sz="4000"/>
              <a:t>(</a:t>
            </a:r>
            <a:r>
              <a:rPr lang="ko-KR" altLang="en-US" sz="4000"/>
              <a:t>로그인 로직</a:t>
            </a:r>
            <a:r>
              <a:rPr lang="en-US" altLang="ko-KR" sz="4000"/>
              <a:t>)</a:t>
            </a:r>
            <a:endParaRPr lang="ko-KR" altLang="en-US" sz="4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B75F5-97D1-01C5-ECA9-557B77C4418F}"/>
              </a:ext>
            </a:extLst>
          </p:cNvPr>
          <p:cNvSpPr txBox="1"/>
          <p:nvPr/>
        </p:nvSpPr>
        <p:spPr>
          <a:xfrm>
            <a:off x="6976872" y="1837944"/>
            <a:ext cx="505739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SpringSecurity</a:t>
            </a:r>
            <a:r>
              <a:rPr lang="ko-KR" altLang="en-US" sz="1400"/>
              <a:t>는 적용안했음</a:t>
            </a:r>
            <a:r>
              <a:rPr lang="en-US" altLang="ko-KR" sz="1400"/>
              <a:t>. -</a:t>
            </a:r>
            <a:r>
              <a:rPr lang="ko-KR" altLang="en-US" sz="1400"/>
              <a:t>실무적으론 해야함</a:t>
            </a:r>
            <a:endParaRPr lang="en-US" altLang="ko-KR" sz="1400"/>
          </a:p>
          <a:p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전달받은 </a:t>
            </a:r>
            <a:r>
              <a:rPr lang="en-US" altLang="ko-KR" sz="1400"/>
              <a:t>loginRequestDto</a:t>
            </a:r>
            <a:r>
              <a:rPr lang="ko-KR" altLang="en-US" sz="1400"/>
              <a:t>의 </a:t>
            </a:r>
            <a:r>
              <a:rPr lang="en-US" altLang="ko-KR" sz="1400"/>
              <a:t>email</a:t>
            </a:r>
            <a:r>
              <a:rPr lang="ko-KR" altLang="en-US" sz="1400"/>
              <a:t>정보를 통해 </a:t>
            </a:r>
            <a:r>
              <a:rPr lang="en-US" altLang="ko-KR" sz="1400"/>
              <a:t>DB </a:t>
            </a:r>
            <a:r>
              <a:rPr lang="ko-KR" altLang="en-US" sz="1400"/>
              <a:t>에서 </a:t>
            </a:r>
            <a:br>
              <a:rPr lang="en-US" altLang="ko-KR" sz="1400"/>
            </a:br>
            <a:r>
              <a:rPr lang="en-US" altLang="ko-KR" sz="1400"/>
              <a:t> User</a:t>
            </a:r>
            <a:r>
              <a:rPr lang="ko-KR" altLang="en-US" sz="1400"/>
              <a:t>정보 조회</a:t>
            </a:r>
            <a:r>
              <a:rPr lang="en-US" altLang="ko-KR" sz="1400"/>
              <a:t>.</a:t>
            </a:r>
          </a:p>
          <a:p>
            <a:pPr marL="342900" indent="-342900">
              <a:buAutoNum type="arabicPeriod"/>
            </a:pPr>
            <a:r>
              <a:rPr lang="en-US" altLang="ko-KR" sz="1400"/>
              <a:t>User </a:t>
            </a:r>
            <a:r>
              <a:rPr lang="ko-KR" altLang="en-US" sz="1400"/>
              <a:t>엔티티와 </a:t>
            </a:r>
            <a:r>
              <a:rPr lang="en-US" altLang="ko-KR" sz="1400"/>
              <a:t>loginRequestDto</a:t>
            </a:r>
            <a:r>
              <a:rPr lang="ko-KR" altLang="en-US" sz="1400"/>
              <a:t>의 </a:t>
            </a:r>
            <a:r>
              <a:rPr lang="en-US" altLang="ko-KR" sz="1400"/>
              <a:t>password </a:t>
            </a:r>
            <a:r>
              <a:rPr lang="ko-KR" altLang="en-US" sz="1400"/>
              <a:t>일치 확인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일치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로그인 사용자</a:t>
            </a:r>
            <a:r>
              <a:rPr lang="en-US" altLang="ko-KR" sz="1400">
                <a:sym typeface="Wingdings" panose="05000000000000000000" pitchFamily="2" charset="2"/>
              </a:rPr>
              <a:t> </a:t>
            </a:r>
            <a:r>
              <a:rPr lang="ko-KR" altLang="en-US" sz="1400">
                <a:sym typeface="Wingdings" panose="05000000000000000000" pitchFamily="2" charset="2"/>
              </a:rPr>
              <a:t>인증 </a:t>
            </a:r>
            <a:r>
              <a:rPr lang="en-US" altLang="ko-KR" sz="1400">
                <a:sym typeface="Wingdings" panose="05000000000000000000" pitchFamily="2" charset="2"/>
              </a:rPr>
              <a:t>(Jwt </a:t>
            </a:r>
            <a:r>
              <a:rPr lang="ko-KR" altLang="en-US" sz="1400">
                <a:sym typeface="Wingdings" panose="05000000000000000000" pitchFamily="2" charset="2"/>
              </a:rPr>
              <a:t>토큰 발급</a:t>
            </a:r>
            <a:r>
              <a:rPr lang="en-US" altLang="ko-KR" sz="1400">
                <a:sym typeface="Wingdings" panose="05000000000000000000" pitchFamily="2" charset="2"/>
              </a:rPr>
              <a:t>)</a:t>
            </a:r>
            <a:r>
              <a:rPr lang="ko-KR" altLang="en-US" sz="1400"/>
              <a:t> 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jwt</a:t>
            </a:r>
            <a:r>
              <a:rPr lang="ko-KR" altLang="en-US" sz="1400"/>
              <a:t>토큰 </a:t>
            </a:r>
            <a:r>
              <a:rPr lang="en-US" altLang="ko-KR" sz="1400"/>
              <a:t>LoginResponseDto</a:t>
            </a:r>
            <a:r>
              <a:rPr lang="ko-KR" altLang="en-US" sz="1400"/>
              <a:t>에 삽입 및 반환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36FCE8-1615-B935-B4E6-2CF8C8114568}"/>
              </a:ext>
            </a:extLst>
          </p:cNvPr>
          <p:cNvSpPr txBox="1"/>
          <p:nvPr/>
        </p:nvSpPr>
        <p:spPr>
          <a:xfrm>
            <a:off x="157734" y="1837944"/>
            <a:ext cx="6672834" cy="385067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LoginResponseDto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LoginRequestDto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loginRequestDto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loginRequestDto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사용자를 찾을 수 없습니다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getPassword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loginRequestDto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getPassword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비밀번호가 일치하지 않습니다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JWT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를 만들때 사용하는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Key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생성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공식 문서 방식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SecretKey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secretKey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Keys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hmacShaKeyFor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jwtSecret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getBytes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StandardCharsets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UTF_8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JWT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토큰 만들기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Jwts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signWith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secretKey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compact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LoginResponseDto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526147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8A8E7-590E-3394-D41C-848F3699E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로그인 </a:t>
            </a:r>
            <a:r>
              <a:rPr lang="en-US" altLang="ko-KR"/>
              <a:t>URL </a:t>
            </a:r>
            <a:r>
              <a:rPr lang="ko-KR" altLang="en-US"/>
              <a:t>결과확인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DA71BF-DAB2-AE24-8FDF-5B606C1ED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43" y="1907527"/>
            <a:ext cx="3362794" cy="20005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C71878-F6F6-A9C7-B220-F5DFFF91D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988" y="1907527"/>
            <a:ext cx="747816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0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ACA58-4D07-CA67-9F15-4768D5E8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Api Gateway </a:t>
            </a:r>
            <a:r>
              <a:rPr lang="ko-KR" altLang="en-US" sz="4000"/>
              <a:t>애플리케이션에 </a:t>
            </a:r>
            <a:r>
              <a:rPr lang="en-US" altLang="ko-KR" sz="4000"/>
              <a:t>jwt</a:t>
            </a:r>
            <a:r>
              <a:rPr lang="ko-KR" altLang="en-US" sz="4000"/>
              <a:t>의존성 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72D500D-2904-4297-F404-012BD9E2266A}"/>
              </a:ext>
            </a:extLst>
          </p:cNvPr>
          <p:cNvGrpSpPr/>
          <p:nvPr/>
        </p:nvGrpSpPr>
        <p:grpSpPr>
          <a:xfrm>
            <a:off x="1097280" y="1950396"/>
            <a:ext cx="7230484" cy="1914792"/>
            <a:chOff x="1097280" y="1950396"/>
            <a:chExt cx="7230484" cy="191479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F962DB4-28A1-FE2E-A905-5F0A6EBDC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50396"/>
              <a:ext cx="7230484" cy="191479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BE87638-EBE0-66BF-EF2F-C3D7D4F1959C}"/>
                </a:ext>
              </a:extLst>
            </p:cNvPr>
            <p:cNvSpPr/>
            <p:nvPr/>
          </p:nvSpPr>
          <p:spPr>
            <a:xfrm>
              <a:off x="1874520" y="2368296"/>
              <a:ext cx="3584448" cy="5577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2720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216A1-48D7-4CB1-6F99-9088FCC81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에 </a:t>
            </a:r>
            <a:r>
              <a:rPr lang="en-US" altLang="ko-KR"/>
              <a:t>secret</a:t>
            </a:r>
            <a:r>
              <a:rPr lang="ko-KR" altLang="en-US"/>
              <a:t>키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7A091D-E4B0-A1B3-8626-3662CD5D1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87832"/>
            <a:ext cx="4001058" cy="5048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38347C-0346-F75C-ED14-349F53FC7FD1}"/>
              </a:ext>
            </a:extLst>
          </p:cNvPr>
          <p:cNvSpPr txBox="1"/>
          <p:nvPr/>
        </p:nvSpPr>
        <p:spPr>
          <a:xfrm>
            <a:off x="1097280" y="2596896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user-service</a:t>
            </a:r>
            <a:r>
              <a:rPr lang="ko-KR" altLang="en-US"/>
              <a:t> 에서 설정한 </a:t>
            </a:r>
            <a:r>
              <a:rPr lang="en-US" altLang="ko-KR"/>
              <a:t>secret</a:t>
            </a:r>
            <a:r>
              <a:rPr lang="ko-KR" altLang="en-US"/>
              <a:t>키와 동일해야</a:t>
            </a:r>
            <a:r>
              <a:rPr lang="en-US" altLang="ko-KR"/>
              <a:t>. </a:t>
            </a:r>
            <a:r>
              <a:rPr lang="ko-KR" altLang="en-US"/>
              <a:t>토큰의 복호화가 가능하다</a:t>
            </a:r>
          </a:p>
        </p:txBody>
      </p:sp>
    </p:spTree>
    <p:extLst>
      <p:ext uri="{BB962C8B-B14F-4D97-AF65-F5344CB8AC3E}">
        <p14:creationId xmlns:p14="http://schemas.microsoft.com/office/powerpoint/2010/main" val="2961909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AA0D97-26CF-3E81-F3F6-71B3FF03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Jwt </a:t>
            </a:r>
            <a:r>
              <a:rPr lang="ko-KR" altLang="en-US"/>
              <a:t>인증 필터 작성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67D18EB-9BC2-A93D-ED12-ECD38D62EDC9}"/>
              </a:ext>
            </a:extLst>
          </p:cNvPr>
          <p:cNvGrpSpPr/>
          <p:nvPr/>
        </p:nvGrpSpPr>
        <p:grpSpPr>
          <a:xfrm>
            <a:off x="9479283" y="45058"/>
            <a:ext cx="2581635" cy="1933845"/>
            <a:chOff x="589798" y="1886005"/>
            <a:chExt cx="2581635" cy="193384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1ADDA5E-0D1A-6B30-80B4-402631589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9798" y="1886005"/>
              <a:ext cx="2581635" cy="193384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2EC8112-D21F-8284-FC3E-8D05A6AF2EC0}"/>
                </a:ext>
              </a:extLst>
            </p:cNvPr>
            <p:cNvSpPr/>
            <p:nvPr/>
          </p:nvSpPr>
          <p:spPr>
            <a:xfrm>
              <a:off x="896112" y="3529584"/>
              <a:ext cx="1929384" cy="2902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672F28C7-90E0-3116-FFF1-6FE99BF7B4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867"/>
          <a:stretch>
            <a:fillRect/>
          </a:stretch>
        </p:blipFill>
        <p:spPr>
          <a:xfrm>
            <a:off x="5981769" y="2036771"/>
            <a:ext cx="6079149" cy="300473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D6030B8-E726-2448-FAE2-520A6A4C8D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134"/>
          <a:stretch>
            <a:fillRect/>
          </a:stretch>
        </p:blipFill>
        <p:spPr>
          <a:xfrm>
            <a:off x="131082" y="2026083"/>
            <a:ext cx="5748287" cy="39021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08C0EF-66D8-F97B-33C3-DE160C6027AC}"/>
              </a:ext>
            </a:extLst>
          </p:cNvPr>
          <p:cNvSpPr txBox="1"/>
          <p:nvPr/>
        </p:nvSpPr>
        <p:spPr>
          <a:xfrm>
            <a:off x="5981769" y="5111496"/>
            <a:ext cx="6079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/>
              <a:t>user-service </a:t>
            </a:r>
            <a:r>
              <a:rPr lang="ko-KR" altLang="en-US" sz="1200"/>
              <a:t>로그인 </a:t>
            </a:r>
            <a:r>
              <a:rPr lang="en-US" altLang="ko-KR" sz="1200"/>
              <a:t>API</a:t>
            </a:r>
            <a:r>
              <a:rPr lang="ko-KR" altLang="en-US" sz="1200"/>
              <a:t>로 부터 전달받은 </a:t>
            </a:r>
            <a:r>
              <a:rPr lang="en-US" altLang="ko-KR" sz="1200"/>
              <a:t>jwt</a:t>
            </a:r>
            <a:r>
              <a:rPr lang="ko-KR" altLang="en-US" sz="1200"/>
              <a:t>토큰이 헤더에 포함되어있다면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en-US" altLang="ko-KR" sz="1200"/>
              <a:t>secretKey</a:t>
            </a:r>
            <a:r>
              <a:rPr lang="ko-KR" altLang="en-US" sz="1200"/>
              <a:t>를 통해 </a:t>
            </a:r>
            <a:r>
              <a:rPr lang="en-US" altLang="ko-KR" sz="1200"/>
              <a:t>Jwt</a:t>
            </a:r>
            <a:r>
              <a:rPr lang="ko-KR" altLang="en-US" sz="1200"/>
              <a:t>토큰에 포함된 </a:t>
            </a:r>
            <a:r>
              <a:rPr lang="en-US" altLang="ko-KR" sz="1200"/>
              <a:t>Subject </a:t>
            </a:r>
            <a:r>
              <a:rPr lang="ko-KR" altLang="en-US" sz="1200"/>
              <a:t>정보를 추출할 수 있다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r>
              <a:rPr lang="ko-KR" altLang="en-US" sz="1200"/>
              <a:t>추출한 </a:t>
            </a:r>
            <a:r>
              <a:rPr lang="en-US" altLang="ko-KR" sz="1200"/>
              <a:t>Subject </a:t>
            </a:r>
            <a:r>
              <a:rPr lang="ko-KR" altLang="en-US" sz="1200"/>
              <a:t>정보를 </a:t>
            </a:r>
            <a:r>
              <a:rPr lang="en-US" altLang="ko-KR" sz="1200"/>
              <a:t>X-User-Id </a:t>
            </a:r>
            <a:r>
              <a:rPr lang="ko-KR" altLang="en-US" sz="1200"/>
              <a:t>값으로 헤더에 포함시켜</a:t>
            </a:r>
            <a:r>
              <a:rPr lang="en-US" altLang="ko-KR" sz="1200"/>
              <a:t>, </a:t>
            </a:r>
            <a:r>
              <a:rPr lang="ko-KR" altLang="en-US" sz="1200"/>
              <a:t>마이크로 서비스로 전달한다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511982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038D75-0C14-21F3-BE1F-6FCFE6C79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Jwt</a:t>
            </a:r>
            <a:r>
              <a:rPr lang="ko-KR" altLang="en-US" sz="3600"/>
              <a:t>인증이 필요한 서비스를 </a:t>
            </a:r>
            <a:r>
              <a:rPr lang="en-US" altLang="ko-KR" sz="3600"/>
              <a:t>API GateWay</a:t>
            </a:r>
            <a:r>
              <a:rPr lang="ko-KR" altLang="en-US" sz="3600"/>
              <a:t>에 등록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F10CDF7-2F28-D1D3-8347-79543FB0775E}"/>
              </a:ext>
            </a:extLst>
          </p:cNvPr>
          <p:cNvGrpSpPr/>
          <p:nvPr/>
        </p:nvGrpSpPr>
        <p:grpSpPr>
          <a:xfrm>
            <a:off x="624128" y="1737360"/>
            <a:ext cx="4304488" cy="4892249"/>
            <a:chOff x="624128" y="1737360"/>
            <a:chExt cx="4304488" cy="489224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603FD74-F093-C79A-1A3D-ED338C2CB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4128" y="1737360"/>
              <a:ext cx="4304488" cy="489224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67888C8-5639-49D4-6F0A-50496CB372BE}"/>
                </a:ext>
              </a:extLst>
            </p:cNvPr>
            <p:cNvSpPr/>
            <p:nvPr/>
          </p:nvSpPr>
          <p:spPr>
            <a:xfrm>
              <a:off x="2496312" y="4023360"/>
              <a:ext cx="2350008" cy="20665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A0065C8-D747-8A39-8093-F82E413AF07A}"/>
              </a:ext>
            </a:extLst>
          </p:cNvPr>
          <p:cNvSpPr txBox="1"/>
          <p:nvPr/>
        </p:nvSpPr>
        <p:spPr>
          <a:xfrm>
            <a:off x="5129784" y="1828800"/>
            <a:ext cx="68305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Board </a:t>
            </a:r>
            <a:r>
              <a:rPr lang="ko-KR" altLang="en-US"/>
              <a:t>의 </a:t>
            </a:r>
            <a:r>
              <a:rPr lang="ko-KR" altLang="en-US" b="1">
                <a:solidFill>
                  <a:srgbClr val="FF0000"/>
                </a:solidFill>
              </a:rPr>
              <a:t>게시판 작성 서비스</a:t>
            </a:r>
            <a:r>
              <a:rPr lang="ko-KR" altLang="en-US"/>
              <a:t>의 경우 어떠한 사람이 다른 회원의 게시물을 올려 사칭하는일이 없도록 해야하는 </a:t>
            </a:r>
            <a:r>
              <a:rPr lang="ko-KR" altLang="en-US" b="1">
                <a:solidFill>
                  <a:srgbClr val="FF0000"/>
                </a:solidFill>
              </a:rPr>
              <a:t>인증이 필요한 서비스</a:t>
            </a:r>
            <a:r>
              <a:rPr lang="ko-KR" altLang="en-US"/>
              <a:t>이다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board-service-jwt</a:t>
            </a:r>
            <a:r>
              <a:rPr lang="ko-KR" altLang="en-US"/>
              <a:t>의 </a:t>
            </a:r>
            <a:r>
              <a:rPr lang="en-US" altLang="ko-KR"/>
              <a:t>Path </a:t>
            </a:r>
            <a:r>
              <a:rPr lang="ko-KR" altLang="en-US"/>
              <a:t>정보를 보면 게시판 생성 메소드는 </a:t>
            </a:r>
            <a:endParaRPr lang="en-US" altLang="ko-KR"/>
          </a:p>
          <a:p>
            <a:r>
              <a:rPr lang="en-US" altLang="ko-KR"/>
              <a:t>JwtAuthenticationFilter</a:t>
            </a:r>
            <a:r>
              <a:rPr lang="ko-KR" altLang="en-US"/>
              <a:t>를 거치도록 되어있다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그러나 만약 </a:t>
            </a:r>
            <a:r>
              <a:rPr lang="en-US" altLang="ko-KR" b="1">
                <a:solidFill>
                  <a:srgbClr val="FF0000"/>
                </a:solidFill>
              </a:rPr>
              <a:t>board-service-jwt</a:t>
            </a:r>
            <a:r>
              <a:rPr lang="ko-KR" altLang="en-US" b="1">
                <a:solidFill>
                  <a:srgbClr val="FF0000"/>
                </a:solidFill>
              </a:rPr>
              <a:t>가 </a:t>
            </a:r>
            <a:r>
              <a:rPr lang="en-US" altLang="ko-KR" b="1">
                <a:solidFill>
                  <a:srgbClr val="FF0000"/>
                </a:solidFill>
              </a:rPr>
              <a:t>board-service </a:t>
            </a:r>
            <a:r>
              <a:rPr lang="ko-KR" altLang="en-US" b="1">
                <a:solidFill>
                  <a:srgbClr val="FF0000"/>
                </a:solidFill>
              </a:rPr>
              <a:t>뒤에 선언되었다고 가정하면</a:t>
            </a:r>
            <a:r>
              <a:rPr lang="en-US" altLang="ko-KR" b="1">
                <a:solidFill>
                  <a:srgbClr val="FF0000"/>
                </a:solidFill>
              </a:rPr>
              <a:t>, API Gateway</a:t>
            </a:r>
            <a:r>
              <a:rPr lang="ko-KR" altLang="en-US" b="1">
                <a:solidFill>
                  <a:srgbClr val="FF0000"/>
                </a:solidFill>
              </a:rPr>
              <a:t>는 순차적으로 설정값을 실행함</a:t>
            </a:r>
            <a:r>
              <a:rPr lang="ko-KR" altLang="en-US"/>
              <a:t>으로</a:t>
            </a:r>
            <a:r>
              <a:rPr lang="en-US" altLang="ko-KR"/>
              <a:t>.</a:t>
            </a:r>
          </a:p>
          <a:p>
            <a:r>
              <a:rPr lang="en-US" altLang="ko-KR"/>
              <a:t>/api/boards </a:t>
            </a:r>
            <a:r>
              <a:rPr lang="ko-KR" altLang="en-US"/>
              <a:t>요청이 </a:t>
            </a:r>
            <a:r>
              <a:rPr lang="en-US" altLang="ko-KR"/>
              <a:t>board-service</a:t>
            </a:r>
            <a:r>
              <a:rPr lang="ko-KR" altLang="en-US"/>
              <a:t>에 포함되어있어</a:t>
            </a:r>
            <a:r>
              <a:rPr lang="en-US" altLang="ko-KR"/>
              <a:t>,</a:t>
            </a:r>
            <a:r>
              <a:rPr lang="en-US" altLang="ko-KR" b="1">
                <a:solidFill>
                  <a:srgbClr val="FF0000"/>
                </a:solidFill>
              </a:rPr>
              <a:t> jwt </a:t>
            </a:r>
            <a:r>
              <a:rPr lang="ko-KR" altLang="en-US" b="1">
                <a:solidFill>
                  <a:srgbClr val="FF0000"/>
                </a:solidFill>
              </a:rPr>
              <a:t>검증 필터를</a:t>
            </a:r>
            <a:r>
              <a:rPr lang="ko-KR" altLang="en-US"/>
              <a:t> </a:t>
            </a:r>
            <a:r>
              <a:rPr lang="ko-KR" altLang="en-US" b="1">
                <a:solidFill>
                  <a:srgbClr val="FF0000"/>
                </a:solidFill>
              </a:rPr>
              <a:t>무시하고 동작하게 되는 불상사</a:t>
            </a:r>
            <a:r>
              <a:rPr lang="ko-KR" altLang="en-US"/>
              <a:t>가 발생한다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4156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3D1AC-C2AD-4A5A-EC50-D239FBD5B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BoardController </a:t>
            </a:r>
            <a:r>
              <a:rPr lang="ko-KR" altLang="en-US" sz="3200"/>
              <a:t>변경점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65F9F7D-2A69-AC2B-2066-5707DB3307C6}"/>
              </a:ext>
            </a:extLst>
          </p:cNvPr>
          <p:cNvGrpSpPr/>
          <p:nvPr/>
        </p:nvGrpSpPr>
        <p:grpSpPr>
          <a:xfrm>
            <a:off x="546754" y="1801367"/>
            <a:ext cx="2448267" cy="3686689"/>
            <a:chOff x="546754" y="1801367"/>
            <a:chExt cx="2448267" cy="368668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A087F9D-FBCC-999E-3A36-23CAF9D1F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754" y="1801367"/>
              <a:ext cx="2448267" cy="3686689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19942BB-E8E7-54D1-ECC2-A44C7ED83786}"/>
                </a:ext>
              </a:extLst>
            </p:cNvPr>
            <p:cNvSpPr/>
            <p:nvPr/>
          </p:nvSpPr>
          <p:spPr>
            <a:xfrm>
              <a:off x="914400" y="5202936"/>
              <a:ext cx="1531392" cy="2834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B1655C3-48C1-4614-22AA-17CB86C82378}"/>
              </a:ext>
            </a:extLst>
          </p:cNvPr>
          <p:cNvGrpSpPr/>
          <p:nvPr/>
        </p:nvGrpSpPr>
        <p:grpSpPr>
          <a:xfrm>
            <a:off x="3173343" y="1801367"/>
            <a:ext cx="6572865" cy="5056633"/>
            <a:chOff x="3173343" y="1801367"/>
            <a:chExt cx="6572865" cy="5056633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02C0F0D8-6139-7714-D87E-5EE934AEA129}"/>
                </a:ext>
              </a:extLst>
            </p:cNvPr>
            <p:cNvGrpSpPr/>
            <p:nvPr/>
          </p:nvGrpSpPr>
          <p:grpSpPr>
            <a:xfrm>
              <a:off x="3173343" y="1801367"/>
              <a:ext cx="6572865" cy="5056633"/>
              <a:chOff x="3173343" y="1801367"/>
              <a:chExt cx="6572865" cy="5056633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EF7D8889-827A-0B72-ADBA-0232E75E44A4}"/>
                  </a:ext>
                </a:extLst>
              </p:cNvPr>
              <p:cNvGrpSpPr/>
              <p:nvPr/>
            </p:nvGrpSpPr>
            <p:grpSpPr>
              <a:xfrm>
                <a:off x="3173343" y="1801367"/>
                <a:ext cx="6572865" cy="5056633"/>
                <a:chOff x="3173343" y="1801367"/>
                <a:chExt cx="6572865" cy="5056633"/>
              </a:xfrm>
            </p:grpSpPr>
            <p:pic>
              <p:nvPicPr>
                <p:cNvPr id="4" name="그림 3">
                  <a:extLst>
                    <a:ext uri="{FF2B5EF4-FFF2-40B4-BE49-F238E27FC236}">
                      <a16:creationId xmlns:a16="http://schemas.microsoft.com/office/drawing/2014/main" id="{662FC6BC-FD0F-1C03-15AF-2EF99A4A4F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73343" y="1801367"/>
                  <a:ext cx="6572865" cy="5056633"/>
                </a:xfrm>
                <a:prstGeom prst="rect">
                  <a:avLst/>
                </a:prstGeom>
              </p:spPr>
            </p:pic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7579FC7F-5E45-E536-665E-663F54F49A17}"/>
                    </a:ext>
                  </a:extLst>
                </p:cNvPr>
                <p:cNvSpPr/>
                <p:nvPr/>
              </p:nvSpPr>
              <p:spPr>
                <a:xfrm>
                  <a:off x="4059936" y="3584448"/>
                  <a:ext cx="2359152" cy="24688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88190B6-DC9E-BEB4-0EB0-D106C3F8D9B1}"/>
                  </a:ext>
                </a:extLst>
              </p:cNvPr>
              <p:cNvSpPr/>
              <p:nvPr/>
            </p:nvSpPr>
            <p:spPr>
              <a:xfrm>
                <a:off x="6096000" y="4972050"/>
                <a:ext cx="1950720" cy="28194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D53BD6D-8E05-8084-92D9-8EB6EA01B019}"/>
                </a:ext>
              </a:extLst>
            </p:cNvPr>
            <p:cNvSpPr/>
            <p:nvPr/>
          </p:nvSpPr>
          <p:spPr>
            <a:xfrm>
              <a:off x="6547104" y="3977640"/>
              <a:ext cx="438912" cy="2819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00285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B0330-83C4-FF08-7548-0A6BEF79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CreateBoardRequestDto </a:t>
            </a:r>
            <a:r>
              <a:rPr lang="ko-KR" altLang="en-US"/>
              <a:t>변경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53E459-F299-EA4D-4303-70FFD107F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93" y="1823749"/>
            <a:ext cx="5258534" cy="41249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AEF397-43D3-CD2F-F842-7C3CAE588E92}"/>
              </a:ext>
            </a:extLst>
          </p:cNvPr>
          <p:cNvSpPr txBox="1"/>
          <p:nvPr/>
        </p:nvSpPr>
        <p:spPr>
          <a:xfrm>
            <a:off x="5998464" y="1823749"/>
            <a:ext cx="5833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UserId</a:t>
            </a:r>
            <a:r>
              <a:rPr lang="ko-KR" altLang="en-US" sz="1600"/>
              <a:t>에 대한 정보는 </a:t>
            </a:r>
            <a:r>
              <a:rPr lang="en-US" altLang="ko-KR" sz="1600"/>
              <a:t>Request </a:t>
            </a:r>
            <a:r>
              <a:rPr lang="ko-KR" altLang="en-US" sz="1600"/>
              <a:t>요청 </a:t>
            </a:r>
            <a:r>
              <a:rPr lang="en-US" altLang="ko-KR" sz="1600"/>
              <a:t>Header</a:t>
            </a:r>
            <a:r>
              <a:rPr lang="ko-KR" altLang="en-US" sz="1600"/>
              <a:t>의 </a:t>
            </a:r>
            <a:br>
              <a:rPr lang="en-US" altLang="ko-KR" sz="1600"/>
            </a:br>
            <a:r>
              <a:rPr lang="en-US" altLang="ko-KR" sz="1600"/>
              <a:t>X-User-Id </a:t>
            </a:r>
            <a:r>
              <a:rPr lang="ko-KR" altLang="en-US" sz="1600"/>
              <a:t>로 부터 가져옴으로써</a:t>
            </a:r>
            <a:r>
              <a:rPr lang="en-US" altLang="ko-KR" sz="1600"/>
              <a:t>, CreateBoardRequestDto </a:t>
            </a:r>
            <a:r>
              <a:rPr lang="ko-KR" altLang="en-US" sz="1600"/>
              <a:t>내</a:t>
            </a:r>
            <a:br>
              <a:rPr lang="en-US" altLang="ko-KR" sz="1600"/>
            </a:br>
            <a:r>
              <a:rPr lang="en-US" altLang="ko-KR" sz="1600"/>
              <a:t>userId </a:t>
            </a:r>
            <a:r>
              <a:rPr lang="ko-KR" altLang="en-US" sz="1600"/>
              <a:t>에 대한 멤버변수와 </a:t>
            </a:r>
            <a:r>
              <a:rPr lang="en-US" altLang="ko-KR" sz="1600"/>
              <a:t>getter</a:t>
            </a:r>
            <a:r>
              <a:rPr lang="ko-KR" altLang="en-US" sz="1600"/>
              <a:t>함수 그리고 생성자 내 </a:t>
            </a:r>
            <a:r>
              <a:rPr lang="en-US" altLang="ko-KR" sz="1600"/>
              <a:t>userId</a:t>
            </a:r>
            <a:r>
              <a:rPr lang="ko-KR" altLang="en-US" sz="1600"/>
              <a:t>정보를 제거한다</a:t>
            </a:r>
            <a:r>
              <a:rPr lang="en-US" altLang="ko-KR" sz="1600"/>
              <a:t>.</a:t>
            </a:r>
            <a:r>
              <a:rPr lang="ko-KR" altLang="en-US" sz="16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1482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28505925-4A15-B37D-D10F-0ABEE0F7D30D}"/>
              </a:ext>
            </a:extLst>
          </p:cNvPr>
          <p:cNvGrpSpPr/>
          <p:nvPr/>
        </p:nvGrpSpPr>
        <p:grpSpPr>
          <a:xfrm>
            <a:off x="215372" y="1803310"/>
            <a:ext cx="11884624" cy="4213442"/>
            <a:chOff x="215372" y="1803310"/>
            <a:chExt cx="11884624" cy="421344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31817E8-A47B-968C-4447-B35F8AD6F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372" y="1803310"/>
              <a:ext cx="5404029" cy="421344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0A8F54C-D7E6-DDF0-E7BE-1CAFB4C40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0841" y="1803310"/>
              <a:ext cx="6389155" cy="4003130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ECE13EC-A5FC-60C4-9989-E9914FAE9C16}"/>
                </a:ext>
              </a:extLst>
            </p:cNvPr>
            <p:cNvSpPr/>
            <p:nvPr/>
          </p:nvSpPr>
          <p:spPr>
            <a:xfrm>
              <a:off x="4617720" y="1803310"/>
              <a:ext cx="850392" cy="25409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C139AAF-B0BA-8DF3-C87F-23296C5CA68D}"/>
                </a:ext>
              </a:extLst>
            </p:cNvPr>
            <p:cNvSpPr/>
            <p:nvPr/>
          </p:nvSpPr>
          <p:spPr>
            <a:xfrm>
              <a:off x="2767584" y="3147478"/>
              <a:ext cx="515112" cy="2083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D1E544D-665C-D581-D039-7F7D51C86D4C}"/>
                </a:ext>
              </a:extLst>
            </p:cNvPr>
            <p:cNvSpPr/>
            <p:nvPr/>
          </p:nvSpPr>
          <p:spPr>
            <a:xfrm>
              <a:off x="1548384" y="4351438"/>
              <a:ext cx="515112" cy="2083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8B4B551-AC1B-A787-0B42-05EEBF33C112}"/>
                </a:ext>
              </a:extLst>
            </p:cNvPr>
            <p:cNvSpPr/>
            <p:nvPr/>
          </p:nvSpPr>
          <p:spPr>
            <a:xfrm>
              <a:off x="8390306" y="4559808"/>
              <a:ext cx="470230" cy="1402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4E42812-2C17-EBD9-103A-4AB43B7C3035}"/>
                </a:ext>
              </a:extLst>
            </p:cNvPr>
            <p:cNvSpPr/>
            <p:nvPr/>
          </p:nvSpPr>
          <p:spPr>
            <a:xfrm>
              <a:off x="8444332" y="1987296"/>
              <a:ext cx="416204" cy="1402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E70858D-976B-3D46-5313-8B3BE985A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BoardService </a:t>
            </a:r>
            <a:r>
              <a:rPr lang="ko-KR" altLang="en-US"/>
              <a:t>변경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FF89A6B-5DAB-746D-8B1A-8D5A100FFF9C}"/>
              </a:ext>
            </a:extLst>
          </p:cNvPr>
          <p:cNvGrpSpPr/>
          <p:nvPr/>
        </p:nvGrpSpPr>
        <p:grpSpPr>
          <a:xfrm>
            <a:off x="10194184" y="3429000"/>
            <a:ext cx="1905812" cy="2788422"/>
            <a:chOff x="10194184" y="3429000"/>
            <a:chExt cx="1905812" cy="278842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A66DE18-6AF3-736E-0745-4B1C27463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94184" y="3429000"/>
              <a:ext cx="1905812" cy="278842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0033589-2349-A603-ACB7-F2F192822F7D}"/>
                </a:ext>
              </a:extLst>
            </p:cNvPr>
            <p:cNvSpPr/>
            <p:nvPr/>
          </p:nvSpPr>
          <p:spPr>
            <a:xfrm>
              <a:off x="10194184" y="6016752"/>
              <a:ext cx="1528424" cy="2006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F2A0E87-57A2-16E5-F63C-A55B7C00333F}"/>
              </a:ext>
            </a:extLst>
          </p:cNvPr>
          <p:cNvSpPr txBox="1"/>
          <p:nvPr/>
        </p:nvSpPr>
        <p:spPr>
          <a:xfrm>
            <a:off x="5710841" y="5806440"/>
            <a:ext cx="4483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createBoardRequestDto.getUserId() </a:t>
            </a:r>
            <a:r>
              <a:rPr lang="en-US" altLang="ko-KR" sz="1200">
                <a:sym typeface="Wingdings" panose="05000000000000000000" pitchFamily="2" charset="2"/>
              </a:rPr>
              <a:t> userId </a:t>
            </a:r>
            <a:r>
              <a:rPr lang="ko-KR" altLang="en-US" sz="1200">
                <a:sym typeface="Wingdings" panose="05000000000000000000" pitchFamily="2" charset="2"/>
              </a:rPr>
              <a:t>로 변경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785431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E1441-D9C8-5388-77CC-6D4BE28C8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Jwt</a:t>
            </a:r>
            <a:r>
              <a:rPr lang="ko-KR" altLang="en-US" sz="4000"/>
              <a:t> </a:t>
            </a:r>
            <a:r>
              <a:rPr lang="en-US" altLang="ko-KR" sz="4000"/>
              <a:t>header </a:t>
            </a:r>
            <a:r>
              <a:rPr lang="ko-KR" altLang="en-US" sz="4000"/>
              <a:t>추가 없이 게시글 작성 요청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0B6E89-D68D-7A9D-72D4-291E43A3E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6082"/>
            <a:ext cx="3210373" cy="225774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5291AE-61EF-87A6-643A-1DB1D88E9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006" y="1916082"/>
            <a:ext cx="3086531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87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EAFCF-EEAC-46B9-AD64-1FE0E38D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1AB63-D293-F947-3BAA-B817154FE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Jwt</a:t>
            </a:r>
            <a:r>
              <a:rPr lang="ko-KR" altLang="en-US" sz="4000"/>
              <a:t> </a:t>
            </a:r>
            <a:r>
              <a:rPr lang="en-US" altLang="ko-KR" sz="4000"/>
              <a:t>header </a:t>
            </a:r>
            <a:r>
              <a:rPr lang="ko-KR" altLang="en-US" sz="4000"/>
              <a:t>추가 후 게시글 작성 요청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43349D-F48F-8DEF-ED4C-2DB886568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6082"/>
            <a:ext cx="3210373" cy="225774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97001B4-CFFD-654A-E208-B4F852AC0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006" y="1916082"/>
            <a:ext cx="3086531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7727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317</TotalTime>
  <Words>873</Words>
  <Application>Microsoft Office PowerPoint</Application>
  <PresentationFormat>와이드스크린</PresentationFormat>
  <Paragraphs>141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Calibri</vt:lpstr>
      <vt:lpstr>Calibri Light</vt:lpstr>
      <vt:lpstr>Consolas</vt:lpstr>
      <vt:lpstr>Wingdings</vt:lpstr>
      <vt:lpstr>추억</vt:lpstr>
      <vt:lpstr>API Gateway JWT인증</vt:lpstr>
      <vt:lpstr>MSA에서 API Gateway에 인증로직을 추가해야하는 이유-1</vt:lpstr>
      <vt:lpstr>MSA에서 API Gateway에 인증로직을 추가해야하는 이유-2</vt:lpstr>
      <vt:lpstr>Jwt Token 의존성 추가</vt:lpstr>
      <vt:lpstr>Jwt 설정 추가 (application.yml)</vt:lpstr>
      <vt:lpstr>Login요청 DTO 작성(UserRequestDto)</vt:lpstr>
      <vt:lpstr>Login응답 DTO작성(UserResponseDto)</vt:lpstr>
      <vt:lpstr>Login을 위한 Url 추가 (UserController)</vt:lpstr>
      <vt:lpstr>Login 로직 추가 - UserService(의존성주입) </vt:lpstr>
      <vt:lpstr>Login 로직 추가 - UserService (로그인 로직)</vt:lpstr>
      <vt:lpstr>로그인 URL 결과확인</vt:lpstr>
      <vt:lpstr>Api Gateway 애플리케이션에 jwt의존성 추가</vt:lpstr>
      <vt:lpstr>application.yml 에 secret키 추가</vt:lpstr>
      <vt:lpstr>Jwt 인증 필터 작성</vt:lpstr>
      <vt:lpstr>Jwt인증이 필요한 서비스를 API GateWay에 등록</vt:lpstr>
      <vt:lpstr>BoardController 변경점</vt:lpstr>
      <vt:lpstr>CreateBoardRequestDto 변경</vt:lpstr>
      <vt:lpstr>BoardService 변경</vt:lpstr>
      <vt:lpstr>Jwt header 추가 없이 게시글 작성 요청</vt:lpstr>
      <vt:lpstr>Jwt header 추가 후 게시글 작성 요청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29</cp:revision>
  <dcterms:created xsi:type="dcterms:W3CDTF">2026-08-16T08:57:31Z</dcterms:created>
  <dcterms:modified xsi:type="dcterms:W3CDTF">2026-08-16T14:14:44Z</dcterms:modified>
</cp:coreProperties>
</file>