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8" r:id="rId12"/>
    <p:sldId id="270" r:id="rId13"/>
    <p:sldId id="272" r:id="rId14"/>
    <p:sldId id="269" r:id="rId15"/>
    <p:sldId id="274" r:id="rId16"/>
    <p:sldId id="276" r:id="rId17"/>
    <p:sldId id="271" r:id="rId18"/>
    <p:sldId id="277" r:id="rId19"/>
    <p:sldId id="282" r:id="rId20"/>
    <p:sldId id="278" r:id="rId21"/>
    <p:sldId id="279" r:id="rId22"/>
    <p:sldId id="280" r:id="rId23"/>
    <p:sldId id="283" r:id="rId24"/>
    <p:sldId id="284" r:id="rId25"/>
    <p:sldId id="281" r:id="rId26"/>
    <p:sldId id="285" r:id="rId27"/>
    <p:sldId id="286" r:id="rId28"/>
    <p:sldId id="287" r:id="rId29"/>
    <p:sldId id="288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320F6C1-278E-4D40-BA62-E9E9ACDC57ED}">
          <p14:sldIdLst>
            <p14:sldId id="256"/>
          </p14:sldIdLst>
        </p14:section>
        <p14:section name="구현할 기능 소개" id="{3DFF5194-3D81-47EA-9C21-E50DBF4E5CD6}">
          <p14:sldIdLst>
            <p14:sldId id="257"/>
            <p14:sldId id="258"/>
          </p14:sldIdLst>
        </p14:section>
        <p14:section name="서비스별 통신" id="{3E2F1927-3977-4A77-9A01-CEB97ECD519D}">
          <p14:sldIdLst>
            <p14:sldId id="259"/>
            <p14:sldId id="260"/>
          </p14:sldIdLst>
        </p14:section>
        <p14:section name="DB 생성하기" id="{21F8E9E0-E462-40A4-BFD6-A19FD79EC4BB}">
          <p14:sldIdLst>
            <p14:sldId id="261"/>
            <p14:sldId id="262"/>
            <p14:sldId id="263"/>
          </p14:sldIdLst>
        </p14:section>
        <p14:section name="User 애플리케이션 생성" id="{1E570B05-E24E-44B1-893B-27DA31C4C90E}">
          <p14:sldIdLst>
            <p14:sldId id="266"/>
            <p14:sldId id="267"/>
            <p14:sldId id="268"/>
            <p14:sldId id="270"/>
            <p14:sldId id="272"/>
            <p14:sldId id="269"/>
            <p14:sldId id="274"/>
            <p14:sldId id="276"/>
            <p14:sldId id="271"/>
            <p14:sldId id="277"/>
            <p14:sldId id="282"/>
          </p14:sldIdLst>
        </p14:section>
        <p14:section name="BoardService 애플리케이션 생성" id="{27A33E18-2094-46A5-A0AA-3D2F3AB0045F}">
          <p14:sldIdLst>
            <p14:sldId id="278"/>
            <p14:sldId id="279"/>
            <p14:sldId id="280"/>
            <p14:sldId id="283"/>
            <p14:sldId id="284"/>
            <p14:sldId id="281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8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1154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6288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8614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775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253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192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320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111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6325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6300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5720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92264F1-E0D5-4E17-8300-E9B2CF5D9953}" type="datetimeFigureOut">
              <a:rPr lang="ko-KR" altLang="en-US" smtClean="0"/>
              <a:t>2026-08-09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222C13BB-3C44-49F6-B482-F93E1B48CF18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490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://localhost:8080/users/sign-up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1/boards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C80C4B-F612-BDE2-71DD-0B2C5A95D7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6600"/>
              <a:t>마이크로 서비스 구축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A76E2B-E6D2-D206-822F-3C9F31559A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 sz="1800"/>
              <a:t>MSA</a:t>
            </a:r>
            <a:r>
              <a:rPr lang="ko-KR" altLang="en-US" sz="1800"/>
              <a:t>를 작게 구현하여 </a:t>
            </a:r>
            <a:r>
              <a:rPr lang="en-US" altLang="ko-KR" sz="1800"/>
              <a:t>MSA</a:t>
            </a:r>
            <a:r>
              <a:rPr lang="ko-KR" altLang="en-US" sz="1800"/>
              <a:t>의 개념을 익히기 위한 프로젝트를 구성한다</a:t>
            </a:r>
          </a:p>
        </p:txBody>
      </p:sp>
    </p:spTree>
    <p:extLst>
      <p:ext uri="{BB962C8B-B14F-4D97-AF65-F5344CB8AC3E}">
        <p14:creationId xmlns:p14="http://schemas.microsoft.com/office/powerpoint/2010/main" val="1979261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6C279D-6CCB-40D8-AF50-18DF6D3FA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회원 가입 기능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724DEF1-23EB-0447-10B0-894BED73D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466" y="1948478"/>
            <a:ext cx="7264022" cy="37984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5550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2E5F2E-0358-C48E-3C28-F5D103D3C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게시글 작성 기능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ADE279-8074-21A1-B33D-69642FD52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749" y="1819657"/>
            <a:ext cx="8864987" cy="467159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04945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CE3579-CABA-1E72-1B96-5296AD5CC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서비스 별 </a:t>
            </a:r>
            <a:r>
              <a:rPr lang="en-US" altLang="ko-KR"/>
              <a:t>API </a:t>
            </a:r>
            <a:r>
              <a:rPr lang="ko-KR" altLang="en-US"/>
              <a:t>및 </a:t>
            </a:r>
            <a:r>
              <a:rPr lang="en-US" altLang="ko-KR"/>
              <a:t>DB</a:t>
            </a:r>
            <a:r>
              <a:rPr lang="ko-KR" altLang="en-US"/>
              <a:t>구성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368550E-975D-B2DF-94B3-0037A8E93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4711" y="1907112"/>
            <a:ext cx="5798665" cy="47497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89012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B9150E-FA45-F642-1D39-80ADBE34F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MSA</a:t>
            </a:r>
            <a:r>
              <a:rPr lang="ko-KR" altLang="en-US"/>
              <a:t> 서비스로 인한 </a:t>
            </a:r>
            <a:r>
              <a:rPr lang="en-US" altLang="ko-KR"/>
              <a:t>DB </a:t>
            </a:r>
            <a:r>
              <a:rPr lang="ko-KR" altLang="en-US"/>
              <a:t>환경 변화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760B4A5-84AC-48BC-AD68-1B9B243C2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59" y="1884110"/>
            <a:ext cx="5252677" cy="4146392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18339935-C4F9-2F0C-006A-62D02A8792DE}"/>
              </a:ext>
            </a:extLst>
          </p:cNvPr>
          <p:cNvGrpSpPr/>
          <p:nvPr/>
        </p:nvGrpSpPr>
        <p:grpSpPr>
          <a:xfrm>
            <a:off x="5674132" y="2816352"/>
            <a:ext cx="6370725" cy="3474720"/>
            <a:chOff x="5674132" y="2816352"/>
            <a:chExt cx="6370725" cy="3474720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45C7CC39-DF0F-84B5-9DB3-7051ADBCFF9B}"/>
                </a:ext>
              </a:extLst>
            </p:cNvPr>
            <p:cNvGrpSpPr/>
            <p:nvPr/>
          </p:nvGrpSpPr>
          <p:grpSpPr>
            <a:xfrm>
              <a:off x="5674132" y="2816352"/>
              <a:ext cx="6370725" cy="3474720"/>
              <a:chOff x="5674132" y="2816352"/>
              <a:chExt cx="6370725" cy="3474720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6831980D-D3F5-6B50-F8DC-A23D55DAB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b="8339"/>
              <a:stretch>
                <a:fillRect/>
              </a:stretch>
            </p:blipFill>
            <p:spPr>
              <a:xfrm>
                <a:off x="5674132" y="2816352"/>
                <a:ext cx="6370725" cy="3474720"/>
              </a:xfrm>
              <a:prstGeom prst="rect">
                <a:avLst/>
              </a:prstGeom>
            </p:spPr>
          </p:pic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2864402-2B9D-6F75-DDD3-0C6B42FC32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8040" y="5193792"/>
                <a:ext cx="1453896" cy="0"/>
              </a:xfrm>
              <a:prstGeom prst="line">
                <a:avLst/>
              </a:prstGeom>
              <a:ln w="1905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8D101C7F-ED76-7206-D097-49C318E6B158}"/>
                </a:ext>
              </a:extLst>
            </p:cNvPr>
            <p:cNvCxnSpPr>
              <a:cxnSpLocks/>
            </p:cNvCxnSpPr>
            <p:nvPr/>
          </p:nvCxnSpPr>
          <p:spPr>
            <a:xfrm>
              <a:off x="5989320" y="5897880"/>
              <a:ext cx="389534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8480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75B7A-3D0F-6AFB-60A6-4EBC21BB0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Docker DB </a:t>
            </a:r>
            <a:r>
              <a:rPr lang="ko-KR" altLang="en-US"/>
              <a:t>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CFBFE96-B015-A12A-58FD-2FAC92D9E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79803"/>
            <a:ext cx="6430272" cy="905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5DED9-94DD-BAF0-BFC1-15D3EC7C93BA}"/>
              </a:ext>
            </a:extLst>
          </p:cNvPr>
          <p:cNvSpPr txBox="1"/>
          <p:nvPr/>
        </p:nvSpPr>
        <p:spPr>
          <a:xfrm>
            <a:off x="1097280" y="3099816"/>
            <a:ext cx="10543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docker run --name msa_db1 -e MYSQL_ROOT_PASSWORD=password -p 3320:3306 -d mysql</a:t>
            </a:r>
            <a:br>
              <a:rPr lang="en-US" altLang="ko-KR"/>
            </a:br>
            <a:r>
              <a:rPr lang="en-US" altLang="ko-KR"/>
              <a:t>docker run --name msa_db2 -e MYSQL_ROOT_PASSWORD=password -p 3321:3306 -d mysql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9987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155B8-2A63-5994-EF2A-7D0B02F93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DB GUI Tool </a:t>
            </a:r>
            <a:r>
              <a:rPr lang="ko-KR" altLang="en-US"/>
              <a:t>셋팅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272A179-3FCA-3DE0-B1F7-6C8FAF70EDD7}"/>
              </a:ext>
            </a:extLst>
          </p:cNvPr>
          <p:cNvGrpSpPr/>
          <p:nvPr/>
        </p:nvGrpSpPr>
        <p:grpSpPr>
          <a:xfrm>
            <a:off x="1097280" y="1975104"/>
            <a:ext cx="7516274" cy="1819529"/>
            <a:chOff x="1097280" y="1737360"/>
            <a:chExt cx="7516274" cy="181952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47ACA4C-9204-700D-1303-89E31AC0A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737360"/>
              <a:ext cx="7516274" cy="1819529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22E1CE9-4FE2-AB2D-B696-7290C6C3BCFF}"/>
                </a:ext>
              </a:extLst>
            </p:cNvPr>
            <p:cNvSpPr/>
            <p:nvPr/>
          </p:nvSpPr>
          <p:spPr>
            <a:xfrm>
              <a:off x="3547872" y="2313432"/>
              <a:ext cx="4809744" cy="10515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FB018C9-1403-D7DD-7AFC-46E7023E5DA1}"/>
              </a:ext>
            </a:extLst>
          </p:cNvPr>
          <p:cNvSpPr txBox="1"/>
          <p:nvPr/>
        </p:nvSpPr>
        <p:spPr>
          <a:xfrm>
            <a:off x="1225296" y="3721608"/>
            <a:ext cx="102412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username : root</a:t>
            </a:r>
          </a:p>
          <a:p>
            <a:r>
              <a:rPr lang="en-US" altLang="ko-KR"/>
              <a:t>password : password</a:t>
            </a:r>
          </a:p>
          <a:p>
            <a:r>
              <a:rPr lang="ko-KR" altLang="en-US"/>
              <a:t>포트 </a:t>
            </a:r>
            <a:r>
              <a:rPr lang="en-US" altLang="ko-KR"/>
              <a:t>: 3320 (User) / 3321(Board)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4521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93FE14-46AE-72DE-A50F-63FB8DC38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스키마 셋팅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43A2AD-64F1-7EF6-0502-75307CCEF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09165"/>
            <a:ext cx="1800476" cy="914528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4A9F7116-7841-369E-A8AC-9B70B32FA0C9}"/>
              </a:ext>
            </a:extLst>
          </p:cNvPr>
          <p:cNvGrpSpPr/>
          <p:nvPr/>
        </p:nvGrpSpPr>
        <p:grpSpPr>
          <a:xfrm>
            <a:off x="1200666" y="2777211"/>
            <a:ext cx="9955014" cy="1285290"/>
            <a:chOff x="1200666" y="2777211"/>
            <a:chExt cx="9955014" cy="128529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6789990A-DCF2-A62D-8877-5394ACD22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666" y="2795499"/>
              <a:ext cx="9955014" cy="1267002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7C5EEA7-42C7-7E0F-2F85-4D2600BF387A}"/>
                </a:ext>
              </a:extLst>
            </p:cNvPr>
            <p:cNvSpPr/>
            <p:nvPr/>
          </p:nvSpPr>
          <p:spPr>
            <a:xfrm>
              <a:off x="7159752" y="2777211"/>
              <a:ext cx="1847088" cy="2951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port:3320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03E16C-3FFD-5150-46DB-98905C70B898}"/>
              </a:ext>
            </a:extLst>
          </p:cNvPr>
          <p:cNvGrpSpPr/>
          <p:nvPr/>
        </p:nvGrpSpPr>
        <p:grpSpPr>
          <a:xfrm>
            <a:off x="1205429" y="4253242"/>
            <a:ext cx="9945488" cy="1220669"/>
            <a:chOff x="1205429" y="4253242"/>
            <a:chExt cx="9945488" cy="1220669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AC0A4F8-D9E3-8339-A3FD-C77310AED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5429" y="4273593"/>
              <a:ext cx="9945488" cy="1200318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CFDDC9A8-2537-0EED-98A9-8F94B9429F62}"/>
                </a:ext>
              </a:extLst>
            </p:cNvPr>
            <p:cNvSpPr/>
            <p:nvPr/>
          </p:nvSpPr>
          <p:spPr>
            <a:xfrm>
              <a:off x="7159752" y="4253242"/>
              <a:ext cx="1847088" cy="2951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port:3321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2209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71AC0-F4EC-7A4F-45AF-A75579712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 Service Application </a:t>
            </a:r>
            <a:r>
              <a:rPr lang="ko-KR" altLang="en-US"/>
              <a:t>생성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726B733-B087-4A2C-6BC3-73CAE72953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94131"/>
            <a:ext cx="10058400" cy="44088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24134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0B40F-4ABD-E930-92BD-DF330E2A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프로젝트 경로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69FC1C1-CF3A-09E2-65DD-119AB8ECFD0E}"/>
              </a:ext>
            </a:extLst>
          </p:cNvPr>
          <p:cNvGrpSpPr/>
          <p:nvPr/>
        </p:nvGrpSpPr>
        <p:grpSpPr>
          <a:xfrm>
            <a:off x="2235787" y="1772515"/>
            <a:ext cx="7720425" cy="4798882"/>
            <a:chOff x="2235787" y="1772515"/>
            <a:chExt cx="7720425" cy="479888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38DA21C-F818-05A1-7A02-4370C43D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5787" y="1772515"/>
              <a:ext cx="7720425" cy="4798882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A2B2745-A45C-ED7E-4484-DEC4DBFC4489}"/>
                </a:ext>
              </a:extLst>
            </p:cNvPr>
            <p:cNvSpPr/>
            <p:nvPr/>
          </p:nvSpPr>
          <p:spPr>
            <a:xfrm>
              <a:off x="4114800" y="2404872"/>
              <a:ext cx="1981200" cy="2743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5076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ACE41-974E-FA83-303F-1F54DEB9B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설정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FCFFEDFD-8EFA-C8A2-61C2-B85F44C5810B}"/>
              </a:ext>
            </a:extLst>
          </p:cNvPr>
          <p:cNvGrpSpPr/>
          <p:nvPr/>
        </p:nvGrpSpPr>
        <p:grpSpPr>
          <a:xfrm>
            <a:off x="581594" y="1903496"/>
            <a:ext cx="2762636" cy="4667901"/>
            <a:chOff x="581594" y="1903496"/>
            <a:chExt cx="2762636" cy="4667901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F60DB99A-7450-AC2D-BEB5-FD4FC064C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594" y="1903496"/>
              <a:ext cx="2762636" cy="4667901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D8AE23C8-C7CB-71ED-4889-CE17CDF96F66}"/>
                </a:ext>
              </a:extLst>
            </p:cNvPr>
            <p:cNvSpPr/>
            <p:nvPr/>
          </p:nvSpPr>
          <p:spPr>
            <a:xfrm>
              <a:off x="886968" y="4626864"/>
              <a:ext cx="1133856" cy="25603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199C33-1D42-BA58-DE40-13746B1519FA}"/>
              </a:ext>
            </a:extLst>
          </p:cNvPr>
          <p:cNvSpPr txBox="1"/>
          <p:nvPr/>
        </p:nvSpPr>
        <p:spPr>
          <a:xfrm>
            <a:off x="3513582" y="1903496"/>
            <a:ext cx="6094476" cy="38770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8080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datasource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jdbc:mysql://localhost:3320/user-db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root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password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driver-class-name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com.mysql.cj.jdbc.Driver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jpa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hibernate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ddl-auto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update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show-sql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application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user-service</a:t>
            </a: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9234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E6F72-6FD0-1A71-7258-9E55D206B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49AAB7-0870-15E2-B3F8-38BE19719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UserService </a:t>
            </a:r>
            <a:r>
              <a:rPr lang="ko-KR" altLang="en-US"/>
              <a:t>작성하기</a:t>
            </a:r>
            <a:r>
              <a:rPr lang="en-US" altLang="ko-KR"/>
              <a:t>[Entity</a:t>
            </a:r>
            <a:r>
              <a:rPr lang="ko-KR" altLang="en-US"/>
              <a:t>작성</a:t>
            </a:r>
            <a:r>
              <a:rPr lang="en-US" altLang="ko-KR"/>
              <a:t>]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13C9FCA-7E2D-BA71-42A1-B5ACB2CB28F6}"/>
              </a:ext>
            </a:extLst>
          </p:cNvPr>
          <p:cNvGrpSpPr/>
          <p:nvPr/>
        </p:nvGrpSpPr>
        <p:grpSpPr>
          <a:xfrm>
            <a:off x="352341" y="1828647"/>
            <a:ext cx="2966931" cy="4992777"/>
            <a:chOff x="352341" y="1828647"/>
            <a:chExt cx="2966931" cy="49927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978F734-F421-B659-18F5-15DB6D6BB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2341" y="1828647"/>
              <a:ext cx="2966931" cy="499277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070EFA32-1247-3C0C-EF06-A8CBEE810C4E}"/>
                </a:ext>
              </a:extLst>
            </p:cNvPr>
            <p:cNvSpPr/>
            <p:nvPr/>
          </p:nvSpPr>
          <p:spPr>
            <a:xfrm>
              <a:off x="576072" y="3913632"/>
              <a:ext cx="1042416" cy="33832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34668CE-EE67-F976-1099-B8EE98BF2D66}"/>
              </a:ext>
            </a:extLst>
          </p:cNvPr>
          <p:cNvSpPr txBox="1"/>
          <p:nvPr/>
        </p:nvSpPr>
        <p:spPr>
          <a:xfrm>
            <a:off x="7548061" y="1828647"/>
            <a:ext cx="389534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/>
              <a:t>User Entity </a:t>
            </a:r>
            <a:r>
              <a:rPr lang="ko-KR" altLang="en-US" sz="1400"/>
              <a:t>작성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JPA</a:t>
            </a:r>
            <a:r>
              <a:rPr lang="ko-KR" altLang="en-US" sz="1400"/>
              <a:t>학습 때 말했듯 </a:t>
            </a:r>
            <a:r>
              <a:rPr lang="en-US" altLang="ko-KR" sz="1400"/>
              <a:t>Entity</a:t>
            </a:r>
            <a:r>
              <a:rPr lang="ko-KR" altLang="en-US" sz="1400"/>
              <a:t>에 </a:t>
            </a:r>
            <a:br>
              <a:rPr lang="en-US" altLang="ko-KR" sz="1400"/>
            </a:br>
            <a:r>
              <a:rPr lang="en-US" altLang="ko-KR" sz="1400"/>
              <a:t>setter</a:t>
            </a:r>
            <a:r>
              <a:rPr lang="ko-KR" altLang="en-US" sz="1400"/>
              <a:t>는 만들지 않는다</a:t>
            </a:r>
            <a:r>
              <a:rPr lang="en-US" altLang="ko-KR" sz="140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/>
              <a:t>변경되는 정보들만 비지니스 메소드</a:t>
            </a:r>
            <a:r>
              <a:rPr lang="en-US" altLang="ko-KR" sz="1400"/>
              <a:t>(setter</a:t>
            </a:r>
            <a:r>
              <a:rPr lang="ko-KR" altLang="en-US" sz="1400"/>
              <a:t>에 해당</a:t>
            </a:r>
            <a:r>
              <a:rPr lang="en-US" altLang="ko-KR" sz="1400"/>
              <a:t>)</a:t>
            </a:r>
            <a:r>
              <a:rPr lang="ko-KR" altLang="en-US" sz="1400"/>
              <a:t>를 작성한다</a:t>
            </a:r>
            <a:r>
              <a:rPr lang="en-US" altLang="ko-KR" sz="1400"/>
              <a:t>.</a:t>
            </a:r>
          </a:p>
          <a:p>
            <a:pPr marL="342900" indent="-342900">
              <a:buAutoNum type="arabicPeriod"/>
            </a:pPr>
            <a:endParaRPr lang="ko-KR" altLang="en-US" sz="14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76F37AE-91A9-D1F1-E7FD-331094F84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5" y="1828647"/>
            <a:ext cx="3936183" cy="499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13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499C3-2B79-6E77-32EB-A1B463B6E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036A75-86FE-61F1-D818-A696ADE8A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UserService </a:t>
            </a:r>
            <a:r>
              <a:rPr lang="ko-KR" altLang="en-US"/>
              <a:t>작성하기</a:t>
            </a:r>
            <a:r>
              <a:rPr lang="en-US" altLang="ko-KR"/>
              <a:t>[Dto </a:t>
            </a:r>
            <a:r>
              <a:rPr lang="ko-KR" altLang="en-US"/>
              <a:t>작성</a:t>
            </a:r>
            <a:r>
              <a:rPr lang="en-US" altLang="ko-KR"/>
              <a:t>]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ECB5B0E7-CE2D-321B-6727-3808938F058F}"/>
              </a:ext>
            </a:extLst>
          </p:cNvPr>
          <p:cNvGrpSpPr/>
          <p:nvPr/>
        </p:nvGrpSpPr>
        <p:grpSpPr>
          <a:xfrm>
            <a:off x="352341" y="1828647"/>
            <a:ext cx="2966931" cy="4992777"/>
            <a:chOff x="352341" y="1828647"/>
            <a:chExt cx="2966931" cy="49927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CBBDD3B-E0FC-2C71-FE22-D3BEA7C12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2341" y="1828647"/>
              <a:ext cx="2966931" cy="499277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340DB1D-1F0F-1B3A-8D2E-EB758F0C16C6}"/>
                </a:ext>
              </a:extLst>
            </p:cNvPr>
            <p:cNvSpPr/>
            <p:nvPr/>
          </p:nvSpPr>
          <p:spPr>
            <a:xfrm>
              <a:off x="576072" y="4251960"/>
              <a:ext cx="1252728" cy="33832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82EBD4A-2B5C-F935-8838-347A56E675D0}"/>
              </a:ext>
            </a:extLst>
          </p:cNvPr>
          <p:cNvSpPr txBox="1"/>
          <p:nvPr/>
        </p:nvSpPr>
        <p:spPr>
          <a:xfrm>
            <a:off x="8239511" y="1828647"/>
            <a:ext cx="389534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/>
              <a:t>회원가입시 프론트에서 전달받을 </a:t>
            </a:r>
            <a:r>
              <a:rPr lang="en-US" altLang="ko-KR" sz="1400"/>
              <a:t>SignUpRequestDto </a:t>
            </a:r>
            <a:r>
              <a:rPr lang="ko-KR" altLang="en-US" sz="1400"/>
              <a:t>작성</a:t>
            </a:r>
            <a:r>
              <a:rPr lang="en-US" altLang="ko-KR" sz="1400"/>
              <a:t>.</a:t>
            </a:r>
          </a:p>
          <a:p>
            <a:pPr marL="342900" indent="-342900">
              <a:buAutoNum type="arabicPeriod"/>
            </a:pPr>
            <a:r>
              <a:rPr lang="ko-KR" altLang="en-US" sz="1400"/>
              <a:t>이메일</a:t>
            </a:r>
            <a:r>
              <a:rPr lang="en-US" altLang="ko-KR" sz="1400"/>
              <a:t>, </a:t>
            </a:r>
            <a:r>
              <a:rPr lang="ko-KR" altLang="en-US" sz="1400"/>
              <a:t>이름 </a:t>
            </a:r>
            <a:r>
              <a:rPr lang="en-US" altLang="ko-KR" sz="1400"/>
              <a:t>, </a:t>
            </a:r>
            <a:r>
              <a:rPr lang="ko-KR" altLang="en-US" sz="1400"/>
              <a:t>패스워드에 대한 생성자와</a:t>
            </a:r>
            <a:br>
              <a:rPr lang="en-US" altLang="ko-KR" sz="1400"/>
            </a:br>
            <a:r>
              <a:rPr lang="en-US" altLang="ko-KR" sz="1400"/>
              <a:t>Getter </a:t>
            </a:r>
            <a:r>
              <a:rPr lang="ko-KR" altLang="en-US" sz="1400"/>
              <a:t>메소드를 작성한다</a:t>
            </a:r>
            <a:r>
              <a:rPr lang="en-US" altLang="ko-KR" sz="1400"/>
              <a:t>.</a:t>
            </a:r>
          </a:p>
          <a:p>
            <a:r>
              <a:rPr lang="ko-KR" altLang="en-US" sz="1400"/>
              <a:t> </a:t>
            </a:r>
            <a:endParaRPr lang="en-US" altLang="ko-KR" sz="1400"/>
          </a:p>
          <a:p>
            <a:pPr marL="342900" indent="-342900">
              <a:buAutoNum type="arabicPeriod"/>
            </a:pPr>
            <a:endParaRPr lang="ko-KR" altLang="en-US" sz="140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238C447-B3A1-CBA1-0C33-412506E22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419" y="1828647"/>
            <a:ext cx="4673945" cy="403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1821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9B5C86-E17F-9366-6BC6-C5A739B8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UserService </a:t>
            </a:r>
            <a:r>
              <a:rPr lang="ko-KR" altLang="en-US"/>
              <a:t>작성하기</a:t>
            </a:r>
            <a:r>
              <a:rPr lang="en-US" altLang="ko-KR"/>
              <a:t>[Controller]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27D6487B-A533-F9F7-A197-CE4E14BF6180}"/>
              </a:ext>
            </a:extLst>
          </p:cNvPr>
          <p:cNvGrpSpPr/>
          <p:nvPr/>
        </p:nvGrpSpPr>
        <p:grpSpPr>
          <a:xfrm>
            <a:off x="352341" y="1828647"/>
            <a:ext cx="2966931" cy="4992777"/>
            <a:chOff x="352341" y="1828647"/>
            <a:chExt cx="2966931" cy="49927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011AEB3-F327-B8B0-3D50-78F4603CD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2341" y="1828647"/>
              <a:ext cx="2966931" cy="499277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BA9BADA-48E0-515A-2A99-BB4B6ECDFAB1}"/>
                </a:ext>
              </a:extLst>
            </p:cNvPr>
            <p:cNvSpPr/>
            <p:nvPr/>
          </p:nvSpPr>
          <p:spPr>
            <a:xfrm>
              <a:off x="594360" y="3611880"/>
              <a:ext cx="1042416" cy="33832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4C479CC9-576E-3BC2-8B6B-105821116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432" y="1828647"/>
            <a:ext cx="4620270" cy="33342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53DC1A8-7BDD-EF36-BE58-E591074371A7}"/>
              </a:ext>
            </a:extLst>
          </p:cNvPr>
          <p:cNvSpPr txBox="1"/>
          <p:nvPr/>
        </p:nvSpPr>
        <p:spPr>
          <a:xfrm>
            <a:off x="8165592" y="1828647"/>
            <a:ext cx="38953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sz="1400"/>
              <a:t>회원등록 </a:t>
            </a:r>
            <a:r>
              <a:rPr lang="en-US" altLang="ko-KR" sz="1400"/>
              <a:t>API </a:t>
            </a:r>
            <a:r>
              <a:rPr lang="ko-KR" altLang="en-US" sz="1400"/>
              <a:t>작성</a:t>
            </a:r>
            <a:br>
              <a:rPr lang="en-US" altLang="ko-KR" sz="1400"/>
            </a:br>
            <a:r>
              <a:rPr lang="en-US" altLang="ko-KR" sz="1400"/>
              <a:t>(POST - </a:t>
            </a:r>
            <a:r>
              <a:rPr lang="en-US" altLang="ko-KR" sz="1400">
                <a:hlinkClick r:id="rId4"/>
              </a:rPr>
              <a:t>http://localhost:8080/users/sign-up</a:t>
            </a:r>
            <a:r>
              <a:rPr lang="en-US" altLang="ko-KR" sz="1400"/>
              <a:t>)</a:t>
            </a:r>
          </a:p>
          <a:p>
            <a:pPr marL="342900" indent="-342900">
              <a:buAutoNum type="arabicPeriod"/>
            </a:pP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912330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15903-6279-FAF9-594B-C08439005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7215C-91D1-E4E2-201F-A3CC75D50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UserService </a:t>
            </a:r>
            <a:r>
              <a:rPr lang="ko-KR" altLang="en-US"/>
              <a:t>작성하기</a:t>
            </a:r>
            <a:r>
              <a:rPr lang="en-US" altLang="ko-KR"/>
              <a:t>[Service]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76F0878-A1D1-EFB1-0D2B-DE5D542FF35E}"/>
              </a:ext>
            </a:extLst>
          </p:cNvPr>
          <p:cNvGrpSpPr/>
          <p:nvPr/>
        </p:nvGrpSpPr>
        <p:grpSpPr>
          <a:xfrm>
            <a:off x="352341" y="1828647"/>
            <a:ext cx="2966931" cy="4992777"/>
            <a:chOff x="352341" y="1828647"/>
            <a:chExt cx="2966931" cy="49927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391E3E3-AD4F-055F-CB45-CA1D02E71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2341" y="1828647"/>
              <a:ext cx="2966931" cy="499277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7BC5C3C-10D0-9C5B-393E-A31A4B32CF07}"/>
                </a:ext>
              </a:extLst>
            </p:cNvPr>
            <p:cNvSpPr/>
            <p:nvPr/>
          </p:nvSpPr>
          <p:spPr>
            <a:xfrm>
              <a:off x="576072" y="4824534"/>
              <a:ext cx="1042416" cy="33832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9AE66AC-AE92-D5B1-8552-E18ADC4A6228}"/>
              </a:ext>
            </a:extLst>
          </p:cNvPr>
          <p:cNvSpPr txBox="1"/>
          <p:nvPr/>
        </p:nvSpPr>
        <p:spPr>
          <a:xfrm>
            <a:off x="8580120" y="1828647"/>
            <a:ext cx="34808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100"/>
              <a:t>UserRepository</a:t>
            </a:r>
            <a:r>
              <a:rPr lang="ko-KR" altLang="en-US" sz="1100"/>
              <a:t>는 </a:t>
            </a:r>
            <a:r>
              <a:rPr lang="en-US" altLang="ko-KR" sz="1100"/>
              <a:t>JpaRepository&lt;User,Long&gt; </a:t>
            </a:r>
            <a:r>
              <a:rPr lang="ko-KR" altLang="en-US" sz="1100"/>
              <a:t>을 상속받은 인터페이스</a:t>
            </a:r>
            <a:endParaRPr lang="en-US" altLang="ko-KR" sz="1100"/>
          </a:p>
          <a:p>
            <a:pPr marL="342900" indent="-342900">
              <a:buAutoNum type="arabicPeriod"/>
            </a:pPr>
            <a:r>
              <a:rPr lang="en-US" altLang="ko-KR" sz="1100"/>
              <a:t>signUpRequestDto</a:t>
            </a:r>
            <a:r>
              <a:rPr lang="ko-KR" altLang="en-US" sz="1100"/>
              <a:t>를 전달받아 </a:t>
            </a:r>
            <a:r>
              <a:rPr lang="en-US" altLang="ko-KR" sz="1100"/>
              <a:t>User</a:t>
            </a:r>
            <a:r>
              <a:rPr lang="ko-KR" altLang="en-US" sz="1100"/>
              <a:t>엔티티를 생성하고 </a:t>
            </a:r>
            <a:r>
              <a:rPr lang="en-US" altLang="ko-KR" sz="1100"/>
              <a:t>DB</a:t>
            </a:r>
            <a:r>
              <a:rPr lang="ko-KR" altLang="en-US" sz="1100"/>
              <a:t>저장하는 </a:t>
            </a:r>
            <a:r>
              <a:rPr lang="en-US" altLang="ko-KR" sz="1100"/>
              <a:t>signUp</a:t>
            </a:r>
            <a:r>
              <a:rPr lang="ko-KR" altLang="en-US" sz="1100"/>
              <a:t>메소드 작성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26E620-93EC-869F-6188-8482560CC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3003" y="1828647"/>
            <a:ext cx="4934639" cy="340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998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3F290-AAAE-43C9-9670-D3AAB46AB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262AFF-1B7F-336A-7FC1-C72966A44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UserService </a:t>
            </a:r>
            <a:r>
              <a:rPr lang="ko-KR" altLang="en-US"/>
              <a:t>작성하기</a:t>
            </a:r>
            <a:r>
              <a:rPr lang="en-US" altLang="ko-KR"/>
              <a:t>[Repository]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A6A1BBC-441D-20AD-885D-F5B4F8BF207E}"/>
              </a:ext>
            </a:extLst>
          </p:cNvPr>
          <p:cNvGrpSpPr/>
          <p:nvPr/>
        </p:nvGrpSpPr>
        <p:grpSpPr>
          <a:xfrm>
            <a:off x="352341" y="1828647"/>
            <a:ext cx="2966931" cy="4992777"/>
            <a:chOff x="352341" y="1828647"/>
            <a:chExt cx="2966931" cy="49927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E5E00463-8C37-4F6C-1879-9275DD930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52341" y="1828647"/>
              <a:ext cx="2966931" cy="4992777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7F87F60-0044-17E1-00EB-AB9B7FC8AA2A}"/>
                </a:ext>
              </a:extLst>
            </p:cNvPr>
            <p:cNvSpPr/>
            <p:nvPr/>
          </p:nvSpPr>
          <p:spPr>
            <a:xfrm>
              <a:off x="576072" y="4550214"/>
              <a:ext cx="1042416" cy="33832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B4DE9A9-61FD-D1A9-6F97-2229151EEF7B}"/>
              </a:ext>
            </a:extLst>
          </p:cNvPr>
          <p:cNvSpPr txBox="1"/>
          <p:nvPr/>
        </p:nvSpPr>
        <p:spPr>
          <a:xfrm>
            <a:off x="3428802" y="2786830"/>
            <a:ext cx="483737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100"/>
              <a:t>JpaRepository </a:t>
            </a:r>
            <a:r>
              <a:rPr lang="ko-KR" altLang="en-US" sz="1100"/>
              <a:t>기능을 상속받는 </a:t>
            </a:r>
            <a:r>
              <a:rPr lang="en-US" altLang="ko-KR" sz="1100"/>
              <a:t>UserRepository</a:t>
            </a:r>
            <a:r>
              <a:rPr lang="ko-KR" altLang="en-US" sz="1100"/>
              <a:t>인터페이스 작성</a:t>
            </a:r>
            <a:endParaRPr lang="en-US" altLang="ko-KR" sz="1100"/>
          </a:p>
          <a:p>
            <a:pPr marL="342900" indent="-342900">
              <a:buAutoNum type="arabicPeriod"/>
            </a:pPr>
            <a:r>
              <a:rPr lang="en-US" altLang="ko-KR" sz="1100"/>
              <a:t>DataJpa</a:t>
            </a:r>
            <a:r>
              <a:rPr lang="ko-KR" altLang="en-US" sz="1100"/>
              <a:t>는 </a:t>
            </a:r>
            <a:r>
              <a:rPr lang="en-US" altLang="ko-KR" sz="1100"/>
              <a:t>save() </a:t>
            </a:r>
            <a:r>
              <a:rPr lang="ko-KR" altLang="en-US" sz="1100"/>
              <a:t>메소드를 기본으로 제공하기에 </a:t>
            </a:r>
            <a:r>
              <a:rPr lang="en-US" altLang="ko-KR" sz="1100"/>
              <a:t>UserService</a:t>
            </a:r>
            <a:r>
              <a:rPr lang="ko-KR" altLang="en-US" sz="1100"/>
              <a:t>에서 </a:t>
            </a:r>
            <a:br>
              <a:rPr lang="en-US" altLang="ko-KR" sz="1100"/>
            </a:br>
            <a:r>
              <a:rPr lang="en-US" altLang="ko-KR" sz="1100"/>
              <a:t>save</a:t>
            </a:r>
            <a:r>
              <a:rPr lang="ko-KR" altLang="en-US" sz="1100"/>
              <a:t>메소드를 통한 데이터 저장이 가능하다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78C8067-A9A7-8CF0-5129-343AA87CD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803" y="1828647"/>
            <a:ext cx="5553850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4529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560182-4636-37C8-6F37-4EF254757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PostMan </a:t>
            </a:r>
            <a:r>
              <a:rPr lang="ko-KR" altLang="en-US"/>
              <a:t>테스트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BF75739-073B-D5C9-7BEE-7CB4BCC7E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4864443"/>
            <a:ext cx="11699234" cy="139479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26A47CC-E7CD-2528-EE8A-276BECA6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058" y="4623885"/>
            <a:ext cx="4496427" cy="1743318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80C22718-351C-92C2-2858-7ADB9366CCDF}"/>
              </a:ext>
            </a:extLst>
          </p:cNvPr>
          <p:cNvSpPr/>
          <p:nvPr/>
        </p:nvSpPr>
        <p:spPr>
          <a:xfrm>
            <a:off x="4690872" y="5589274"/>
            <a:ext cx="3163824" cy="226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50BFC56-5C9E-9A62-F790-0E8EEE6BF930}"/>
              </a:ext>
            </a:extLst>
          </p:cNvPr>
          <p:cNvSpPr/>
          <p:nvPr/>
        </p:nvSpPr>
        <p:spPr>
          <a:xfrm>
            <a:off x="8357616" y="4946740"/>
            <a:ext cx="1591056" cy="3750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49715FF-BBBE-F9F9-E821-FA925C5A9ADD}"/>
              </a:ext>
            </a:extLst>
          </p:cNvPr>
          <p:cNvCxnSpPr>
            <a:stCxn id="11" idx="3"/>
          </p:cNvCxnSpPr>
          <p:nvPr/>
        </p:nvCxnSpPr>
        <p:spPr>
          <a:xfrm flipV="1">
            <a:off x="7854696" y="5120640"/>
            <a:ext cx="502920" cy="5817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5EF522-F902-63C1-2CCC-E787538FE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63" y="1881890"/>
            <a:ext cx="11699234" cy="2655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9208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35EB1E-CF22-BAC3-74CF-942A54818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 DB </a:t>
            </a:r>
            <a:r>
              <a:rPr lang="ko-KR" altLang="en-US"/>
              <a:t>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77B97EF-02E2-FB8C-76F2-8A3B337D69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55308"/>
            <a:ext cx="5315692" cy="232442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8092EC6-F19F-526F-C241-CEFE55223F38}"/>
              </a:ext>
            </a:extLst>
          </p:cNvPr>
          <p:cNvSpPr/>
          <p:nvPr/>
        </p:nvSpPr>
        <p:spPr>
          <a:xfrm>
            <a:off x="7909560" y="427024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8519893-289A-9D5D-83F4-687255EE0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297680"/>
            <a:ext cx="3134162" cy="11145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648090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B3241-6641-96FE-8C43-7A090362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UserRepository </a:t>
            </a:r>
            <a:r>
              <a:rPr lang="ko-KR" altLang="en-US"/>
              <a:t>경로 변경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19262E9-CB8C-FB44-79B7-4FEE97E28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3617" y="1801367"/>
            <a:ext cx="2071695" cy="499153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6F952876-A9AD-87AE-BD83-77837BDF2288}"/>
              </a:ext>
            </a:extLst>
          </p:cNvPr>
          <p:cNvGrpSpPr/>
          <p:nvPr/>
        </p:nvGrpSpPr>
        <p:grpSpPr>
          <a:xfrm>
            <a:off x="708957" y="1801368"/>
            <a:ext cx="2966931" cy="4992777"/>
            <a:chOff x="352341" y="1828647"/>
            <a:chExt cx="2966931" cy="4992777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B5A8999-3A5D-D50F-2F07-56EF11F19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2341" y="1828647"/>
              <a:ext cx="2966931" cy="4992777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D8EB686-B4EE-9FAD-0A05-F3C5E1E3A79A}"/>
                </a:ext>
              </a:extLst>
            </p:cNvPr>
            <p:cNvSpPr/>
            <p:nvPr/>
          </p:nvSpPr>
          <p:spPr>
            <a:xfrm>
              <a:off x="576072" y="4550214"/>
              <a:ext cx="1042416" cy="33832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2122AA2E-54FF-B273-3528-0EA4505EA5E3}"/>
              </a:ext>
            </a:extLst>
          </p:cNvPr>
          <p:cNvSpPr/>
          <p:nvPr/>
        </p:nvSpPr>
        <p:spPr>
          <a:xfrm>
            <a:off x="4075176" y="3559766"/>
            <a:ext cx="1228344" cy="4727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918932-1876-F6DB-1972-50C2C1459233}"/>
              </a:ext>
            </a:extLst>
          </p:cNvPr>
          <p:cNvSpPr txBox="1"/>
          <p:nvPr/>
        </p:nvSpPr>
        <p:spPr>
          <a:xfrm>
            <a:off x="6096000" y="1801368"/>
            <a:ext cx="555345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Repository</a:t>
            </a:r>
            <a:r>
              <a:rPr lang="ko-KR" altLang="en-US" sz="1400"/>
              <a:t>를 </a:t>
            </a:r>
            <a:r>
              <a:rPr lang="en-US" altLang="ko-KR" sz="1400"/>
              <a:t>repository </a:t>
            </a:r>
            <a:r>
              <a:rPr lang="ko-KR" altLang="en-US" sz="1400"/>
              <a:t>폴더 하위에 관리하는것도 방법이지만</a:t>
            </a:r>
            <a:r>
              <a:rPr lang="en-US" altLang="ko-KR" sz="1400"/>
              <a:t>. repositor</a:t>
            </a:r>
            <a:r>
              <a:rPr lang="ko-KR" altLang="en-US" sz="1400"/>
              <a:t>는 </a:t>
            </a:r>
            <a:r>
              <a:rPr lang="en-US" altLang="ko-KR" sz="1400"/>
              <a:t>DB </a:t>
            </a:r>
            <a:r>
              <a:rPr lang="ko-KR" altLang="en-US" sz="1400"/>
              <a:t>및 테이블에 가까운 계층임으로 </a:t>
            </a:r>
            <a:r>
              <a:rPr lang="en-US" altLang="ko-KR" sz="1400"/>
              <a:t>domain</a:t>
            </a:r>
            <a:r>
              <a:rPr lang="ko-KR" altLang="en-US" sz="1400"/>
              <a:t>에 넣기도 한다</a:t>
            </a:r>
            <a:r>
              <a:rPr lang="en-US" altLang="ko-KR" sz="1400"/>
              <a:t>.</a:t>
            </a:r>
            <a:br>
              <a:rPr lang="en-US" altLang="ko-KR" sz="1400"/>
            </a:br>
            <a:r>
              <a:rPr lang="en-US" altLang="ko-KR" sz="1400"/>
              <a:t>(</a:t>
            </a:r>
            <a:r>
              <a:rPr lang="ko-KR" altLang="en-US" sz="1400"/>
              <a:t>도메인 계층</a:t>
            </a:r>
            <a:r>
              <a:rPr lang="en-US" altLang="ko-KR" sz="1400"/>
              <a:t>)</a:t>
            </a:r>
            <a:endParaRPr lang="ko-KR" altLang="en-US" sz="140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550D33A-EEA2-40EF-5C72-5DD1C7415BFE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1975104" y="3796135"/>
            <a:ext cx="2100072" cy="89596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19510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E5FC7-AA83-06B1-E243-50AD1784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BoardService </a:t>
            </a:r>
            <a:r>
              <a:rPr lang="ko-KR" altLang="en-US"/>
              <a:t>애플리케이션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91CF585-27CD-0BAB-C6DE-625C458938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60516"/>
            <a:ext cx="10058400" cy="43887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5CB63AD-C086-A4E0-F1F1-E28767A2E6A9}"/>
              </a:ext>
            </a:extLst>
          </p:cNvPr>
          <p:cNvSpPr txBox="1"/>
          <p:nvPr/>
        </p:nvSpPr>
        <p:spPr>
          <a:xfrm>
            <a:off x="5257800" y="1965960"/>
            <a:ext cx="2542032" cy="3749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https://start.spring.io/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7379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C3FDF-7CB0-D0BE-C199-622ABD1EC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프로젝트 경로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67284953-0040-405E-5910-19705506F638}"/>
              </a:ext>
            </a:extLst>
          </p:cNvPr>
          <p:cNvGrpSpPr/>
          <p:nvPr/>
        </p:nvGrpSpPr>
        <p:grpSpPr>
          <a:xfrm>
            <a:off x="1173484" y="1865376"/>
            <a:ext cx="8125959" cy="4093565"/>
            <a:chOff x="1219204" y="2039112"/>
            <a:chExt cx="8125959" cy="409356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32AF4A34-026A-0D1F-41D0-97874DF33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2116"/>
            <a:stretch>
              <a:fillRect/>
            </a:stretch>
          </p:blipFill>
          <p:spPr>
            <a:xfrm>
              <a:off x="1219204" y="2039112"/>
              <a:ext cx="8125959" cy="4093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A83C0C8-E82B-D2A1-9931-6337287C6D02}"/>
                </a:ext>
              </a:extLst>
            </p:cNvPr>
            <p:cNvSpPr/>
            <p:nvPr/>
          </p:nvSpPr>
          <p:spPr>
            <a:xfrm>
              <a:off x="4215384" y="4398264"/>
              <a:ext cx="1170432" cy="256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6BF957B-6B12-FAC0-844F-FFB0993869B4}"/>
              </a:ext>
            </a:extLst>
          </p:cNvPr>
          <p:cNvSpPr txBox="1"/>
          <p:nvPr/>
        </p:nvSpPr>
        <p:spPr>
          <a:xfrm>
            <a:off x="4169664" y="5129784"/>
            <a:ext cx="4087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다운로드 받은 압축파일을 </a:t>
            </a:r>
            <a:br>
              <a:rPr lang="en-US" altLang="ko-KR" sz="1400"/>
            </a:br>
            <a:r>
              <a:rPr lang="en-US" altLang="ko-KR" sz="1400"/>
              <a:t>MSA_learning </a:t>
            </a:r>
            <a:r>
              <a:rPr lang="ko-KR" altLang="en-US" sz="1400"/>
              <a:t>폴더에 압축풀기</a:t>
            </a:r>
          </a:p>
        </p:txBody>
      </p:sp>
    </p:spTree>
    <p:extLst>
      <p:ext uri="{BB962C8B-B14F-4D97-AF65-F5344CB8AC3E}">
        <p14:creationId xmlns:p14="http://schemas.microsoft.com/office/powerpoint/2010/main" val="25012169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E0EB1C-9338-AFD3-ABA2-9AC59DF61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application.yml </a:t>
            </a:r>
            <a:r>
              <a:rPr lang="ko-KR" altLang="en-US"/>
              <a:t>작성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6DDC062-E7E5-E66E-67A5-5A622B2D5D56}"/>
              </a:ext>
            </a:extLst>
          </p:cNvPr>
          <p:cNvGrpSpPr/>
          <p:nvPr/>
        </p:nvGrpSpPr>
        <p:grpSpPr>
          <a:xfrm>
            <a:off x="822960" y="1948532"/>
            <a:ext cx="2753109" cy="4058216"/>
            <a:chOff x="1097280" y="1948532"/>
            <a:chExt cx="2753109" cy="40582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51EE40E-B82B-4D75-3663-C88A36B6D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1948532"/>
              <a:ext cx="2753109" cy="4058216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8FF0FBD-2B69-A1A7-28AD-CC3D9AFFB4FC}"/>
                </a:ext>
              </a:extLst>
            </p:cNvPr>
            <p:cNvSpPr/>
            <p:nvPr/>
          </p:nvSpPr>
          <p:spPr>
            <a:xfrm>
              <a:off x="1289304" y="4123944"/>
              <a:ext cx="1207008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B8A2EEC-8B71-645B-E409-C6C000D6F4D3}"/>
              </a:ext>
            </a:extLst>
          </p:cNvPr>
          <p:cNvSpPr txBox="1"/>
          <p:nvPr/>
        </p:nvSpPr>
        <p:spPr>
          <a:xfrm>
            <a:off x="3897630" y="1948532"/>
            <a:ext cx="6094476" cy="38770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port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8081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spring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datasource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url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jdbc:mysql://localhost:3321/board-db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root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password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driver-class-name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com.mysql.cj.jdbc.Driver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jpa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hibernate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ddl-auto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update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show-sql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application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board-service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5506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A06A2-FEB0-F239-C2FF-945208C81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EC96E1-30AD-9E36-2387-5DDDA53C3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BoardService </a:t>
            </a:r>
            <a:r>
              <a:rPr lang="ko-KR" altLang="en-US"/>
              <a:t>작성하기</a:t>
            </a:r>
            <a:r>
              <a:rPr lang="en-US" altLang="ko-KR"/>
              <a:t>[Entity] 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50E29B0-2680-3246-61CF-BAAE89A34BDE}"/>
              </a:ext>
            </a:extLst>
          </p:cNvPr>
          <p:cNvGrpSpPr/>
          <p:nvPr/>
        </p:nvGrpSpPr>
        <p:grpSpPr>
          <a:xfrm>
            <a:off x="892108" y="1847088"/>
            <a:ext cx="2068891" cy="4938414"/>
            <a:chOff x="892108" y="1847088"/>
            <a:chExt cx="2068891" cy="49384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00861E6-99F2-BA19-98D2-210AA9DE38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2108" y="1847088"/>
              <a:ext cx="2068891" cy="493841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4FBA73A9-5578-2994-6225-1F59CBE1E465}"/>
                </a:ext>
              </a:extLst>
            </p:cNvPr>
            <p:cNvSpPr/>
            <p:nvPr/>
          </p:nvSpPr>
          <p:spPr>
            <a:xfrm>
              <a:off x="1097280" y="3630166"/>
              <a:ext cx="832104" cy="3200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E5A322B-2CCB-61F0-AFEB-DED9A5338048}"/>
              </a:ext>
            </a:extLst>
          </p:cNvPr>
          <p:cNvSpPr txBox="1"/>
          <p:nvPr/>
        </p:nvSpPr>
        <p:spPr>
          <a:xfrm>
            <a:off x="3048001" y="1750576"/>
            <a:ext cx="5172455" cy="510742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Entity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altLang="ko-KR" sz="1000">
                <a:solidFill>
                  <a:srgbClr val="BBBEBF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GeneratedValue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strategy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GenerationType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IDENTITY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MSA </a:t>
            </a:r>
            <a:r>
              <a:rPr lang="ko-KR" altLang="en-US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환경에서는 </a:t>
            </a:r>
            <a:r>
              <a:rPr lang="en-US" altLang="ko-KR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FK</a:t>
            </a:r>
            <a:r>
              <a:rPr lang="ko-KR" altLang="en-US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를 걸수가 없음</a:t>
            </a:r>
            <a:r>
              <a:rPr lang="en-US" altLang="ko-KR" sz="10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endParaRPr lang="en-US" altLang="ko-KR" sz="10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Board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getBoardId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boardId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getTitle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getContent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    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0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18145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FA4B8-B4FC-D43B-33BD-D6B5C5CAD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C37BC-69ED-A688-A6FF-C689B6A73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BoardService </a:t>
            </a:r>
            <a:r>
              <a:rPr lang="ko-KR" altLang="en-US"/>
              <a:t>작성하기</a:t>
            </a:r>
            <a:r>
              <a:rPr lang="en-US" altLang="ko-KR"/>
              <a:t>[DTO] 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59A3D9E-495B-EDB5-C430-D87DEB35F1E8}"/>
              </a:ext>
            </a:extLst>
          </p:cNvPr>
          <p:cNvGrpSpPr/>
          <p:nvPr/>
        </p:nvGrpSpPr>
        <p:grpSpPr>
          <a:xfrm>
            <a:off x="892108" y="1847088"/>
            <a:ext cx="2068891" cy="4938414"/>
            <a:chOff x="892108" y="1847088"/>
            <a:chExt cx="2068891" cy="49384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6877D6B-EAA6-5064-D220-A34A076A5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2108" y="1847088"/>
              <a:ext cx="2068891" cy="493841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98DD6DA-D319-A7FA-F1B9-8F9FC5EE858D}"/>
                </a:ext>
              </a:extLst>
            </p:cNvPr>
            <p:cNvSpPr/>
            <p:nvPr/>
          </p:nvSpPr>
          <p:spPr>
            <a:xfrm>
              <a:off x="1097280" y="4078225"/>
              <a:ext cx="1508760" cy="38608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EFE9DF5-5F37-6BB2-64BF-6A359381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71" y="1847088"/>
            <a:ext cx="6230219" cy="476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14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6D9EB1-27AB-5536-4E42-C4ABCC1EF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BoardService </a:t>
            </a:r>
            <a:r>
              <a:rPr lang="ko-KR" altLang="en-US"/>
              <a:t>작성하기</a:t>
            </a:r>
            <a:r>
              <a:rPr lang="en-US" altLang="ko-KR"/>
              <a:t>[Controller] 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AE1E3C2-30F1-BD62-BF3B-45901B2DDC1A}"/>
              </a:ext>
            </a:extLst>
          </p:cNvPr>
          <p:cNvGrpSpPr/>
          <p:nvPr/>
        </p:nvGrpSpPr>
        <p:grpSpPr>
          <a:xfrm>
            <a:off x="892108" y="1847088"/>
            <a:ext cx="2068891" cy="4938414"/>
            <a:chOff x="892108" y="1847088"/>
            <a:chExt cx="2068891" cy="49384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C8AE1C16-940D-962C-24EB-841855C80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2108" y="1847088"/>
              <a:ext cx="2068891" cy="493841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B59B0A5-0AC5-113C-FD97-FE0604D37A89}"/>
                </a:ext>
              </a:extLst>
            </p:cNvPr>
            <p:cNvSpPr/>
            <p:nvPr/>
          </p:nvSpPr>
          <p:spPr>
            <a:xfrm>
              <a:off x="1124712" y="3328416"/>
              <a:ext cx="1069848" cy="301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BD45C55E-2B17-EAA1-FBB1-6F82E70DEF37}"/>
              </a:ext>
            </a:extLst>
          </p:cNvPr>
          <p:cNvSpPr txBox="1"/>
          <p:nvPr/>
        </p:nvSpPr>
        <p:spPr>
          <a:xfrm>
            <a:off x="3079242" y="1878406"/>
            <a:ext cx="6094476" cy="35035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RestController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RequestMapping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"/boards"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BoardController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BoardController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PostMapping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createBoard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@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RequestBody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CreateBoardRequestDto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createBoardRequestDto</a:t>
            </a:r>
            <a:endParaRPr lang="en-US" altLang="ko-KR" sz="12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) {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boardService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create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createBoardRequestDto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ResponseEntity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noContent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build</a:t>
            </a: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E21D97-D1AC-7B2B-E8BB-2C1A26B565B8}"/>
              </a:ext>
            </a:extLst>
          </p:cNvPr>
          <p:cNvSpPr txBox="1"/>
          <p:nvPr/>
        </p:nvSpPr>
        <p:spPr>
          <a:xfrm>
            <a:off x="3079242" y="5541264"/>
            <a:ext cx="855192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1. createBoard </a:t>
            </a:r>
            <a:r>
              <a:rPr lang="ko-KR" altLang="en-US" sz="1400"/>
              <a:t>메소드의 </a:t>
            </a:r>
            <a:r>
              <a:rPr lang="en-US" altLang="ko-KR" sz="1400"/>
              <a:t>@PostMapping </a:t>
            </a:r>
            <a:r>
              <a:rPr lang="ko-KR" altLang="en-US" sz="1400"/>
              <a:t>주소가 언급되어있지 않다</a:t>
            </a:r>
            <a:r>
              <a:rPr lang="en-US" altLang="ko-KR" sz="1400"/>
              <a:t>. </a:t>
            </a:r>
            <a:br>
              <a:rPr lang="en-US" altLang="ko-KR" sz="1400"/>
            </a:br>
            <a:r>
              <a:rPr lang="en-US" altLang="ko-KR" sz="1400"/>
              <a:t>    </a:t>
            </a:r>
            <a:r>
              <a:rPr lang="en-US" altLang="ko-KR" sz="1400">
                <a:sym typeface="Wingdings" panose="05000000000000000000" pitchFamily="2" charset="2"/>
              </a:rPr>
              <a:t> </a:t>
            </a:r>
            <a:r>
              <a:rPr lang="en-US" altLang="ko-KR" sz="1400">
                <a:sym typeface="Wingdings" panose="05000000000000000000" pitchFamily="2" charset="2"/>
                <a:hlinkClick r:id="rId3"/>
              </a:rPr>
              <a:t>http://localhost:8081/boards</a:t>
            </a:r>
            <a:r>
              <a:rPr lang="en-US" altLang="ko-KR" sz="1400">
                <a:sym typeface="Wingdings" panose="05000000000000000000" pitchFamily="2" charset="2"/>
              </a:rPr>
              <a:t> </a:t>
            </a:r>
            <a:r>
              <a:rPr lang="ko-KR" altLang="en-US" sz="1400">
                <a:sym typeface="Wingdings" panose="05000000000000000000" pitchFamily="2" charset="2"/>
              </a:rPr>
              <a:t>가 </a:t>
            </a:r>
            <a:r>
              <a:rPr lang="en-US" altLang="ko-KR" sz="1400">
                <a:sym typeface="Wingdings" panose="05000000000000000000" pitchFamily="2" charset="2"/>
              </a:rPr>
              <a:t>createBoard</a:t>
            </a:r>
            <a:r>
              <a:rPr lang="ko-KR" altLang="en-US" sz="1400">
                <a:sym typeface="Wingdings" panose="05000000000000000000" pitchFamily="2" charset="2"/>
              </a:rPr>
              <a:t> 메소드의 주소이다</a:t>
            </a:r>
            <a:r>
              <a:rPr lang="en-US" altLang="ko-KR" sz="1400">
                <a:sym typeface="Wingdings" panose="05000000000000000000" pitchFamily="2" charset="2"/>
              </a:rPr>
              <a:t>.</a:t>
            </a:r>
            <a:endParaRPr lang="en-US" altLang="ko-KR" sz="1400"/>
          </a:p>
          <a:p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40541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91B9-005D-6EB3-B5B7-8387BCCD4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CC635A-C553-B5FE-5198-1139BDA94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BoardService </a:t>
            </a:r>
            <a:r>
              <a:rPr lang="ko-KR" altLang="en-US"/>
              <a:t>작성하기</a:t>
            </a:r>
            <a:r>
              <a:rPr lang="en-US" altLang="ko-KR"/>
              <a:t>[Service] 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38A990E-23F0-6F40-CED7-463259B4D3A1}"/>
              </a:ext>
            </a:extLst>
          </p:cNvPr>
          <p:cNvGrpSpPr/>
          <p:nvPr/>
        </p:nvGrpSpPr>
        <p:grpSpPr>
          <a:xfrm>
            <a:off x="892108" y="1847088"/>
            <a:ext cx="2068891" cy="4938414"/>
            <a:chOff x="892108" y="1847088"/>
            <a:chExt cx="2068891" cy="49384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1D78527-36A9-2646-8259-5F204E7D8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2108" y="1847088"/>
              <a:ext cx="2068891" cy="493841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701BBE8-6C37-48B1-5365-E43289F98BC2}"/>
                </a:ext>
              </a:extLst>
            </p:cNvPr>
            <p:cNvSpPr/>
            <p:nvPr/>
          </p:nvSpPr>
          <p:spPr>
            <a:xfrm>
              <a:off x="1097280" y="4434841"/>
              <a:ext cx="1005840" cy="29260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76AA898F-535D-86B9-391A-7D103241A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595" y="1847088"/>
            <a:ext cx="5572903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985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CB3B7-EDA9-4559-0AA7-D2A4B3E37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6FE85-E498-4CF1-A066-B5BD4B129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BoardService </a:t>
            </a:r>
            <a:r>
              <a:rPr lang="ko-KR" altLang="en-US"/>
              <a:t>작성하기</a:t>
            </a:r>
            <a:r>
              <a:rPr lang="en-US" altLang="ko-KR"/>
              <a:t>[Repository] 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D7A52557-5E57-C282-9A80-40BC07085334}"/>
              </a:ext>
            </a:extLst>
          </p:cNvPr>
          <p:cNvGrpSpPr/>
          <p:nvPr/>
        </p:nvGrpSpPr>
        <p:grpSpPr>
          <a:xfrm>
            <a:off x="892108" y="1847088"/>
            <a:ext cx="2068891" cy="4938414"/>
            <a:chOff x="892108" y="1847088"/>
            <a:chExt cx="2068891" cy="493841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AD06D028-EB5C-01C8-0211-C6F5E69B8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2108" y="1847088"/>
              <a:ext cx="2068891" cy="4938414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160AE330-CB9B-97D9-D18C-77807D0791BD}"/>
                </a:ext>
              </a:extLst>
            </p:cNvPr>
            <p:cNvSpPr/>
            <p:nvPr/>
          </p:nvSpPr>
          <p:spPr>
            <a:xfrm>
              <a:off x="1097280" y="3931920"/>
              <a:ext cx="1225296" cy="192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643E68C-9376-E6C1-A358-AD3929278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096" y="1847088"/>
            <a:ext cx="5658640" cy="647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0852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1A65E8-AA8B-1FFE-1F0B-438E32CB2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PostMan </a:t>
            </a:r>
            <a:r>
              <a:rPr lang="ko-KR" altLang="en-US"/>
              <a:t>테스트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77BD94B-B8C8-8AC2-7FCE-162E00984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41" y="1853890"/>
            <a:ext cx="2838846" cy="35342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726E171-CC15-5062-38E3-57598CA0F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478" y="1853890"/>
            <a:ext cx="7230484" cy="309605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C415BCA-644B-F9C3-297A-1D735CD47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478" y="5140473"/>
            <a:ext cx="7316221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18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D959F-D6F0-040A-34D0-8C93A831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60CD8-CC1F-A5F7-C8C0-BF205B497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Board DB </a:t>
            </a:r>
            <a:r>
              <a:rPr lang="ko-KR" altLang="en-US"/>
              <a:t>확인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A939A58-3DAB-E0FF-C6A6-0B08F303A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5120639"/>
            <a:ext cx="3134162" cy="111458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D79E252-6FED-4AFE-0B91-F8058B1970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59" y="1914313"/>
            <a:ext cx="3105583" cy="30293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BE23C49-7159-ADC9-00D7-21765EF65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032" y="1914313"/>
            <a:ext cx="2095792" cy="4286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72B40C9-9299-1509-E384-4F01A84421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2032" y="2429880"/>
            <a:ext cx="2210108" cy="9716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4815905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212</TotalTime>
  <Words>714</Words>
  <Application>Microsoft Office PowerPoint</Application>
  <PresentationFormat>와이드스크린</PresentationFormat>
  <Paragraphs>131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Consolas</vt:lpstr>
      <vt:lpstr>Wingdings</vt:lpstr>
      <vt:lpstr>추억</vt:lpstr>
      <vt:lpstr>마이크로 서비스 구축</vt:lpstr>
      <vt:lpstr>회원 가입 기능</vt:lpstr>
      <vt:lpstr>게시글 작성 기능</vt:lpstr>
      <vt:lpstr>서비스 별 API 및 DB구성</vt:lpstr>
      <vt:lpstr>MSA 서비스로 인한 DB 환경 변화</vt:lpstr>
      <vt:lpstr>Docker DB 생성</vt:lpstr>
      <vt:lpstr>DB GUI Tool 셋팅</vt:lpstr>
      <vt:lpstr>스키마 셋팅</vt:lpstr>
      <vt:lpstr>User Service Application 생성</vt:lpstr>
      <vt:lpstr>프로젝트 경로</vt:lpstr>
      <vt:lpstr>application.yml 설정</vt:lpstr>
      <vt:lpstr>UserService 작성하기[Entity작성]</vt:lpstr>
      <vt:lpstr>UserService 작성하기[Dto 작성]</vt:lpstr>
      <vt:lpstr>UserService 작성하기[Controller]</vt:lpstr>
      <vt:lpstr>UserService 작성하기[Service]</vt:lpstr>
      <vt:lpstr>UserService 작성하기[Repository]</vt:lpstr>
      <vt:lpstr>PostMan 테스트</vt:lpstr>
      <vt:lpstr>User DB 확인</vt:lpstr>
      <vt:lpstr>UserRepository 경로 변경</vt:lpstr>
      <vt:lpstr>BoardService 애플리케이션 생성</vt:lpstr>
      <vt:lpstr>프로젝트 경로</vt:lpstr>
      <vt:lpstr>application.yml 작성</vt:lpstr>
      <vt:lpstr>BoardService 작성하기[Entity] </vt:lpstr>
      <vt:lpstr>BoardService 작성하기[DTO] </vt:lpstr>
      <vt:lpstr>BoardService 작성하기[Controller] </vt:lpstr>
      <vt:lpstr>BoardService 작성하기[Service] </vt:lpstr>
      <vt:lpstr>BoardService 작성하기[Repository] </vt:lpstr>
      <vt:lpstr>PostMan 테스트</vt:lpstr>
      <vt:lpstr>Board DB 확인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39</cp:revision>
  <dcterms:created xsi:type="dcterms:W3CDTF">2026-08-09T06:36:13Z</dcterms:created>
  <dcterms:modified xsi:type="dcterms:W3CDTF">2026-08-09T10:12:59Z</dcterms:modified>
</cp:coreProperties>
</file>