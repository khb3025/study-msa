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70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8" r:id="rId30"/>
    <p:sldId id="286" r:id="rId31"/>
    <p:sldId id="285" r:id="rId32"/>
    <p:sldId id="28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E2255B9-FF4C-4628-A839-E267AB3B8793}">
          <p14:sldIdLst>
            <p14:sldId id="256"/>
          </p14:sldIdLst>
        </p14:section>
        <p14:section name="구현할 API" id="{A1F696A2-C529-4A2B-A118-410FEA7EBD4E}">
          <p14:sldIdLst>
            <p14:sldId id="262"/>
            <p14:sldId id="257"/>
            <p14:sldId id="258"/>
          </p14:sldIdLst>
        </p14:section>
        <p14:section name="MSA에 의한 DB FK 처리" id="{284B3404-38C2-44BB-8AA5-6EB15F4CDC6A}">
          <p14:sldIdLst>
            <p14:sldId id="259"/>
            <p14:sldId id="260"/>
          </p14:sldIdLst>
        </p14:section>
        <p14:section name="MSA 사용자 서비스 API 만들기" id="{34FEFEDD-7AED-47A0-81D4-4A9B2A57DF0C}">
          <p14:sldIdLst>
            <p14:sldId id="261"/>
            <p14:sldId id="263"/>
            <p14:sldId id="264"/>
            <p14:sldId id="265"/>
          </p14:sldIdLst>
        </p14:section>
        <p14:section name="MSA 게시글 서비스 API 만들기" id="{1178D11F-0D34-480D-980C-2E59246F5768}">
          <p14:sldIdLst>
            <p14:sldId id="270"/>
            <p14:sldId id="267"/>
            <p14:sldId id="268"/>
            <p14:sldId id="269"/>
            <p14:sldId id="271"/>
            <p14:sldId id="272"/>
            <p14:sldId id="273"/>
            <p14:sldId id="274"/>
          </p14:sldIdLst>
        </p14:section>
        <p14:section name="장애 전파 막기" id="{33F5B103-6A0B-45BD-B485-E07DC9E12EC4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회원 정보 리스트 조회 API" id="{2299C0B9-43B4-4183-B696-6A18A34DE164}">
          <p14:sldIdLst>
            <p14:sldId id="281"/>
            <p14:sldId id="282"/>
            <p14:sldId id="283"/>
          </p14:sldIdLst>
        </p14:section>
        <p14:section name="게시판 정보 리스트 조회API" id="{747E335F-B98B-4DCF-ADE9-2BAF2D20B324}">
          <p14:sldIdLst>
            <p14:sldId id="284"/>
            <p14:sldId id="288"/>
            <p14:sldId id="286"/>
            <p14:sldId id="285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403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46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623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520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45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2765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03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63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828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2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96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6BEBCB5-6317-4F19-8360-B3BBF86D4A9E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40D1798-A8AD-435E-9E4E-5765A621070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806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localhost:8081/boards/1" TargetMode="Externa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pring.io/spring-framework/reference/integration/rest-clients.htm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9093A-7D52-44B6-A98B-D76A9344B0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데이터 조회 </a:t>
            </a:r>
            <a:r>
              <a:rPr lang="en-US" altLang="ko-KR"/>
              <a:t>API </a:t>
            </a:r>
            <a:r>
              <a:rPr lang="ko-KR" altLang="en-US"/>
              <a:t>구현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19226BC-D3CF-9879-27AF-20C4BEBD62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마이크로 서비스간 </a:t>
            </a:r>
            <a:r>
              <a:rPr lang="en-US" altLang="ko-KR"/>
              <a:t>API </a:t>
            </a:r>
            <a:r>
              <a:rPr lang="ko-KR" altLang="en-US"/>
              <a:t>통신 구현</a:t>
            </a:r>
          </a:p>
        </p:txBody>
      </p:sp>
    </p:spTree>
    <p:extLst>
      <p:ext uri="{BB962C8B-B14F-4D97-AF65-F5344CB8AC3E}">
        <p14:creationId xmlns:p14="http://schemas.microsoft.com/office/powerpoint/2010/main" val="3919111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11F0C-D4A7-C5A7-9CF6-776C28DC6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사용자 조회 </a:t>
            </a:r>
            <a:r>
              <a:rPr lang="en-US" altLang="ko-KR"/>
              <a:t>API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5B3307-3878-CFE8-3153-67193BF72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50" y="2292798"/>
            <a:ext cx="1654178" cy="11362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8A9588-49A1-1D14-AB5F-03F5DAB643EF}"/>
              </a:ext>
            </a:extLst>
          </p:cNvPr>
          <p:cNvSpPr txBox="1"/>
          <p:nvPr/>
        </p:nvSpPr>
        <p:spPr>
          <a:xfrm>
            <a:off x="1198750" y="1847088"/>
            <a:ext cx="4964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http://localhost:8080/users/1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506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9EC6C7-92C1-4F31-3C13-90DE9C5F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조회 </a:t>
            </a:r>
            <a:r>
              <a:rPr lang="en-US" altLang="ko-KR"/>
              <a:t>API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8572A85-DC22-D75A-8CA5-CCBE77793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89632"/>
            <a:ext cx="5972808" cy="31310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5406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362C6-57A3-AF58-18B9-9E971D488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전체조회 </a:t>
            </a:r>
            <a:r>
              <a:rPr lang="en-US" altLang="ko-KR"/>
              <a:t>API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E8D053-D0B9-BEB4-4BA6-C3744CF7A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25542"/>
            <a:ext cx="5804861" cy="45209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81108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7C6C06-1F1A-E6A4-DC39-E8D412870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모놀리식 </a:t>
            </a:r>
            <a:r>
              <a:rPr lang="en-US" altLang="ko-KR"/>
              <a:t>FK </a:t>
            </a:r>
            <a:r>
              <a:rPr lang="ko-KR" altLang="en-US"/>
              <a:t>정보 처리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1B7807-4313-1BE8-8463-8BB253793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05514"/>
            <a:ext cx="3415014" cy="49610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7DD767-48A1-CE4E-4893-4B969C8C7A85}"/>
              </a:ext>
            </a:extLst>
          </p:cNvPr>
          <p:cNvSpPr txBox="1"/>
          <p:nvPr/>
        </p:nvSpPr>
        <p:spPr>
          <a:xfrm>
            <a:off x="4700016" y="1805514"/>
            <a:ext cx="6885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하나의 </a:t>
            </a:r>
            <a:r>
              <a:rPr lang="en-US" altLang="ko-KR"/>
              <a:t>DB</a:t>
            </a:r>
            <a:r>
              <a:rPr lang="ko-KR" altLang="en-US"/>
              <a:t>에 각각의 서비스에 대한 테이블이 존재함으로</a:t>
            </a:r>
            <a:r>
              <a:rPr lang="en-US" altLang="ko-KR"/>
              <a:t>.</a:t>
            </a:r>
          </a:p>
          <a:p>
            <a:r>
              <a:rPr lang="en-US" altLang="ko-KR"/>
              <a:t>Join </a:t>
            </a:r>
            <a:r>
              <a:rPr lang="ko-KR" altLang="en-US"/>
              <a:t>문에 의해 데이터를 조회해오기만 하면</a:t>
            </a:r>
            <a:r>
              <a:rPr lang="en-US" altLang="ko-KR"/>
              <a:t>, </a:t>
            </a:r>
            <a:r>
              <a:rPr lang="ko-KR" altLang="en-US"/>
              <a:t>관련된 정보를</a:t>
            </a:r>
            <a:br>
              <a:rPr lang="en-US" altLang="ko-KR"/>
            </a:br>
            <a:r>
              <a:rPr lang="ko-KR" altLang="en-US"/>
              <a:t>취득할 수 있었다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017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E3B6B-3D83-EF34-AA5E-D3AF44557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MSA FK </a:t>
            </a:r>
            <a:r>
              <a:rPr lang="ko-KR" altLang="en-US"/>
              <a:t>정보 처리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668D6-B566-6089-536A-CB3948107D99}"/>
              </a:ext>
            </a:extLst>
          </p:cNvPr>
          <p:cNvSpPr txBox="1"/>
          <p:nvPr/>
        </p:nvSpPr>
        <p:spPr>
          <a:xfrm>
            <a:off x="6096000" y="1853583"/>
            <a:ext cx="545287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각 서비스 별 독립적인 </a:t>
            </a:r>
            <a:r>
              <a:rPr lang="en-US" altLang="ko-KR" sz="1200"/>
              <a:t>DB</a:t>
            </a:r>
            <a:r>
              <a:rPr lang="ko-KR" altLang="en-US" sz="1200"/>
              <a:t>를 가지고 있기에</a:t>
            </a:r>
            <a:r>
              <a:rPr lang="en-US" altLang="ko-KR" sz="1200"/>
              <a:t>,</a:t>
            </a:r>
            <a:br>
              <a:rPr lang="en-US" altLang="ko-KR" sz="1200"/>
            </a:br>
            <a:r>
              <a:rPr lang="ko-KR" altLang="en-US" sz="1200"/>
              <a:t>게시글 서비스에서 사용자 정보를 취득하기 위해선</a:t>
            </a:r>
            <a:r>
              <a:rPr lang="en-US" altLang="ko-KR" sz="1200"/>
              <a:t>.</a:t>
            </a:r>
          </a:p>
          <a:p>
            <a:endParaRPr lang="en-US" altLang="ko-KR"/>
          </a:p>
          <a:p>
            <a:r>
              <a:rPr lang="ko-KR" altLang="en-US" sz="1400" b="1">
                <a:solidFill>
                  <a:srgbClr val="FF0000"/>
                </a:solidFill>
              </a:rPr>
              <a:t>사용자 서비스에서 사용자 정보 조회 </a:t>
            </a:r>
            <a:r>
              <a:rPr lang="en-US" altLang="ko-KR" sz="1400" b="1">
                <a:solidFill>
                  <a:srgbClr val="FF0000"/>
                </a:solidFill>
              </a:rPr>
              <a:t>API</a:t>
            </a:r>
            <a:r>
              <a:rPr lang="ko-KR" altLang="en-US" sz="1400" b="1">
                <a:solidFill>
                  <a:srgbClr val="FF0000"/>
                </a:solidFill>
              </a:rPr>
              <a:t> 를 제공해야한다</a:t>
            </a:r>
            <a:r>
              <a:rPr lang="en-US" altLang="ko-KR" sz="1400" b="1">
                <a:solidFill>
                  <a:srgbClr val="FF0000"/>
                </a:solidFill>
              </a:rPr>
              <a:t>.</a:t>
            </a:r>
            <a:br>
              <a:rPr lang="en-US" altLang="ko-KR" sz="1400" b="1">
                <a:solidFill>
                  <a:srgbClr val="FF0000"/>
                </a:solidFill>
              </a:rPr>
            </a:br>
            <a:r>
              <a:rPr lang="en-US" altLang="ko-KR" sz="1400" b="1">
                <a:solidFill>
                  <a:srgbClr val="FF0000"/>
                </a:solidFill>
              </a:rPr>
              <a:t>(RestAPI </a:t>
            </a:r>
            <a:r>
              <a:rPr lang="ko-KR" altLang="en-US" sz="1400" b="1">
                <a:solidFill>
                  <a:srgbClr val="FF0000"/>
                </a:solidFill>
              </a:rPr>
              <a:t>방식</a:t>
            </a:r>
            <a:r>
              <a:rPr lang="en-US" altLang="ko-KR" sz="1400" b="1">
                <a:solidFill>
                  <a:srgbClr val="FF0000"/>
                </a:solidFill>
              </a:rPr>
              <a:t>)</a:t>
            </a:r>
          </a:p>
          <a:p>
            <a:endParaRPr lang="en-US" altLang="ko-KR" sz="1200"/>
          </a:p>
          <a:p>
            <a:r>
              <a:rPr lang="ko-KR" altLang="en-US" sz="1200"/>
              <a:t>게시글 서비스는 사용자 정보 조회</a:t>
            </a:r>
            <a:r>
              <a:rPr lang="en-US" altLang="ko-KR" sz="1200"/>
              <a:t>API</a:t>
            </a:r>
            <a:r>
              <a:rPr lang="ko-KR" altLang="en-US" sz="1200"/>
              <a:t>를 통해 얻어온 정보를 조합하여</a:t>
            </a:r>
            <a:r>
              <a:rPr lang="en-US" altLang="ko-KR" sz="1200"/>
              <a:t>,</a:t>
            </a:r>
            <a:br>
              <a:rPr lang="en-US" altLang="ko-KR" sz="1200"/>
            </a:br>
            <a:r>
              <a:rPr lang="ko-KR" altLang="en-US" sz="1200"/>
              <a:t>데이터를 사용한다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81628EE-EFE0-6F61-464B-9699D9BF85DF}"/>
              </a:ext>
            </a:extLst>
          </p:cNvPr>
          <p:cNvGrpSpPr/>
          <p:nvPr/>
        </p:nvGrpSpPr>
        <p:grpSpPr>
          <a:xfrm>
            <a:off x="1097280" y="1853583"/>
            <a:ext cx="4867370" cy="4717814"/>
            <a:chOff x="1097280" y="1853583"/>
            <a:chExt cx="4867370" cy="471781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1DB3EAE-4292-2A80-CD5D-CAD3F8029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53583"/>
              <a:ext cx="4867370" cy="471781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9524CBA-C2B5-17AE-6F65-0247EEA9C78D}"/>
                </a:ext>
              </a:extLst>
            </p:cNvPr>
            <p:cNvSpPr/>
            <p:nvPr/>
          </p:nvSpPr>
          <p:spPr>
            <a:xfrm>
              <a:off x="3867912" y="4700016"/>
              <a:ext cx="1152144" cy="4206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756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CAE4D-D9EA-A759-0978-A9F45655E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사용자 조회 </a:t>
            </a:r>
            <a:r>
              <a:rPr lang="en-US" altLang="ko-KR" sz="4000"/>
              <a:t>API – UserResponseDto </a:t>
            </a:r>
            <a:r>
              <a:rPr lang="ko-KR" altLang="en-US" sz="4000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DD13D4-3A25-CD7F-3094-A3BC3127AAF2}"/>
              </a:ext>
            </a:extLst>
          </p:cNvPr>
          <p:cNvSpPr txBox="1"/>
          <p:nvPr/>
        </p:nvSpPr>
        <p:spPr>
          <a:xfrm>
            <a:off x="2900934" y="1737360"/>
            <a:ext cx="6041898" cy="512064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패스워드는 노출되면 안되는 정보</a:t>
            </a:r>
            <a:endParaRPr lang="ko-KR" altLang="en-US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ko-KR" altLang="en-US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91768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96BD01-1C80-B362-EC4C-4BFAB3E1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/>
              <a:t>사용자 조회 </a:t>
            </a:r>
            <a:r>
              <a:rPr lang="en-US" altLang="ko-KR" sz="4400"/>
              <a:t>API – UserService </a:t>
            </a:r>
            <a:r>
              <a:rPr lang="ko-KR" altLang="en-US" sz="4400"/>
              <a:t>조회메소드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1C8A6-16F0-E1D3-D043-2FD9C0B8D8EE}"/>
              </a:ext>
            </a:extLst>
          </p:cNvPr>
          <p:cNvSpPr txBox="1"/>
          <p:nvPr/>
        </p:nvSpPr>
        <p:spPr>
          <a:xfrm>
            <a:off x="3459099" y="2001930"/>
            <a:ext cx="6901434" cy="187743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orElseThrow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altLang="ko-KR" sz="105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사용자를 찾을 수 없습니다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7F892D7-0DD6-B8FF-9B62-859B163D8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012" y="2001930"/>
            <a:ext cx="2514951" cy="32198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3BC321-B06F-4B81-9DBE-158D4C298C34}"/>
              </a:ext>
            </a:extLst>
          </p:cNvPr>
          <p:cNvSpPr txBox="1"/>
          <p:nvPr/>
        </p:nvSpPr>
        <p:spPr>
          <a:xfrm>
            <a:off x="3459099" y="4014216"/>
            <a:ext cx="6901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DataJPA</a:t>
            </a:r>
            <a:r>
              <a:rPr lang="ko-KR" altLang="en-US"/>
              <a:t>는 반환값을 유연하게 제공한다</a:t>
            </a:r>
            <a:r>
              <a:rPr lang="en-US" altLang="ko-KR"/>
              <a:t>. </a:t>
            </a:r>
            <a:br>
              <a:rPr lang="en-US" altLang="ko-KR"/>
            </a:br>
            <a:r>
              <a:rPr lang="en-US" altLang="ko-KR"/>
              <a:t>[ </a:t>
            </a:r>
            <a:r>
              <a:rPr lang="en-US" altLang="ko-KR">
                <a:solidFill>
                  <a:srgbClr val="FF0000"/>
                </a:solidFill>
              </a:rPr>
              <a:t>Optional</a:t>
            </a:r>
            <a:r>
              <a:rPr lang="en-US" altLang="ko-KR"/>
              <a:t>, Entity, Projection , Page&lt;T&gt;]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312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AB8889-E927-3CD2-5DF4-3553650B1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사용자 조회 </a:t>
            </a:r>
            <a:r>
              <a:rPr lang="en-US" altLang="ko-KR" sz="4000"/>
              <a:t>API – UserController </a:t>
            </a:r>
            <a:r>
              <a:rPr lang="ko-KR" altLang="en-US" sz="4000"/>
              <a:t>조회 </a:t>
            </a:r>
            <a:r>
              <a:rPr lang="en-US" altLang="ko-KR" sz="4000"/>
              <a:t>API</a:t>
            </a:r>
            <a:endParaRPr lang="ko-KR" altLang="en-US" sz="4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745480-84D4-1863-0973-68AE9CCCE04F}"/>
              </a:ext>
            </a:extLst>
          </p:cNvPr>
          <p:cNvSpPr txBox="1"/>
          <p:nvPr/>
        </p:nvSpPr>
        <p:spPr>
          <a:xfrm>
            <a:off x="4135374" y="1889347"/>
            <a:ext cx="6874002" cy="97808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GetMapping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"/{userId}"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(@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PathVariable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"userId"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F260357-C974-EE31-0459-BAA99EB05C5B}"/>
              </a:ext>
            </a:extLst>
          </p:cNvPr>
          <p:cNvGrpSpPr/>
          <p:nvPr/>
        </p:nvGrpSpPr>
        <p:grpSpPr>
          <a:xfrm>
            <a:off x="1234440" y="1889347"/>
            <a:ext cx="2200582" cy="1073309"/>
            <a:chOff x="1234440" y="1889347"/>
            <a:chExt cx="2200582" cy="107330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6E18976-BE71-772B-40B2-8C7A56218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4440" y="1889347"/>
              <a:ext cx="2200582" cy="1047896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CF835AC-9808-A9DA-B45E-D54EAA482D73}"/>
                </a:ext>
              </a:extLst>
            </p:cNvPr>
            <p:cNvSpPr/>
            <p:nvPr/>
          </p:nvSpPr>
          <p:spPr>
            <a:xfrm>
              <a:off x="1554480" y="2743200"/>
              <a:ext cx="1389888" cy="2194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1812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EDA608-9F99-3215-8A82-2878814E8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사용자 조회 </a:t>
            </a:r>
            <a:r>
              <a:rPr lang="en-US" altLang="ko-KR"/>
              <a:t>API </a:t>
            </a:r>
            <a:r>
              <a:rPr lang="ko-KR" altLang="en-US"/>
              <a:t>테스트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1505ED-8789-91ED-FD26-441C73862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1914313"/>
            <a:ext cx="5833872" cy="25982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60807C8-B83C-1261-0B57-4C1D96D1A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716977"/>
            <a:ext cx="6011114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00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BCB90-BE88-01CE-C54B-D538FFAD4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86DBC-E58D-57E7-AB64-9C95BA7C8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/>
              <a:t>게시글 조회 </a:t>
            </a:r>
            <a:r>
              <a:rPr lang="en-US" altLang="ko-KR" sz="4400"/>
              <a:t>API – </a:t>
            </a:r>
            <a:r>
              <a:rPr lang="ko-KR" altLang="en-US" sz="4400"/>
              <a:t>통신 서비스 정보 설정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41EC461-06B9-5054-A4F4-34BFE323D040}"/>
              </a:ext>
            </a:extLst>
          </p:cNvPr>
          <p:cNvGrpSpPr/>
          <p:nvPr/>
        </p:nvGrpSpPr>
        <p:grpSpPr>
          <a:xfrm>
            <a:off x="427675" y="1952514"/>
            <a:ext cx="2686425" cy="1581371"/>
            <a:chOff x="427675" y="1952514"/>
            <a:chExt cx="2686425" cy="158137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DDFAB23-9373-FC59-D722-4F0C88ED2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675" y="1952514"/>
              <a:ext cx="2686425" cy="158137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B2F4A33-45C9-4374-F725-6BE76C85208B}"/>
                </a:ext>
              </a:extLst>
            </p:cNvPr>
            <p:cNvSpPr/>
            <p:nvPr/>
          </p:nvSpPr>
          <p:spPr>
            <a:xfrm>
              <a:off x="640080" y="3227832"/>
              <a:ext cx="1252728" cy="30605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FDE511C-CD25-0A11-FBF2-9EA486491B88}"/>
              </a:ext>
            </a:extLst>
          </p:cNvPr>
          <p:cNvGrpSpPr/>
          <p:nvPr/>
        </p:nvGrpSpPr>
        <p:grpSpPr>
          <a:xfrm>
            <a:off x="3495294" y="1952514"/>
            <a:ext cx="6094476" cy="4415696"/>
            <a:chOff x="3495294" y="1952514"/>
            <a:chExt cx="6094476" cy="441569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09D4A93-8912-A00C-31A7-F9057CD0016F}"/>
                </a:ext>
              </a:extLst>
            </p:cNvPr>
            <p:cNvSpPr txBox="1"/>
            <p:nvPr/>
          </p:nvSpPr>
          <p:spPr>
            <a:xfrm>
              <a:off x="3495294" y="1952514"/>
              <a:ext cx="6094476" cy="4415696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server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port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8081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spring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datasource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url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jdbc:mysql://localhost:3321/board-db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username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root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password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password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driver-class-name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com.mysql.cj.jdbc.Driver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jpa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hibernate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ddl-auto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update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show-sql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true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board-service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client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user-service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url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http://localhost:8080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3CA1AEC-0B41-1791-F737-39B98E20AAB0}"/>
                </a:ext>
              </a:extLst>
            </p:cNvPr>
            <p:cNvSpPr/>
            <p:nvPr/>
          </p:nvSpPr>
          <p:spPr>
            <a:xfrm>
              <a:off x="3575304" y="5678424"/>
              <a:ext cx="2743200" cy="6126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72481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D6DADE-1FD3-F799-65E6-44AE35A4B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조회 </a:t>
            </a:r>
            <a:r>
              <a:rPr lang="en-US" altLang="ko-KR"/>
              <a:t>API - BoardResponseDto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D358D1B-CF45-1FFC-1133-DC1942D8B311}"/>
              </a:ext>
            </a:extLst>
          </p:cNvPr>
          <p:cNvGrpSpPr/>
          <p:nvPr/>
        </p:nvGrpSpPr>
        <p:grpSpPr>
          <a:xfrm>
            <a:off x="3527298" y="1811119"/>
            <a:ext cx="7628382" cy="4760278"/>
            <a:chOff x="3527298" y="1811119"/>
            <a:chExt cx="7628382" cy="476027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E3A67DD-2D4E-D55F-373A-A7B18EBDBB72}"/>
                </a:ext>
              </a:extLst>
            </p:cNvPr>
            <p:cNvSpPr txBox="1"/>
            <p:nvPr/>
          </p:nvSpPr>
          <p:spPr>
            <a:xfrm>
              <a:off x="3527298" y="1811119"/>
              <a:ext cx="7628382" cy="4760278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BoardResponseDto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boardId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title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content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UserDto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  <a:b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BoardResponseDto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boardId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title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content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UserDto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boardId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boardId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title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title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content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content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getBoardId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boardId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getTitle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title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getContent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content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UserDto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getUser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2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45C8500-FDBB-81A1-3C71-E7DAE4933F28}"/>
                </a:ext>
              </a:extLst>
            </p:cNvPr>
            <p:cNvSpPr/>
            <p:nvPr/>
          </p:nvSpPr>
          <p:spPr>
            <a:xfrm>
              <a:off x="6702552" y="3831336"/>
              <a:ext cx="3867912" cy="1728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http://localhost:8081/boards/1</a:t>
              </a:r>
              <a:br>
                <a:rPr lang="en-US" altLang="ko-KR" sz="1400">
                  <a:solidFill>
                    <a:schemeClr val="tx1"/>
                  </a:solidFill>
                </a:rPr>
              </a:br>
              <a:r>
                <a:rPr lang="ko-KR" altLang="en-US" sz="1400">
                  <a:solidFill>
                    <a:schemeClr val="tx1"/>
                  </a:solidFill>
                </a:rPr>
                <a:t>에 대한 응답값 셋팅을 위한 </a:t>
              </a:r>
              <a:r>
                <a:rPr lang="en-US" altLang="ko-KR" sz="1400">
                  <a:solidFill>
                    <a:schemeClr val="tx1"/>
                  </a:solidFill>
                </a:rPr>
                <a:t>Dto</a:t>
              </a:r>
              <a:endParaRPr lang="ko-KR" altLang="en-US" sz="140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316AD7F-0BB9-9EF8-065E-415B47FD37F3}"/>
              </a:ext>
            </a:extLst>
          </p:cNvPr>
          <p:cNvGrpSpPr/>
          <p:nvPr/>
        </p:nvGrpSpPr>
        <p:grpSpPr>
          <a:xfrm>
            <a:off x="870411" y="1811119"/>
            <a:ext cx="2495898" cy="3200847"/>
            <a:chOff x="870411" y="1811119"/>
            <a:chExt cx="2495898" cy="320084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35D3633-B4A0-A961-C29B-441FC5127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0411" y="1811119"/>
              <a:ext cx="2495898" cy="3200847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73557C3-D973-42D5-6D83-2281649E7104}"/>
                </a:ext>
              </a:extLst>
            </p:cNvPr>
            <p:cNvSpPr/>
            <p:nvPr/>
          </p:nvSpPr>
          <p:spPr>
            <a:xfrm>
              <a:off x="1243584" y="4191258"/>
              <a:ext cx="1627632" cy="2344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5422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8E943-3A7C-FCDB-BAC9-CBDEE40A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조회 </a:t>
            </a:r>
            <a:r>
              <a:rPr lang="en-US" altLang="ko-KR"/>
              <a:t>API - UserDto</a:t>
            </a:r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D21351E-E03B-38F9-4814-A85D66BAFEA9}"/>
              </a:ext>
            </a:extLst>
          </p:cNvPr>
          <p:cNvGrpSpPr/>
          <p:nvPr/>
        </p:nvGrpSpPr>
        <p:grpSpPr>
          <a:xfrm>
            <a:off x="870411" y="2039719"/>
            <a:ext cx="2495898" cy="3200847"/>
            <a:chOff x="870411" y="1811119"/>
            <a:chExt cx="2495898" cy="320084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D7034DF-9ACD-67C9-90F4-05E533BDA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0411" y="1811119"/>
              <a:ext cx="2495898" cy="320084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52D1941-E6EC-B3C3-75FA-03134FB7AEF2}"/>
                </a:ext>
              </a:extLst>
            </p:cNvPr>
            <p:cNvSpPr/>
            <p:nvPr/>
          </p:nvSpPr>
          <p:spPr>
            <a:xfrm>
              <a:off x="1207008" y="4593594"/>
              <a:ext cx="1627632" cy="2344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51F24772-55C5-1447-0EAA-17E3A89F5C4B}"/>
              </a:ext>
            </a:extLst>
          </p:cNvPr>
          <p:cNvGrpSpPr/>
          <p:nvPr/>
        </p:nvGrpSpPr>
        <p:grpSpPr>
          <a:xfrm>
            <a:off x="3510882" y="2039719"/>
            <a:ext cx="4682142" cy="4033540"/>
            <a:chOff x="3510882" y="2039719"/>
            <a:chExt cx="4682142" cy="403354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31D56D-2645-8108-ED68-17544C009A1F}"/>
                </a:ext>
              </a:extLst>
            </p:cNvPr>
            <p:cNvSpPr txBox="1"/>
            <p:nvPr/>
          </p:nvSpPr>
          <p:spPr>
            <a:xfrm>
              <a:off x="3510882" y="2039719"/>
              <a:ext cx="4682142" cy="403354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UserDto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1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1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UserDto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UserDto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1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ko-KR" sz="11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1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1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getUserId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1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14FDDCF-BD78-139E-386D-CBD21CCB3FDF}"/>
                </a:ext>
              </a:extLst>
            </p:cNvPr>
            <p:cNvSpPr/>
            <p:nvPr/>
          </p:nvSpPr>
          <p:spPr>
            <a:xfrm>
              <a:off x="6245352" y="4224528"/>
              <a:ext cx="1874520" cy="8321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</a:rPr>
                <a:t>BoardResponseDto</a:t>
              </a:r>
              <a:r>
                <a:rPr lang="ko-KR" altLang="en-US" sz="1050">
                  <a:solidFill>
                    <a:schemeClr val="tx1"/>
                  </a:solidFill>
                </a:rPr>
                <a:t>에 포함된 사용자 정보 </a:t>
              </a:r>
              <a:r>
                <a:rPr lang="en-US" altLang="ko-KR" sz="1050">
                  <a:solidFill>
                    <a:schemeClr val="tx1"/>
                  </a:solidFill>
                </a:rPr>
                <a:t>Dto </a:t>
              </a:r>
              <a:r>
                <a:rPr lang="ko-KR" altLang="en-US" sz="1050">
                  <a:solidFill>
                    <a:schemeClr val="tx1"/>
                  </a:solidFill>
                </a:rPr>
                <a:t>작성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7062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7A3C8-F167-CF0E-0E76-1C2DBFE9E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1EA6F-42E0-7A64-97C9-3C54B26BD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조회 </a:t>
            </a:r>
            <a:r>
              <a:rPr lang="en-US" altLang="ko-KR"/>
              <a:t>API - UserResponseDto</a:t>
            </a:r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9CA0EEA-01B5-B2E9-2840-080A42A82042}"/>
              </a:ext>
            </a:extLst>
          </p:cNvPr>
          <p:cNvGrpSpPr/>
          <p:nvPr/>
        </p:nvGrpSpPr>
        <p:grpSpPr>
          <a:xfrm>
            <a:off x="870411" y="2039719"/>
            <a:ext cx="2495898" cy="3200847"/>
            <a:chOff x="870411" y="1811119"/>
            <a:chExt cx="2495898" cy="320084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62FC0E5-AF7D-84C8-AA46-57C43CE8B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0411" y="1811119"/>
              <a:ext cx="2495898" cy="320084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4391653-AD46-C7ED-04C1-F99C630DE675}"/>
                </a:ext>
              </a:extLst>
            </p:cNvPr>
            <p:cNvSpPr/>
            <p:nvPr/>
          </p:nvSpPr>
          <p:spPr>
            <a:xfrm>
              <a:off x="1179576" y="4828032"/>
              <a:ext cx="1563624" cy="1839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87956AFB-945F-E339-4AFD-EE1E181DC7B6}"/>
              </a:ext>
            </a:extLst>
          </p:cNvPr>
          <p:cNvGrpSpPr/>
          <p:nvPr/>
        </p:nvGrpSpPr>
        <p:grpSpPr>
          <a:xfrm>
            <a:off x="3611466" y="1823046"/>
            <a:ext cx="7157466" cy="4748351"/>
            <a:chOff x="3611466" y="1823046"/>
            <a:chExt cx="7157466" cy="47483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945C7B-BEA9-C90D-741F-43BB586FA090}"/>
                </a:ext>
              </a:extLst>
            </p:cNvPr>
            <p:cNvSpPr txBox="1"/>
            <p:nvPr/>
          </p:nvSpPr>
          <p:spPr>
            <a:xfrm>
              <a:off x="3611466" y="1823046"/>
              <a:ext cx="7157466" cy="474835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UserResponseDto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private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email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UserResponseDto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UserResponseDto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email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79C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email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FFA657"/>
                  </a:solidFill>
                  <a:effectLst/>
                  <a:latin typeface="Consolas" panose="020B0609020204030204" pitchFamily="49" charset="0"/>
                </a:rPr>
                <a:t>email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getUserId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userId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getName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endPara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public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D2A8FF"/>
                  </a:solidFill>
                  <a:effectLst/>
                  <a:latin typeface="Consolas" panose="020B0609020204030204" pitchFamily="49" charset="0"/>
                </a:rPr>
                <a:t>getEmail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() {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000" b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email</a:t>
              </a: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}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0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4D7DF91-0943-570A-1BFC-136F6E355EEC}"/>
                </a:ext>
              </a:extLst>
            </p:cNvPr>
            <p:cNvSpPr/>
            <p:nvPr/>
          </p:nvSpPr>
          <p:spPr>
            <a:xfrm>
              <a:off x="6245352" y="3867912"/>
              <a:ext cx="4206240" cy="17373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user-service </a:t>
              </a:r>
              <a:r>
                <a:rPr lang="ko-KR" altLang="en-US">
                  <a:solidFill>
                    <a:schemeClr val="tx1"/>
                  </a:solidFill>
                </a:rPr>
                <a:t>애플리케이션에서 </a:t>
              </a:r>
              <a:br>
                <a:rPr lang="en-US" altLang="ko-KR">
                  <a:solidFill>
                    <a:schemeClr val="tx1"/>
                  </a:solidFill>
                </a:rPr>
              </a:br>
              <a:r>
                <a:rPr lang="ko-KR" altLang="en-US">
                  <a:solidFill>
                    <a:schemeClr val="tx1"/>
                  </a:solidFill>
                </a:rPr>
                <a:t>사용자 조회 </a:t>
              </a:r>
              <a:r>
                <a:rPr lang="en-US" altLang="ko-KR">
                  <a:solidFill>
                    <a:schemeClr val="tx1"/>
                  </a:solidFill>
                </a:rPr>
                <a:t>API </a:t>
              </a:r>
              <a:r>
                <a:rPr lang="ko-KR" altLang="en-US">
                  <a:solidFill>
                    <a:schemeClr val="tx1"/>
                  </a:solidFill>
                </a:rPr>
                <a:t>정보를 받아오는 </a:t>
              </a:r>
              <a:br>
                <a:rPr lang="en-US" altLang="ko-KR">
                  <a:solidFill>
                    <a:schemeClr val="tx1"/>
                  </a:solidFill>
                </a:rPr>
              </a:br>
              <a:r>
                <a:rPr lang="en-US" altLang="ko-KR">
                  <a:solidFill>
                    <a:schemeClr val="tx1"/>
                  </a:solidFill>
                </a:rPr>
                <a:t>DTO </a:t>
              </a:r>
              <a:r>
                <a:rPr lang="ko-KR" altLang="en-US">
                  <a:solidFill>
                    <a:schemeClr val="tx1"/>
                  </a:solidFill>
                </a:rPr>
                <a:t>정보 작성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2957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47C6A-DCCD-BADF-4295-E008D80F1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3C77C0-7E49-8FAA-67B3-36A023D08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/>
              <a:t>게시글 조회 </a:t>
            </a:r>
            <a:r>
              <a:rPr lang="en-US" altLang="ko-KR" sz="2800"/>
              <a:t>API – UserService</a:t>
            </a:r>
            <a:r>
              <a:rPr lang="ko-KR" altLang="en-US" sz="2800"/>
              <a:t>통신을 위한 </a:t>
            </a:r>
            <a:r>
              <a:rPr lang="en-US" altLang="ko-KR" sz="2800"/>
              <a:t>Component </a:t>
            </a:r>
            <a:r>
              <a:rPr lang="ko-KR" altLang="en-US" sz="2800"/>
              <a:t>작성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6EEDECE-ABCF-2FA1-0516-1C74E490E383}"/>
              </a:ext>
            </a:extLst>
          </p:cNvPr>
          <p:cNvGrpSpPr/>
          <p:nvPr/>
        </p:nvGrpSpPr>
        <p:grpSpPr>
          <a:xfrm>
            <a:off x="870411" y="2039719"/>
            <a:ext cx="2495898" cy="3200847"/>
            <a:chOff x="870411" y="1811119"/>
            <a:chExt cx="2495898" cy="320084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DD4FFF9-D8E2-6E6F-A9A9-8E1CA7A2B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0411" y="1811119"/>
              <a:ext cx="2495898" cy="320084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79CDE6B-250E-D817-4100-D241F3BA0ED6}"/>
                </a:ext>
              </a:extLst>
            </p:cNvPr>
            <p:cNvSpPr/>
            <p:nvPr/>
          </p:nvSpPr>
          <p:spPr>
            <a:xfrm>
              <a:off x="1143452" y="2706624"/>
              <a:ext cx="1206556" cy="2205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4330923-1810-96C3-5EB3-9ABD4946AC73}"/>
              </a:ext>
            </a:extLst>
          </p:cNvPr>
          <p:cNvSpPr txBox="1"/>
          <p:nvPr/>
        </p:nvSpPr>
        <p:spPr>
          <a:xfrm>
            <a:off x="3568446" y="1999248"/>
            <a:ext cx="6094476" cy="457214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UserClient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UserClient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"${client.user-service.url}"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userServiceUrl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builder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userServiceUrl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"userId must not be null"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"/users/{userId}"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retrieve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// ResponseEntity </a:t>
            </a: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디코딩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071DB1-8BC0-4AAC-69A4-BC89F1D7E342}"/>
              </a:ext>
            </a:extLst>
          </p:cNvPr>
          <p:cNvSpPr/>
          <p:nvPr/>
        </p:nvSpPr>
        <p:spPr>
          <a:xfrm>
            <a:off x="8222187" y="3120212"/>
            <a:ext cx="3969813" cy="28244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RestClient, WebClient </a:t>
            </a:r>
            <a:r>
              <a:rPr lang="ko-KR" altLang="en-US" sz="1200">
                <a:solidFill>
                  <a:schemeClr val="tx1"/>
                </a:solidFill>
              </a:rPr>
              <a:t>상관없음 외부로 통신되는 라이브러리이면 됨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  <a:br>
              <a:rPr lang="en-US" altLang="ko-KR" sz="1200">
                <a:solidFill>
                  <a:schemeClr val="tx1"/>
                </a:solidFill>
              </a:rPr>
            </a:br>
            <a:br>
              <a:rPr lang="en-US" altLang="ko-KR" sz="1200">
                <a:solidFill>
                  <a:schemeClr val="tx1"/>
                </a:solidFill>
              </a:rPr>
            </a:br>
            <a:r>
              <a:rPr lang="en-US" altLang="ko-KR" sz="1200">
                <a:solidFill>
                  <a:schemeClr val="tx1"/>
                </a:solidFill>
              </a:rPr>
              <a:t>application.yml </a:t>
            </a:r>
            <a:r>
              <a:rPr lang="ko-KR" altLang="en-US" sz="1200">
                <a:solidFill>
                  <a:schemeClr val="tx1"/>
                </a:solidFill>
              </a:rPr>
              <a:t>내 </a:t>
            </a:r>
            <a:r>
              <a:rPr lang="en-US" altLang="ko-KR" sz="1200">
                <a:solidFill>
                  <a:schemeClr val="tx1"/>
                </a:solidFill>
              </a:rPr>
              <a:t>RestAPI </a:t>
            </a:r>
            <a:r>
              <a:rPr lang="ko-KR" altLang="en-US" sz="1200">
                <a:solidFill>
                  <a:schemeClr val="tx1"/>
                </a:solidFill>
              </a:rPr>
              <a:t>통신을 위한 </a:t>
            </a:r>
            <a:br>
              <a:rPr lang="en-US" altLang="ko-KR" sz="1200">
                <a:solidFill>
                  <a:schemeClr val="tx1"/>
                </a:solidFill>
              </a:rPr>
            </a:br>
            <a:r>
              <a:rPr lang="ko-KR" altLang="en-US" sz="1200">
                <a:solidFill>
                  <a:schemeClr val="tx1"/>
                </a:solidFill>
              </a:rPr>
              <a:t>웹 정보를 받아와 </a:t>
            </a:r>
            <a:r>
              <a:rPr lang="en-US" altLang="ko-KR" sz="1200">
                <a:solidFill>
                  <a:schemeClr val="tx1"/>
                </a:solidFill>
              </a:rPr>
              <a:t>RestClient</a:t>
            </a:r>
            <a:r>
              <a:rPr lang="ko-KR" altLang="en-US" sz="1200">
                <a:solidFill>
                  <a:schemeClr val="tx1"/>
                </a:solidFill>
              </a:rPr>
              <a:t>로 주입한다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en-US" altLang="ko-KR" sz="1200">
                <a:solidFill>
                  <a:schemeClr val="tx1"/>
                </a:solidFill>
              </a:rPr>
              <a:t>userId</a:t>
            </a:r>
            <a:r>
              <a:rPr lang="ko-KR" altLang="en-US" sz="1200">
                <a:solidFill>
                  <a:schemeClr val="tx1"/>
                </a:solidFill>
              </a:rPr>
              <a:t> 정보를 </a:t>
            </a:r>
            <a:r>
              <a:rPr lang="en-US" altLang="ko-KR" sz="1200">
                <a:solidFill>
                  <a:schemeClr val="tx1"/>
                </a:solidFill>
              </a:rPr>
              <a:t>user-service</a:t>
            </a:r>
            <a:r>
              <a:rPr lang="ko-KR" altLang="en-US" sz="1200">
                <a:solidFill>
                  <a:schemeClr val="tx1"/>
                </a:solidFill>
              </a:rPr>
              <a:t>의 사용자 조회</a:t>
            </a:r>
            <a:r>
              <a:rPr lang="en-US" altLang="ko-KR" sz="1200">
                <a:solidFill>
                  <a:schemeClr val="tx1"/>
                </a:solidFill>
              </a:rPr>
              <a:t>API</a:t>
            </a:r>
            <a:r>
              <a:rPr lang="ko-KR" altLang="en-US" sz="1200">
                <a:solidFill>
                  <a:schemeClr val="tx1"/>
                </a:solidFill>
              </a:rPr>
              <a:t>에게 전달하여</a:t>
            </a:r>
            <a:r>
              <a:rPr lang="en-US" altLang="ko-KR" sz="1200">
                <a:solidFill>
                  <a:schemeClr val="tx1"/>
                </a:solidFill>
              </a:rPr>
              <a:t>, </a:t>
            </a:r>
            <a:r>
              <a:rPr lang="ko-KR" altLang="en-US" sz="1200">
                <a:solidFill>
                  <a:schemeClr val="tx1"/>
                </a:solidFill>
              </a:rPr>
              <a:t>사용자 정보 값을 받아온다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D14CB-B4C3-47EC-87DF-80CE914C0F88}"/>
              </a:ext>
            </a:extLst>
          </p:cNvPr>
          <p:cNvSpPr txBox="1"/>
          <p:nvPr/>
        </p:nvSpPr>
        <p:spPr>
          <a:xfrm>
            <a:off x="1097280" y="270423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RestClient - </a:t>
            </a:r>
            <a:r>
              <a:rPr lang="ko-KR" altLang="en-US" sz="1200">
                <a:hlinkClick r:id="rId3"/>
              </a:rPr>
              <a:t>https://docs.spring.io/spring-framework/reference/integration/rest-clients.html</a:t>
            </a:r>
            <a:endParaRPr lang="en-US" altLang="ko-KR" sz="1200"/>
          </a:p>
          <a:p>
            <a:endParaRPr lang="en-US" altLang="ko-KR" sz="1200"/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106136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B75F03-5C99-2A4A-D683-3F03CF0A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게시글 조회 </a:t>
            </a:r>
            <a:r>
              <a:rPr lang="en-US" altLang="ko-KR" sz="3200"/>
              <a:t>API –BoardService </a:t>
            </a:r>
            <a:r>
              <a:rPr lang="ko-KR" altLang="en-US" sz="3200"/>
              <a:t>게시글 조회 메소드 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EB0F08-A195-66F4-F53F-E781C2347C32}"/>
              </a:ext>
            </a:extLst>
          </p:cNvPr>
          <p:cNvSpPr txBox="1"/>
          <p:nvPr/>
        </p:nvSpPr>
        <p:spPr>
          <a:xfrm>
            <a:off x="3595878" y="1890336"/>
            <a:ext cx="7111746" cy="349326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boardRepository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orElseThrow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altLang="ko-KR" sz="105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게시글을 찾을수 없습니다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user-service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로 부터 사용자 정보 불러오기</a:t>
            </a:r>
            <a:endParaRPr lang="ko-KR" altLang="en-US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userClient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응답값 조합하기</a:t>
            </a:r>
            <a:endParaRPr lang="ko-KR" altLang="en-US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getTitle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getContent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userDto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870531E-0025-86A2-DFE3-3E82EDBC4AFA}"/>
              </a:ext>
            </a:extLst>
          </p:cNvPr>
          <p:cNvGrpSpPr/>
          <p:nvPr/>
        </p:nvGrpSpPr>
        <p:grpSpPr>
          <a:xfrm>
            <a:off x="566540" y="1890336"/>
            <a:ext cx="2829320" cy="2581635"/>
            <a:chOff x="566540" y="1890336"/>
            <a:chExt cx="2829320" cy="258163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A51FE6-D357-7C3F-027B-9CDC2E998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6540" y="1890336"/>
              <a:ext cx="2829320" cy="2581635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BD641B5-0B7F-7405-554C-947E63E773AC}"/>
                </a:ext>
              </a:extLst>
            </p:cNvPr>
            <p:cNvSpPr/>
            <p:nvPr/>
          </p:nvSpPr>
          <p:spPr>
            <a:xfrm>
              <a:off x="942284" y="3813048"/>
              <a:ext cx="1261420" cy="2103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EFECD6E-9F6F-D28D-9814-6CDBA941AD42}"/>
              </a:ext>
            </a:extLst>
          </p:cNvPr>
          <p:cNvSpPr txBox="1"/>
          <p:nvPr/>
        </p:nvSpPr>
        <p:spPr>
          <a:xfrm>
            <a:off x="3595878" y="5449824"/>
            <a:ext cx="71117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/>
              <a:t>boardId</a:t>
            </a:r>
            <a:r>
              <a:rPr lang="ko-KR" altLang="en-US" sz="1400"/>
              <a:t>를 통해 게시글 정보 가져오기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board</a:t>
            </a:r>
            <a:r>
              <a:rPr lang="ko-KR" altLang="en-US" sz="1400"/>
              <a:t>객체 내 </a:t>
            </a:r>
            <a:r>
              <a:rPr lang="en-US" altLang="ko-KR" sz="1400"/>
              <a:t>userId </a:t>
            </a:r>
            <a:r>
              <a:rPr lang="ko-KR" altLang="en-US" sz="1400"/>
              <a:t>를 가져와서 </a:t>
            </a:r>
            <a:r>
              <a:rPr lang="en-US" altLang="ko-KR" sz="1400"/>
              <a:t>user-service</a:t>
            </a:r>
            <a:r>
              <a:rPr lang="ko-KR" altLang="en-US" sz="1400"/>
              <a:t> 애플리케이션 사용자 조회 </a:t>
            </a:r>
            <a:r>
              <a:rPr lang="en-US" altLang="ko-KR" sz="1400"/>
              <a:t>API</a:t>
            </a:r>
            <a:r>
              <a:rPr lang="ko-KR" altLang="en-US" sz="1400"/>
              <a:t> 요청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user-service </a:t>
            </a:r>
            <a:r>
              <a:rPr lang="ko-KR" altLang="en-US" sz="1400"/>
              <a:t>사용자조회 </a:t>
            </a:r>
            <a:r>
              <a:rPr lang="en-US" altLang="ko-KR" sz="1400"/>
              <a:t>API</a:t>
            </a:r>
            <a:r>
              <a:rPr lang="ko-KR" altLang="en-US" sz="1400"/>
              <a:t> 응답 값을 </a:t>
            </a:r>
            <a:r>
              <a:rPr lang="en-US" altLang="ko-KR" sz="1400"/>
              <a:t>userDto</a:t>
            </a:r>
            <a:r>
              <a:rPr lang="ko-KR" altLang="en-US" sz="1400"/>
              <a:t>에 셋팅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게시글 응답 객체</a:t>
            </a:r>
            <a:r>
              <a:rPr lang="en-US" altLang="ko-KR" sz="1400"/>
              <a:t>(BoardResponseDto)</a:t>
            </a:r>
            <a:r>
              <a:rPr lang="ko-KR" altLang="en-US" sz="1400"/>
              <a:t>에 셋팅하여 전달 </a:t>
            </a:r>
          </a:p>
        </p:txBody>
      </p:sp>
    </p:spTree>
    <p:extLst>
      <p:ext uri="{BB962C8B-B14F-4D97-AF65-F5344CB8AC3E}">
        <p14:creationId xmlns:p14="http://schemas.microsoft.com/office/powerpoint/2010/main" val="2219411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A75094-EFAC-DFE6-A74D-BD62027EA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게시글 조회 </a:t>
            </a:r>
            <a:r>
              <a:rPr lang="en-US" altLang="ko-KR" sz="4000"/>
              <a:t>API – BoardController</a:t>
            </a:r>
            <a:endParaRPr lang="ko-KR" altLang="en-US" sz="4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7222D4-0D08-8849-D61E-1AB5433629F7}"/>
              </a:ext>
            </a:extLst>
          </p:cNvPr>
          <p:cNvSpPr txBox="1"/>
          <p:nvPr/>
        </p:nvSpPr>
        <p:spPr>
          <a:xfrm>
            <a:off x="3824478" y="1874758"/>
            <a:ext cx="6094476" cy="13388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GetMapping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"/{boardId}"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>
                <a:solidFill>
                  <a:srgbClr val="BBBEBF"/>
                </a:solidFill>
                <a:latin typeface="Consolas" panose="020B0609020204030204" pitchFamily="49" charset="0"/>
              </a:rPr>
              <a:t>	 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PathVariable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"boardId"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boardId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boardService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D30B1FC-D829-3CED-1419-505E47B45ADC}"/>
              </a:ext>
            </a:extLst>
          </p:cNvPr>
          <p:cNvGrpSpPr/>
          <p:nvPr/>
        </p:nvGrpSpPr>
        <p:grpSpPr>
          <a:xfrm>
            <a:off x="1251607" y="1874758"/>
            <a:ext cx="2410161" cy="1590897"/>
            <a:chOff x="1251607" y="1874758"/>
            <a:chExt cx="2410161" cy="159089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7969600-71FA-02F6-D2D3-D16A56578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1607" y="1874758"/>
              <a:ext cx="2410161" cy="159089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088F9A3-3E30-81A9-6930-E312310CC107}"/>
                </a:ext>
              </a:extLst>
            </p:cNvPr>
            <p:cNvSpPr/>
            <p:nvPr/>
          </p:nvSpPr>
          <p:spPr>
            <a:xfrm>
              <a:off x="1618488" y="3213586"/>
              <a:ext cx="1481328" cy="2154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409796F-D49D-D572-2625-99D33FA1D40A}"/>
              </a:ext>
            </a:extLst>
          </p:cNvPr>
          <p:cNvSpPr txBox="1"/>
          <p:nvPr/>
        </p:nvSpPr>
        <p:spPr>
          <a:xfrm>
            <a:off x="3824478" y="3321293"/>
            <a:ext cx="6169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ResponseEntity</a:t>
            </a:r>
            <a:r>
              <a:rPr lang="ko-KR" altLang="en-US" sz="1200"/>
              <a:t>에 </a:t>
            </a:r>
            <a:r>
              <a:rPr lang="en-US" altLang="ko-KR" sz="1200"/>
              <a:t>Board </a:t>
            </a:r>
            <a:r>
              <a:rPr lang="ko-KR" altLang="en-US" sz="1200"/>
              <a:t>조회 응답객체</a:t>
            </a:r>
            <a:r>
              <a:rPr lang="en-US" altLang="ko-KR" sz="1200"/>
              <a:t>(BoardResponseDto)</a:t>
            </a:r>
            <a:r>
              <a:rPr lang="ko-KR" altLang="en-US" sz="1200"/>
              <a:t> 셋팅 반환</a:t>
            </a:r>
          </a:p>
        </p:txBody>
      </p:sp>
    </p:spTree>
    <p:extLst>
      <p:ext uri="{BB962C8B-B14F-4D97-AF65-F5344CB8AC3E}">
        <p14:creationId xmlns:p14="http://schemas.microsoft.com/office/powerpoint/2010/main" val="921803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184B7-6380-F5EF-567C-FDE20B7E2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조회 </a:t>
            </a:r>
            <a:r>
              <a:rPr lang="en-US" altLang="ko-KR"/>
              <a:t>API </a:t>
            </a:r>
            <a:r>
              <a:rPr lang="ko-KR" altLang="en-US"/>
              <a:t>테스트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F28C99-4639-9E32-01C9-F79DFB726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1946875"/>
            <a:ext cx="3057952" cy="49536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C57353B-CDB9-4CFA-768C-5C580E66C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" y="2651759"/>
            <a:ext cx="11844528" cy="90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428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B5D47-A3FB-1A96-CE91-562BBB3C1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장애 전파 상황 예시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752F24-26F6-7F2B-54F4-BDEC32B08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66" y="2041609"/>
            <a:ext cx="5372380" cy="258525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A382A503-8972-84E7-389F-5A43845AB5FC}"/>
              </a:ext>
            </a:extLst>
          </p:cNvPr>
          <p:cNvGrpSpPr/>
          <p:nvPr/>
        </p:nvGrpSpPr>
        <p:grpSpPr>
          <a:xfrm>
            <a:off x="5988820" y="2041609"/>
            <a:ext cx="5740144" cy="2969303"/>
            <a:chOff x="5988820" y="2041609"/>
            <a:chExt cx="5740144" cy="296930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AF9B9DE-7DDC-AAA1-6DC3-F49169A19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8820" y="2041609"/>
              <a:ext cx="5740144" cy="2969303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50CBF8C-85E8-AEF3-0FE1-8EF5ED713466}"/>
                </a:ext>
              </a:extLst>
            </p:cNvPr>
            <p:cNvSpPr/>
            <p:nvPr/>
          </p:nvSpPr>
          <p:spPr>
            <a:xfrm>
              <a:off x="9262872" y="3429000"/>
              <a:ext cx="1892808" cy="51206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BoardService</a:t>
              </a:r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2EEF4F3-BF92-8CBD-19A0-741BFAECB06C}"/>
              </a:ext>
            </a:extLst>
          </p:cNvPr>
          <p:cNvSpPr txBox="1"/>
          <p:nvPr/>
        </p:nvSpPr>
        <p:spPr>
          <a:xfrm>
            <a:off x="450366" y="5221224"/>
            <a:ext cx="11278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boardService </a:t>
            </a:r>
            <a:r>
              <a:rPr lang="ko-KR" altLang="en-US" sz="1400"/>
              <a:t>의 </a:t>
            </a:r>
            <a:r>
              <a:rPr lang="en-US" altLang="ko-KR" sz="1400"/>
              <a:t>getBoard</a:t>
            </a:r>
            <a:r>
              <a:rPr lang="ko-KR" altLang="en-US" sz="1400"/>
              <a:t>메소드에서 </a:t>
            </a:r>
            <a:r>
              <a:rPr lang="en-US" altLang="ko-KR" sz="1400"/>
              <a:t>UserResponseDto </a:t>
            </a:r>
            <a:r>
              <a:rPr lang="ko-KR" altLang="en-US" sz="1400"/>
              <a:t>정보를 받아오기 위해 </a:t>
            </a:r>
            <a:r>
              <a:rPr lang="en-US" altLang="ko-KR" sz="1400"/>
              <a:t>user-servic</a:t>
            </a:r>
            <a:r>
              <a:rPr lang="ko-KR" altLang="en-US" sz="1400"/>
              <a:t>와 통신한다</a:t>
            </a:r>
            <a:r>
              <a:rPr lang="en-US" altLang="ko-KR" sz="1400"/>
              <a:t>. </a:t>
            </a:r>
            <a:br>
              <a:rPr lang="en-US" altLang="ko-KR" sz="1400"/>
            </a:br>
            <a:r>
              <a:rPr lang="ko-KR" altLang="en-US" sz="1400"/>
              <a:t>그러나 사용자 서비스가 죽어있는 경우라면</a:t>
            </a:r>
            <a:r>
              <a:rPr lang="en-US" altLang="ko-KR" sz="1400"/>
              <a:t>, </a:t>
            </a:r>
            <a:r>
              <a:rPr lang="ko-KR" altLang="en-US" sz="1400"/>
              <a:t>서버는 </a:t>
            </a:r>
            <a:r>
              <a:rPr lang="en-US" altLang="ko-KR" sz="1400"/>
              <a:t>UserResponseDto</a:t>
            </a:r>
            <a:r>
              <a:rPr lang="ko-KR" altLang="en-US" sz="1400"/>
              <a:t>를 받지 못할것이고 </a:t>
            </a:r>
            <a:r>
              <a:rPr lang="en-US" altLang="ko-KR" sz="1400"/>
              <a:t>Internal Server Error</a:t>
            </a:r>
            <a:r>
              <a:rPr lang="ko-KR" altLang="en-US" sz="1400"/>
              <a:t>를 발생시킬 것이다</a:t>
            </a:r>
            <a:r>
              <a:rPr lang="en-US" altLang="ko-KR" sz="1400"/>
              <a:t>. </a:t>
            </a:r>
            <a:r>
              <a:rPr lang="ko-KR" altLang="en-US" sz="1400"/>
              <a:t>이를 해결할 두 가지 대안이있다</a:t>
            </a:r>
            <a:r>
              <a:rPr lang="en-US" altLang="ko-KR" sz="1400"/>
              <a:t>.</a:t>
            </a:r>
            <a:r>
              <a:rPr lang="ko-KR" altLang="en-US" sz="14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858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49E69-9A97-FDDC-42D3-68A7ECC70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장애 전파 방지 대안</a:t>
            </a:r>
            <a:r>
              <a:rPr lang="en-US" altLang="ko-KR"/>
              <a:t>1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41D913-A722-9E3D-500F-0329137C6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53449"/>
            <a:ext cx="2011680" cy="21870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168FFB-A0CB-3927-6E53-BCFAF45139D9}"/>
              </a:ext>
            </a:extLst>
          </p:cNvPr>
          <p:cNvSpPr txBox="1"/>
          <p:nvPr/>
        </p:nvSpPr>
        <p:spPr>
          <a:xfrm>
            <a:off x="3257550" y="2062593"/>
            <a:ext cx="80992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/>
              <a:t>장애가 난 서비스로부터 받아와야 하는 정보는 응답하지 않는 방법</a:t>
            </a:r>
            <a:endParaRPr lang="en-US" altLang="ko-KR" sz="1200"/>
          </a:p>
          <a:p>
            <a:pPr marL="228600" indent="-228600">
              <a:buFontTx/>
              <a:buAutoNum type="arabicPeriod"/>
            </a:pPr>
            <a:r>
              <a:rPr lang="ko-KR" altLang="en-US" sz="1200"/>
              <a:t>사용자 정보를 필수로 보내지 않아도 </a:t>
            </a:r>
            <a:r>
              <a:rPr lang="en-US" altLang="ko-KR" sz="1200"/>
              <a:t>, </a:t>
            </a:r>
            <a:r>
              <a:rPr lang="ko-KR" altLang="en-US" sz="1200"/>
              <a:t>서비스 로직상 큰 문제가 안 되는 </a:t>
            </a:r>
            <a:r>
              <a:rPr lang="en-US" altLang="ko-KR" sz="1200"/>
              <a:t>API </a:t>
            </a:r>
            <a:r>
              <a:rPr lang="ko-KR" altLang="en-US" sz="1200"/>
              <a:t>일 경우에 자주 사용하는 처리 방법이다 </a:t>
            </a:r>
            <a:r>
              <a:rPr lang="en-US" altLang="ko-KR" sz="1200"/>
              <a:t>.</a:t>
            </a:r>
          </a:p>
          <a:p>
            <a:pPr marL="228600" indent="-228600">
              <a:buFontTx/>
              <a:buAutoNum type="arabicPeriod"/>
            </a:pPr>
            <a:r>
              <a:rPr lang="ko-KR" altLang="en-US" sz="1200"/>
              <a:t>정상적으로 응답할 수 있는 값만 사용자한테 응답하면 된다 </a:t>
            </a:r>
            <a:r>
              <a:rPr lang="en-US" altLang="ko-KR" sz="1200"/>
              <a:t>.</a:t>
            </a:r>
          </a:p>
          <a:p>
            <a:pPr marL="228600" indent="-228600">
              <a:buAutoNum type="arabicPeriod"/>
            </a:pPr>
            <a:endParaRPr lang="en-US" altLang="ko-KR" sz="1200"/>
          </a:p>
          <a:p>
            <a:pPr marL="228600" indent="-228600">
              <a:buAutoNum type="arabicPeriod"/>
            </a:pPr>
            <a:endParaRPr lang="en-US" altLang="ko-KR" sz="1200"/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379021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BCD8E-62F7-DF1F-46C3-E43B6F728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B8F96-8758-FA7D-E231-884D5138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장애 전파 방지 대안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D2DB4D-D309-C457-9A72-E1F328DC7650}"/>
              </a:ext>
            </a:extLst>
          </p:cNvPr>
          <p:cNvSpPr txBox="1"/>
          <p:nvPr/>
        </p:nvSpPr>
        <p:spPr>
          <a:xfrm>
            <a:off x="798576" y="3602002"/>
            <a:ext cx="80992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/>
              <a:t>장애가 난 서비스에 대한 메세지를 작성하여 전달</a:t>
            </a:r>
            <a:r>
              <a:rPr lang="en-US" altLang="ko-KR" sz="1200"/>
              <a:t>.</a:t>
            </a:r>
          </a:p>
          <a:p>
            <a:pPr marL="228600" indent="-228600">
              <a:buAutoNum type="arabicPeriod"/>
            </a:pPr>
            <a:r>
              <a:rPr lang="ko-KR" altLang="en-US" sz="1200"/>
              <a:t>장애가 난 서비스의 정보를 함께 제공하지 않으면 큰 일이 벌어지는 서비스에서는 에러를 안내해야한다</a:t>
            </a:r>
            <a:r>
              <a:rPr lang="en-US" altLang="ko-KR" sz="1200"/>
              <a:t>.</a:t>
            </a:r>
          </a:p>
          <a:p>
            <a:pPr marL="228600" indent="-228600">
              <a:buAutoNum type="arabicPeriod"/>
            </a:pPr>
            <a:endParaRPr lang="en-US" altLang="ko-KR" sz="1200"/>
          </a:p>
          <a:p>
            <a:pPr marL="228600" indent="-228600">
              <a:buAutoNum type="arabicPeriod"/>
            </a:pPr>
            <a:endParaRPr lang="en-US" altLang="ko-KR" sz="1200"/>
          </a:p>
          <a:p>
            <a:endParaRPr lang="ko-KR" altLang="en-US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B1F6B9-3D8D-DF10-B97B-ADD093E90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6" y="1883759"/>
            <a:ext cx="6849431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554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E2EF00-CA7E-A961-BDB7-82F0AB578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장애 전파 방지 대안</a:t>
            </a:r>
            <a:r>
              <a:rPr lang="en-US" altLang="ko-KR"/>
              <a:t>1 </a:t>
            </a:r>
            <a:r>
              <a:rPr lang="ko-KR" altLang="en-US"/>
              <a:t>코드 작성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942522-35E4-E880-1FF4-7EDEF5E9EA1D}"/>
              </a:ext>
            </a:extLst>
          </p:cNvPr>
          <p:cNvSpPr txBox="1"/>
          <p:nvPr/>
        </p:nvSpPr>
        <p:spPr>
          <a:xfrm>
            <a:off x="3440430" y="1926437"/>
            <a:ext cx="6094476" cy="278537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"/users/{userId}"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retrieve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ofNullable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RestClientException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로깅 </a:t>
            </a:r>
            <a:r>
              <a:rPr lang="en-US" altLang="ko-KR" sz="12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2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예외 발생시 로그를 남겨 문제를 파악할 수 있게 해야함</a:t>
            </a:r>
            <a:endParaRPr lang="ko-KR" altLang="en-US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log.error("</a:t>
            </a:r>
            <a:r>
              <a:rPr lang="ko-KR" altLang="en-US" sz="12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사용자 정보 조회 실패</a:t>
            </a:r>
            <a:r>
              <a:rPr lang="en-US" altLang="ko-KR" sz="12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");</a:t>
            </a:r>
            <a:endParaRPr lang="ko-KR" altLang="en-US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476C6CB-8313-D423-FD6E-8A7A18984C30}"/>
              </a:ext>
            </a:extLst>
          </p:cNvPr>
          <p:cNvGrpSpPr/>
          <p:nvPr/>
        </p:nvGrpSpPr>
        <p:grpSpPr>
          <a:xfrm>
            <a:off x="388041" y="1926437"/>
            <a:ext cx="2838846" cy="1286054"/>
            <a:chOff x="388041" y="1926437"/>
            <a:chExt cx="2838846" cy="128605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F5165F8-15F1-146B-1CF8-3C2F18EBE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8041" y="1926437"/>
              <a:ext cx="2838846" cy="1286054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175332D-8B59-7449-8BB1-267840DA546F}"/>
                </a:ext>
              </a:extLst>
            </p:cNvPr>
            <p:cNvSpPr/>
            <p:nvPr/>
          </p:nvSpPr>
          <p:spPr>
            <a:xfrm>
              <a:off x="704088" y="2752344"/>
              <a:ext cx="1225296" cy="228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7B72B78-2EB5-BDFF-F34A-009BF4FE5637}"/>
              </a:ext>
            </a:extLst>
          </p:cNvPr>
          <p:cNvSpPr txBox="1"/>
          <p:nvPr/>
        </p:nvSpPr>
        <p:spPr>
          <a:xfrm>
            <a:off x="3440430" y="4828032"/>
            <a:ext cx="708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/>
              <a:t>API</a:t>
            </a:r>
            <a:r>
              <a:rPr lang="ko-KR" altLang="en-US" sz="1400"/>
              <a:t> 요청에 대한 에러는 예외처리를 하며</a:t>
            </a:r>
            <a:r>
              <a:rPr lang="en-US" altLang="ko-KR" sz="1400"/>
              <a:t>, </a:t>
            </a:r>
            <a:r>
              <a:rPr lang="ko-KR" altLang="en-US" sz="1400"/>
              <a:t>로그로 남겨야한다</a:t>
            </a:r>
            <a:r>
              <a:rPr lang="en-US" altLang="ko-KR" sz="1400"/>
              <a:t>.</a:t>
            </a:r>
          </a:p>
          <a:p>
            <a:pPr marL="342900" indent="-342900">
              <a:buAutoNum type="arabicPeriod"/>
            </a:pPr>
            <a:r>
              <a:rPr lang="ko-KR" altLang="en-US" sz="1400"/>
              <a:t>응답이 </a:t>
            </a:r>
            <a:r>
              <a:rPr lang="en-US" altLang="ko-KR" sz="1400"/>
              <a:t>null</a:t>
            </a:r>
            <a:r>
              <a:rPr lang="ko-KR" altLang="en-US" sz="1400"/>
              <a:t>일 경우의 처리를 위하여 메소드의 반환타입을 </a:t>
            </a:r>
            <a:r>
              <a:rPr lang="en-US" altLang="ko-KR" sz="1400"/>
              <a:t>Optional</a:t>
            </a:r>
            <a:r>
              <a:rPr lang="ko-KR" altLang="en-US" sz="1400"/>
              <a:t>로 변경한다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086724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7AB76-491D-CDE6-3619-D3D608C3F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70246-246C-3A57-77FE-9823AEFD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장애 전파 방지 대안</a:t>
            </a:r>
            <a:r>
              <a:rPr lang="en-US" altLang="ko-KR"/>
              <a:t>1 </a:t>
            </a:r>
            <a:r>
              <a:rPr lang="ko-KR" altLang="en-US"/>
              <a:t>코드 작성</a:t>
            </a:r>
            <a:r>
              <a:rPr lang="en-US" altLang="ko-KR"/>
              <a:t>(2)</a:t>
            </a:r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2DD26C2-779B-140C-3C4F-A0CCAC669584}"/>
              </a:ext>
            </a:extLst>
          </p:cNvPr>
          <p:cNvGrpSpPr/>
          <p:nvPr/>
        </p:nvGrpSpPr>
        <p:grpSpPr>
          <a:xfrm>
            <a:off x="388041" y="1926437"/>
            <a:ext cx="2838846" cy="1286054"/>
            <a:chOff x="388041" y="1926437"/>
            <a:chExt cx="2838846" cy="128605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A95477F-42C2-4791-6809-263A5C926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8041" y="1926437"/>
              <a:ext cx="2838846" cy="1286054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703A3AE-C890-F73D-959A-DA7C5389B243}"/>
                </a:ext>
              </a:extLst>
            </p:cNvPr>
            <p:cNvSpPr/>
            <p:nvPr/>
          </p:nvSpPr>
          <p:spPr>
            <a:xfrm>
              <a:off x="704088" y="2752344"/>
              <a:ext cx="1225296" cy="228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BF6B94F-4AC6-2250-2D29-D927663DAC10}"/>
              </a:ext>
            </a:extLst>
          </p:cNvPr>
          <p:cNvSpPr txBox="1"/>
          <p:nvPr/>
        </p:nvSpPr>
        <p:spPr>
          <a:xfrm>
            <a:off x="3334542" y="1926437"/>
            <a:ext cx="6094476" cy="47500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boardRepository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orElseThrow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altLang="ko-KR" sz="105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게시글을 찾을수 없습니다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user-service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로 부터 사용자 정보 불러오기</a:t>
            </a:r>
            <a:endParaRPr lang="ko-KR" altLang="en-US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optionalUserResponseDto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userClient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optionalUserResponseDto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isPresent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optionalUserResponseDto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응답값 조합하기</a:t>
            </a:r>
            <a:endParaRPr lang="ko-KR" altLang="en-US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getTitle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getContent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userDto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0C1810-502E-E2B9-13E0-038286E6E24A}"/>
              </a:ext>
            </a:extLst>
          </p:cNvPr>
          <p:cNvSpPr txBox="1"/>
          <p:nvPr/>
        </p:nvSpPr>
        <p:spPr>
          <a:xfrm>
            <a:off x="388041" y="3429000"/>
            <a:ext cx="28388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optional&lt;UserResponseDto&gt; </a:t>
            </a:r>
            <a:r>
              <a:rPr lang="ko-KR" altLang="en-US" sz="1200"/>
              <a:t>객체를 통해</a:t>
            </a:r>
            <a:endParaRPr lang="en-US" altLang="ko-KR" sz="1200"/>
          </a:p>
          <a:p>
            <a:r>
              <a:rPr lang="ko-KR" altLang="en-US" sz="1200"/>
              <a:t>응답 정보가 존재하는지 확인하여</a:t>
            </a:r>
            <a:r>
              <a:rPr lang="en-US" altLang="ko-KR" sz="1200"/>
              <a:t>,</a:t>
            </a:r>
            <a:br>
              <a:rPr lang="en-US" altLang="ko-KR" sz="1200"/>
            </a:br>
            <a:r>
              <a:rPr lang="ko-KR" altLang="en-US" sz="1200"/>
              <a:t>존재할 경우 </a:t>
            </a:r>
            <a:r>
              <a:rPr lang="en-US" altLang="ko-KR" sz="1200"/>
              <a:t>UserDto</a:t>
            </a:r>
            <a:r>
              <a:rPr lang="ko-KR" altLang="en-US" sz="1200"/>
              <a:t>를 셋팅하게 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존재하지 않는 경우 </a:t>
            </a:r>
            <a:r>
              <a:rPr lang="en-US" altLang="ko-KR" sz="1200"/>
              <a:t>userDto</a:t>
            </a:r>
            <a:r>
              <a:rPr lang="ko-KR" altLang="en-US" sz="1200"/>
              <a:t>의 정보는 </a:t>
            </a:r>
            <a:r>
              <a:rPr lang="en-US" altLang="ko-KR" sz="1200"/>
              <a:t>BoardResponseDto</a:t>
            </a:r>
            <a:r>
              <a:rPr lang="ko-KR" altLang="en-US" sz="1200"/>
              <a:t>에 셋팅하지 않는다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947394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F0BD19-CF4F-A285-0770-B68D321E3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장애 전파 방지 확인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4679E9C-F1AF-89F6-D91E-02FC29D5AE63}"/>
              </a:ext>
            </a:extLst>
          </p:cNvPr>
          <p:cNvGrpSpPr/>
          <p:nvPr/>
        </p:nvGrpSpPr>
        <p:grpSpPr>
          <a:xfrm>
            <a:off x="1097280" y="1985108"/>
            <a:ext cx="5372850" cy="4058216"/>
            <a:chOff x="1097280" y="1985108"/>
            <a:chExt cx="5372850" cy="405821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00CF7DA-67D1-2FCA-3CE8-192D36B52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985108"/>
              <a:ext cx="5372850" cy="4058216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CC73C2-6D04-2044-F4A7-DC1A56338CE1}"/>
                </a:ext>
              </a:extLst>
            </p:cNvPr>
            <p:cNvSpPr/>
            <p:nvPr/>
          </p:nvSpPr>
          <p:spPr>
            <a:xfrm>
              <a:off x="4901184" y="5431536"/>
              <a:ext cx="950976" cy="3108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5995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3F9CC-8AE9-2BED-2BC7-B263E520A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회원 </a:t>
            </a:r>
            <a:r>
              <a:rPr lang="en-US" altLang="ko-KR" sz="4000"/>
              <a:t>ID </a:t>
            </a:r>
            <a:r>
              <a:rPr lang="ko-KR" altLang="en-US" sz="4000"/>
              <a:t>리스트를 통한 정보조회 </a:t>
            </a:r>
            <a:r>
              <a:rPr lang="en-US" altLang="ko-KR" sz="4000"/>
              <a:t>- UserService</a:t>
            </a:r>
            <a:endParaRPr lang="ko-KR" altLang="en-US" sz="4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5CE448-FDA4-8E06-5EF4-D0DCB00C56B1}"/>
              </a:ext>
            </a:extLst>
          </p:cNvPr>
          <p:cNvSpPr txBox="1"/>
          <p:nvPr/>
        </p:nvSpPr>
        <p:spPr>
          <a:xfrm>
            <a:off x="4016502" y="1940082"/>
            <a:ext cx="6094476" cy="17081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getUsersByIds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ids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findAllById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ids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)).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09C8D62-2497-9329-4D7F-C2ED820A4F59}"/>
              </a:ext>
            </a:extLst>
          </p:cNvPr>
          <p:cNvGrpSpPr/>
          <p:nvPr/>
        </p:nvGrpSpPr>
        <p:grpSpPr>
          <a:xfrm>
            <a:off x="982783" y="1940082"/>
            <a:ext cx="2819794" cy="3296110"/>
            <a:chOff x="982783" y="1940082"/>
            <a:chExt cx="2819794" cy="329611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AA5E39A-0325-D435-E0C6-1E4E07EFA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2783" y="1940082"/>
              <a:ext cx="2819794" cy="329611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02CD480-4B9F-7B8F-C67F-FD97E96C1D4C}"/>
                </a:ext>
              </a:extLst>
            </p:cNvPr>
            <p:cNvSpPr/>
            <p:nvPr/>
          </p:nvSpPr>
          <p:spPr>
            <a:xfrm>
              <a:off x="1325880" y="4727448"/>
              <a:ext cx="1234440" cy="256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9423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A1BF73-22DC-3212-EFC7-C82C4C6CF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/>
              <a:t>회원</a:t>
            </a:r>
            <a:r>
              <a:rPr lang="en-US" altLang="ko-KR" sz="4400"/>
              <a:t>ID</a:t>
            </a:r>
            <a:r>
              <a:rPr lang="ko-KR" altLang="en-US" sz="4400"/>
              <a:t>리스트를 통한 정보조회</a:t>
            </a:r>
            <a:r>
              <a:rPr lang="en-US" altLang="ko-KR" sz="4400"/>
              <a:t>-Controller</a:t>
            </a:r>
            <a:endParaRPr lang="ko-KR" altLang="en-US" sz="440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0EAA9F4-4BC7-4971-C42D-A98EA51947BA}"/>
              </a:ext>
            </a:extLst>
          </p:cNvPr>
          <p:cNvGrpSpPr/>
          <p:nvPr/>
        </p:nvGrpSpPr>
        <p:grpSpPr>
          <a:xfrm>
            <a:off x="982783" y="1940082"/>
            <a:ext cx="2819794" cy="3296110"/>
            <a:chOff x="982783" y="1940082"/>
            <a:chExt cx="2819794" cy="329611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BD5D312-1CAB-6289-53B2-9C0EF887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2783" y="1940082"/>
              <a:ext cx="2819794" cy="329611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44FE1F7-D67B-0B87-E2B6-1C618900F19D}"/>
                </a:ext>
              </a:extLst>
            </p:cNvPr>
            <p:cNvSpPr/>
            <p:nvPr/>
          </p:nvSpPr>
          <p:spPr>
            <a:xfrm>
              <a:off x="1353312" y="2852928"/>
              <a:ext cx="1307592" cy="228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F9EAED6-F1BF-3237-7342-58DAD03C6270}"/>
              </a:ext>
            </a:extLst>
          </p:cNvPr>
          <p:cNvSpPr txBox="1"/>
          <p:nvPr/>
        </p:nvSpPr>
        <p:spPr>
          <a:xfrm>
            <a:off x="3998214" y="1940082"/>
            <a:ext cx="6094476" cy="13388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GetMapping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getUsersByIds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RequestParam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"ids"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ids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userResponseDtos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getUsersByIds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ids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266387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3FDF1A-4B7D-6E25-F755-B75CDE149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회원</a:t>
            </a:r>
            <a:r>
              <a:rPr lang="en-US" altLang="ko-KR"/>
              <a:t>Ids </a:t>
            </a:r>
            <a:r>
              <a:rPr lang="ko-KR" altLang="en-US"/>
              <a:t>조회 테스트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7DD790-E2F3-C4AC-B26E-3301DC1B3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10936"/>
            <a:ext cx="7297168" cy="228631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947B4D4-95FF-3ABC-D615-59C2E8C16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70831"/>
            <a:ext cx="8840434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428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A9479F-C12D-2C8C-9FA7-F289234D9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사용자 서비스 리스트 조회 요청 코드작성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D0A09B7-C022-949A-E9C3-0333946F2620}"/>
              </a:ext>
            </a:extLst>
          </p:cNvPr>
          <p:cNvGrpSpPr/>
          <p:nvPr/>
        </p:nvGrpSpPr>
        <p:grpSpPr>
          <a:xfrm>
            <a:off x="258878" y="1929272"/>
            <a:ext cx="2896004" cy="4334480"/>
            <a:chOff x="460046" y="1929272"/>
            <a:chExt cx="2896004" cy="433448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D518522-7165-C80A-2BD9-4E9E8498D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0046" y="1929272"/>
              <a:ext cx="2896004" cy="433448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7C4E88B-CE3D-8269-EFA8-088525167C31}"/>
                </a:ext>
              </a:extLst>
            </p:cNvPr>
            <p:cNvSpPr/>
            <p:nvPr/>
          </p:nvSpPr>
          <p:spPr>
            <a:xfrm>
              <a:off x="859536" y="2816352"/>
              <a:ext cx="1069848" cy="228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33E1629-023E-5956-073C-6BD0044F95E0}"/>
              </a:ext>
            </a:extLst>
          </p:cNvPr>
          <p:cNvSpPr txBox="1"/>
          <p:nvPr/>
        </p:nvSpPr>
        <p:spPr>
          <a:xfrm>
            <a:off x="3269542" y="1929272"/>
            <a:ext cx="5767578" cy="33010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fetchUsersByIds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ids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uriBuilder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uriBuilder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"/users"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queryParam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"ids"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ids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retrieve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ParameterizedTypeReference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&lt;&gt;(){});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RestClientException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로깅 </a:t>
            </a:r>
            <a:r>
              <a:rPr lang="en-US" altLang="ko-KR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예외 발생시 로그를 남겨 문제를 파악할 수 있게 해야함</a:t>
            </a:r>
            <a:endParaRPr lang="ko-KR" altLang="en-US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log.error("</a:t>
            </a:r>
            <a:r>
              <a:rPr lang="ko-KR" altLang="en-US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사용자 정보 조회 실패</a:t>
            </a:r>
            <a:r>
              <a:rPr lang="en-US" altLang="ko-KR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");</a:t>
            </a:r>
            <a:endParaRPr lang="ko-KR" altLang="en-US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Collections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emptyList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84FEF0-AD8D-DFEA-0777-6B2839AE4959}"/>
              </a:ext>
            </a:extLst>
          </p:cNvPr>
          <p:cNvSpPr txBox="1"/>
          <p:nvPr/>
        </p:nvSpPr>
        <p:spPr>
          <a:xfrm>
            <a:off x="3269542" y="5321808"/>
            <a:ext cx="84347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ParameterizedTypeReference&lt;&gt;(){} – </a:t>
            </a:r>
            <a:r>
              <a:rPr lang="ko-KR" altLang="en-US"/>
              <a:t>공식문서에서 권장하는 사양</a:t>
            </a:r>
            <a:br>
              <a:rPr lang="en-US" altLang="ko-KR"/>
            </a:br>
            <a:r>
              <a:rPr lang="en-US" altLang="ko-KR"/>
              <a:t>                                                                  </a:t>
            </a:r>
            <a:r>
              <a:rPr lang="ko-KR" altLang="en-US"/>
              <a:t>반환하려는 데이터 정보를 감지하여</a:t>
            </a:r>
            <a:r>
              <a:rPr lang="en-US" altLang="ko-KR"/>
              <a:t>,</a:t>
            </a:r>
            <a:br>
              <a:rPr lang="en-US" altLang="ko-KR"/>
            </a:br>
            <a:r>
              <a:rPr lang="en-US" altLang="ko-KR"/>
              <a:t>                                                                  </a:t>
            </a:r>
            <a:r>
              <a:rPr lang="ko-KR" altLang="en-US"/>
              <a:t>응답데이터를 맵핑해 줌 </a:t>
            </a:r>
          </a:p>
        </p:txBody>
      </p:sp>
    </p:spTree>
    <p:extLst>
      <p:ext uri="{BB962C8B-B14F-4D97-AF65-F5344CB8AC3E}">
        <p14:creationId xmlns:p14="http://schemas.microsoft.com/office/powerpoint/2010/main" val="32992588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0979D-0E31-2986-3B30-F8D65578F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FB2B0-CA48-C65C-EAE3-8048DBB58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사용자 서비스 리스트 조회 요청 코드작성</a:t>
            </a:r>
            <a:r>
              <a:rPr lang="en-US" altLang="ko-KR" sz="4000"/>
              <a:t>(2)</a:t>
            </a:r>
            <a:endParaRPr lang="ko-KR" altLang="en-US" sz="40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0A697C-3462-7729-BC00-D8BA28D59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90" y="1803773"/>
            <a:ext cx="5056057" cy="47676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92956F-B5AD-2746-520D-36F7209D1C70}"/>
              </a:ext>
            </a:extLst>
          </p:cNvPr>
          <p:cNvSpPr txBox="1"/>
          <p:nvPr/>
        </p:nvSpPr>
        <p:spPr>
          <a:xfrm>
            <a:off x="6329747" y="1803773"/>
            <a:ext cx="55848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RequestParam </a:t>
            </a:r>
            <a:r>
              <a:rPr lang="ko-KR" altLang="en-US" sz="1200"/>
              <a:t>을 </a:t>
            </a:r>
            <a:r>
              <a:rPr lang="en-US" altLang="ko-KR" sz="1200"/>
              <a:t>List&lt;Long&gt; ids </a:t>
            </a:r>
            <a:r>
              <a:rPr lang="ko-KR" altLang="en-US" sz="1200"/>
              <a:t>로 받을 때</a:t>
            </a:r>
            <a:r>
              <a:rPr lang="en-US" altLang="ko-KR" sz="1200"/>
              <a:t>,</a:t>
            </a:r>
          </a:p>
          <a:p>
            <a:endParaRPr lang="en-US" altLang="ko-KR" sz="1200"/>
          </a:p>
          <a:p>
            <a:r>
              <a:rPr lang="en-US" altLang="ko-KR" sz="1200"/>
              <a:t>?ids=1&amp;ids=2&amp;ids=3 </a:t>
            </a:r>
            <a:r>
              <a:rPr lang="ko-KR" altLang="en-US" sz="1200"/>
              <a:t>형태로 리스트를 전송할지</a:t>
            </a:r>
            <a:br>
              <a:rPr lang="en-US" altLang="ko-KR" sz="1200"/>
            </a:br>
            <a:r>
              <a:rPr lang="en-US" altLang="ko-KR" sz="1200"/>
              <a:t>?ids=1,2,3 </a:t>
            </a:r>
            <a:r>
              <a:rPr lang="ko-KR" altLang="en-US" sz="1200"/>
              <a:t>형태로 리스트를 전송할지 알 지 못함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어떤 형태든 대응가능하도록 </a:t>
            </a:r>
            <a:r>
              <a:rPr lang="en-US" altLang="ko-KR" sz="1200"/>
              <a:t>.path().queryParam() </a:t>
            </a:r>
            <a:r>
              <a:rPr lang="ko-KR" altLang="en-US" sz="1200"/>
              <a:t>빌더 메소드를 사용하여</a:t>
            </a:r>
            <a:endParaRPr lang="en-US" altLang="ko-KR" sz="1200"/>
          </a:p>
          <a:p>
            <a:r>
              <a:rPr lang="en-US" altLang="ko-KR" sz="1200"/>
              <a:t>URI</a:t>
            </a:r>
            <a:r>
              <a:rPr lang="ko-KR" altLang="en-US" sz="1200"/>
              <a:t>를 프로그래밍 방식으로 조립하여 사용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046222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48327-8A2E-B8F8-EC75-3B3DD3213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286603"/>
            <a:ext cx="10058400" cy="1450757"/>
          </a:xfrm>
        </p:spPr>
        <p:txBody>
          <a:bodyPr>
            <a:normAutofit/>
          </a:bodyPr>
          <a:lstStyle/>
          <a:p>
            <a:r>
              <a:rPr lang="ko-KR" altLang="en-US" sz="4000"/>
              <a:t>게시판 서비스 </a:t>
            </a:r>
            <a:r>
              <a:rPr lang="en-US" altLang="ko-KR" sz="4000"/>
              <a:t>– </a:t>
            </a:r>
            <a:r>
              <a:rPr lang="ko-KR" altLang="en-US" sz="4000"/>
              <a:t>게시판 목록 조회 메서드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472D81-A618-AEA9-30DA-0AAD282F4BB7}"/>
              </a:ext>
            </a:extLst>
          </p:cNvPr>
          <p:cNvSpPr txBox="1"/>
          <p:nvPr/>
        </p:nvSpPr>
        <p:spPr>
          <a:xfrm>
            <a:off x="3871722" y="1737360"/>
            <a:ext cx="6094476" cy="511935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boardRepository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findAll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userIds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distinct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userResponseDtos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</a:t>
            </a: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       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userClient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fetchUsersByIds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userId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를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로 하는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Map </a:t>
            </a:r>
            <a:r>
              <a:rPr lang="ko-KR" altLang="en-US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생성</a:t>
            </a:r>
            <a:endParaRPr lang="ko-KR" altLang="en-US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userMap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userResponseDtos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Collectors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toMap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getTitle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getContent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userMap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F0D929B-334D-9F40-EFD2-6E1E8C795776}"/>
              </a:ext>
            </a:extLst>
          </p:cNvPr>
          <p:cNvGrpSpPr/>
          <p:nvPr/>
        </p:nvGrpSpPr>
        <p:grpSpPr>
          <a:xfrm>
            <a:off x="889814" y="1856120"/>
            <a:ext cx="2896004" cy="4334480"/>
            <a:chOff x="496622" y="2039000"/>
            <a:chExt cx="2896004" cy="433448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E8ED3D4-ADA1-24A8-5A75-5E431C3BC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6622" y="2039000"/>
              <a:ext cx="2896004" cy="433448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9E0D029-E5BE-7BEE-13CA-E5F5663A752E}"/>
                </a:ext>
              </a:extLst>
            </p:cNvPr>
            <p:cNvSpPr/>
            <p:nvPr/>
          </p:nvSpPr>
          <p:spPr>
            <a:xfrm>
              <a:off x="923544" y="4992624"/>
              <a:ext cx="1234440" cy="256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85FD8DBD-3882-2DF4-E625-E63AD738A776}"/>
              </a:ext>
            </a:extLst>
          </p:cNvPr>
          <p:cNvSpPr/>
          <p:nvPr/>
        </p:nvSpPr>
        <p:spPr>
          <a:xfrm>
            <a:off x="8503920" y="1856120"/>
            <a:ext cx="3044952" cy="11431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List&lt;Board&gt; </a:t>
            </a:r>
            <a:r>
              <a:rPr lang="ko-KR" altLang="en-US" sz="1400"/>
              <a:t>정보의 </a:t>
            </a:r>
            <a:r>
              <a:rPr lang="en-US" altLang="ko-KR" sz="1400"/>
              <a:t>userId </a:t>
            </a:r>
            <a:r>
              <a:rPr lang="ko-KR" altLang="en-US" sz="1400"/>
              <a:t>정보만을 중복제거하여 리스트화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C61427-36C9-2E5C-CA1B-54E5A06C7C19}"/>
              </a:ext>
            </a:extLst>
          </p:cNvPr>
          <p:cNvSpPr/>
          <p:nvPr/>
        </p:nvSpPr>
        <p:spPr>
          <a:xfrm>
            <a:off x="8610600" y="3572144"/>
            <a:ext cx="3044952" cy="11431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UserId : UserResponseDto</a:t>
            </a:r>
            <a:br>
              <a:rPr lang="en-US" altLang="ko-KR" sz="1400"/>
            </a:br>
            <a:r>
              <a:rPr lang="ko-KR" altLang="en-US" sz="1400"/>
              <a:t>형태의 </a:t>
            </a:r>
            <a:r>
              <a:rPr lang="en-US" altLang="ko-KR" sz="1400"/>
              <a:t>Map </a:t>
            </a:r>
            <a:r>
              <a:rPr lang="ko-KR" altLang="en-US" sz="1400"/>
              <a:t>자료구조 맵핑</a:t>
            </a:r>
            <a:r>
              <a:rPr lang="en-US" altLang="ko-KR" sz="1400"/>
              <a:t> </a:t>
            </a:r>
            <a:endParaRPr lang="ko-KR" altLang="en-US" sz="14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D3FE5D6-EF74-D35F-F85D-9742B3C22C0F}"/>
              </a:ext>
            </a:extLst>
          </p:cNvPr>
          <p:cNvSpPr/>
          <p:nvPr/>
        </p:nvSpPr>
        <p:spPr>
          <a:xfrm>
            <a:off x="8610600" y="5214427"/>
            <a:ext cx="3044952" cy="11431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List&lt;BoardResponseDto&gt; </a:t>
            </a:r>
            <a:r>
              <a:rPr lang="ko-KR" altLang="en-US" sz="1400"/>
              <a:t>맵핑</a:t>
            </a:r>
          </a:p>
        </p:txBody>
      </p:sp>
    </p:spTree>
    <p:extLst>
      <p:ext uri="{BB962C8B-B14F-4D97-AF65-F5344CB8AC3E}">
        <p14:creationId xmlns:p14="http://schemas.microsoft.com/office/powerpoint/2010/main" val="1625598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6F258-5552-D29D-C3F5-E8475AEDE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게시판 서비스 </a:t>
            </a:r>
            <a:r>
              <a:rPr lang="en-US" altLang="ko-KR" sz="4000"/>
              <a:t>– </a:t>
            </a:r>
            <a:r>
              <a:rPr lang="ko-KR" altLang="en-US" sz="4000"/>
              <a:t>게시판 목록 정보 반환</a:t>
            </a:r>
            <a:r>
              <a:rPr lang="en-US" altLang="ko-KR" sz="4000"/>
              <a:t>API</a:t>
            </a:r>
            <a:endParaRPr lang="ko-KR" altLang="en-US" sz="4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1CB985-5A8A-C3D9-84A5-FD5625DD6453}"/>
              </a:ext>
            </a:extLst>
          </p:cNvPr>
          <p:cNvSpPr txBox="1"/>
          <p:nvPr/>
        </p:nvSpPr>
        <p:spPr>
          <a:xfrm>
            <a:off x="3943350" y="1883552"/>
            <a:ext cx="8108442" cy="97808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GetMapping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BoardResponseDto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boardResponseDtos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boardService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getBoards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boardResponseDtos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2957135-8519-5CEB-E661-0FACE996205E}"/>
              </a:ext>
            </a:extLst>
          </p:cNvPr>
          <p:cNvGrpSpPr/>
          <p:nvPr/>
        </p:nvGrpSpPr>
        <p:grpSpPr>
          <a:xfrm>
            <a:off x="889814" y="1856120"/>
            <a:ext cx="2896004" cy="4334480"/>
            <a:chOff x="496622" y="2039000"/>
            <a:chExt cx="2896004" cy="433448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B76A6DF-CB6A-93F2-0122-8BED1F8AA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6622" y="2039000"/>
              <a:ext cx="2896004" cy="4334480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3AC2EDC-CC45-DAC3-07B1-64204AE0FC1B}"/>
                </a:ext>
              </a:extLst>
            </p:cNvPr>
            <p:cNvSpPr/>
            <p:nvPr/>
          </p:nvSpPr>
          <p:spPr>
            <a:xfrm>
              <a:off x="958114" y="3355848"/>
              <a:ext cx="1291310" cy="1932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50458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B7627-6D52-F607-A3A7-E991C0AB3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게시판 목록 정보 반환 </a:t>
            </a:r>
            <a:r>
              <a:rPr lang="en-US" altLang="ko-KR"/>
              <a:t>API </a:t>
            </a:r>
            <a:r>
              <a:rPr lang="ko-KR" altLang="en-US"/>
              <a:t>테스트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D220B3-1C42-C640-986D-A9733526E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67" y="1888698"/>
            <a:ext cx="7734222" cy="419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87825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210</TotalTime>
  <Words>2175</Words>
  <Application>Microsoft Office PowerPoint</Application>
  <PresentationFormat>와이드스크린</PresentationFormat>
  <Paragraphs>368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6" baseType="lpstr">
      <vt:lpstr>Calibri</vt:lpstr>
      <vt:lpstr>Calibri Light</vt:lpstr>
      <vt:lpstr>Consolas</vt:lpstr>
      <vt:lpstr>추억</vt:lpstr>
      <vt:lpstr>데이터 조회 API 구현</vt:lpstr>
      <vt:lpstr>사용자 조회 API</vt:lpstr>
      <vt:lpstr>게시글 조회 API</vt:lpstr>
      <vt:lpstr>게시글 전체조회 API</vt:lpstr>
      <vt:lpstr>모놀리식 FK 정보 처리</vt:lpstr>
      <vt:lpstr>MSA FK 정보 처리</vt:lpstr>
      <vt:lpstr>사용자 조회 API – UserResponseDto 작성</vt:lpstr>
      <vt:lpstr>사용자 조회 API – UserService 조회메소드</vt:lpstr>
      <vt:lpstr>사용자 조회 API – UserController 조회 API</vt:lpstr>
      <vt:lpstr>사용자 조회 API 테스트</vt:lpstr>
      <vt:lpstr>게시글 조회 API – 통신 서비스 정보 설정</vt:lpstr>
      <vt:lpstr>게시글 조회 API - BoardResponseDto</vt:lpstr>
      <vt:lpstr>게시글 조회 API - UserDto</vt:lpstr>
      <vt:lpstr>게시글 조회 API - UserResponseDto</vt:lpstr>
      <vt:lpstr>게시글 조회 API – UserService통신을 위한 Component 작성</vt:lpstr>
      <vt:lpstr>게시글 조회 API –BoardService 게시글 조회 메소드 작성</vt:lpstr>
      <vt:lpstr>게시글 조회 API – BoardController</vt:lpstr>
      <vt:lpstr>게시글 조회 API 테스트</vt:lpstr>
      <vt:lpstr>장애 전파 상황 예시</vt:lpstr>
      <vt:lpstr>장애 전파 방지 대안1</vt:lpstr>
      <vt:lpstr>장애 전파 방지 대안2</vt:lpstr>
      <vt:lpstr>장애 전파 방지 대안1 코드 작성(1)</vt:lpstr>
      <vt:lpstr>장애 전파 방지 대안1 코드 작성(2)</vt:lpstr>
      <vt:lpstr>장애 전파 방지 확인</vt:lpstr>
      <vt:lpstr>회원 ID 리스트를 통한 정보조회 - UserService</vt:lpstr>
      <vt:lpstr>회원ID리스트를 통한 정보조회-Controller</vt:lpstr>
      <vt:lpstr>회원Ids 조회 테스트</vt:lpstr>
      <vt:lpstr>사용자 서비스 리스트 조회 요청 코드작성</vt:lpstr>
      <vt:lpstr>사용자 서비스 리스트 조회 요청 코드작성(2)</vt:lpstr>
      <vt:lpstr>게시판 서비스 – 게시판 목록 조회 메서드</vt:lpstr>
      <vt:lpstr>게시판 서비스 – 게시판 목록 정보 반환API</vt:lpstr>
      <vt:lpstr>게시판 목록 정보 반환 API 테스트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72</cp:revision>
  <dcterms:created xsi:type="dcterms:W3CDTF">2026-08-09T11:47:57Z</dcterms:created>
  <dcterms:modified xsi:type="dcterms:W3CDTF">2026-08-09T15:30:30Z</dcterms:modified>
</cp:coreProperties>
</file>