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60F1ED9-0D18-4ACD-9182-0E759DF0EA38}">
          <p14:sldIdLst>
            <p14:sldId id="256"/>
          </p14:sldIdLst>
        </p14:section>
        <p14:section name="포인트 서비스 추가" id="{2B7E1EAE-DB81-4616-8701-1A0C1B39B65D}">
          <p14:sldIdLst>
            <p14:sldId id="257"/>
            <p14:sldId id="258"/>
            <p14:sldId id="259"/>
          </p14:sldIdLst>
        </p14:section>
        <p14:section name="Point Service Application 생성" id="{A79E5DC6-D60E-4E9D-8E49-D50833405591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38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615CB-D153-4933-B705-2389AE6E07ED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E5AA-342D-4C77-93AB-BE42CFCD7262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7134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615CB-D153-4933-B705-2389AE6E07ED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E5AA-342D-4C77-93AB-BE42CFCD7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6017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615CB-D153-4933-B705-2389AE6E07ED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E5AA-342D-4C77-93AB-BE42CFCD7262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7795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615CB-D153-4933-B705-2389AE6E07ED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E5AA-342D-4C77-93AB-BE42CFCD7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70158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615CB-D153-4933-B705-2389AE6E07ED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E5AA-342D-4C77-93AB-BE42CFCD7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693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615CB-D153-4933-B705-2389AE6E07ED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E5AA-342D-4C77-93AB-BE42CFCD7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8997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615CB-D153-4933-B705-2389AE6E07ED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E5AA-342D-4C77-93AB-BE42CFCD7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33783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041615CB-D153-4933-B705-2389AE6E07ED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ED0E5AA-342D-4C77-93AB-BE42CFCD7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4297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615CB-D153-4933-B705-2389AE6E07ED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E5AA-342D-4C77-93AB-BE42CFCD7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64832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615CB-D153-4933-B705-2389AE6E07ED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E5AA-342D-4C77-93AB-BE42CFCD7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514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615CB-D153-4933-B705-2389AE6E07ED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E5AA-342D-4C77-93AB-BE42CFCD72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24160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41615CB-D153-4933-B705-2389AE6E07ED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ED0E5AA-342D-4C77-93AB-BE42CFCD7262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1167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42AFFB-DFFD-3467-F07B-73C3DFD6A6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6000"/>
              <a:t>데이터 쓰기 </a:t>
            </a:r>
            <a:r>
              <a:rPr lang="en-US" altLang="ko-KR" sz="6000"/>
              <a:t>API </a:t>
            </a:r>
            <a:r>
              <a:rPr lang="ko-KR" altLang="en-US" sz="6000"/>
              <a:t>구현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BC7F18B-5026-91D8-2FB1-4F69D35E20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5312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FD896F-E044-DEC3-7DE4-69A889524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회원가입 </a:t>
            </a:r>
            <a:r>
              <a:rPr lang="en-US" altLang="ko-KR"/>
              <a:t>API </a:t>
            </a:r>
            <a:r>
              <a:rPr lang="ko-KR" altLang="en-US"/>
              <a:t>변경사항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7A1C9B7-8D77-ADDD-1668-0994168E1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31058"/>
            <a:ext cx="6447110" cy="27095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AE1DFD4-A679-26E1-17A6-C898E8C05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4673" y="1931058"/>
            <a:ext cx="2981741" cy="311511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30895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95DC44-A3B8-735F-8EAF-4AE6875DE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포인트 서비스 구성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A2FEE42-B6E5-750A-9185-9A38C76F8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74520"/>
            <a:ext cx="5280348" cy="364000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0AFB196-481B-CD4C-1E24-E60FC60A5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3452" y="1874520"/>
            <a:ext cx="5569222" cy="42760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2916D2CD-D18E-C67A-B517-B6BD1DC0E5D6}"/>
              </a:ext>
            </a:extLst>
          </p:cNvPr>
          <p:cNvSpPr/>
          <p:nvPr/>
        </p:nvSpPr>
        <p:spPr>
          <a:xfrm>
            <a:off x="8631936" y="2267712"/>
            <a:ext cx="3319272" cy="28072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1.</a:t>
            </a:r>
            <a:r>
              <a:rPr lang="ko-KR" altLang="en-US" sz="1400"/>
              <a:t>게시글은 포인트를 통해 작성</a:t>
            </a:r>
            <a:br>
              <a:rPr lang="en-US" altLang="ko-KR" sz="1400"/>
            </a:br>
            <a:r>
              <a:rPr lang="en-US" altLang="ko-KR" sz="1400"/>
              <a:t>2. </a:t>
            </a:r>
            <a:r>
              <a:rPr lang="ko-KR" altLang="en-US" sz="1400"/>
              <a:t>포인트 차감 </a:t>
            </a:r>
            <a:r>
              <a:rPr lang="en-US" altLang="ko-KR" sz="1400"/>
              <a:t>-&gt; </a:t>
            </a:r>
            <a:r>
              <a:rPr lang="ko-KR" altLang="en-US" sz="1400"/>
              <a:t>활동 점수 적립</a:t>
            </a:r>
          </a:p>
        </p:txBody>
      </p:sp>
    </p:spTree>
    <p:extLst>
      <p:ext uri="{BB962C8B-B14F-4D97-AF65-F5344CB8AC3E}">
        <p14:creationId xmlns:p14="http://schemas.microsoft.com/office/powerpoint/2010/main" val="3319257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D06304-7F1A-D7CE-591C-9477E8887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아키텍쳐 구성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5723255-E585-E377-6E0B-BF7DD4BA9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08" y="1816427"/>
            <a:ext cx="6267884" cy="49678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B40C106-C253-11D4-75EA-97D88303CE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9552" y="3121785"/>
            <a:ext cx="6456326" cy="26297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80879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BC4C1D-3DFB-2D6B-03C8-4358C861F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DB</a:t>
            </a:r>
            <a:r>
              <a:rPr lang="ko-KR" altLang="en-US"/>
              <a:t> 구성 추가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EC67EC-F604-0B0C-A4F4-89F2460C14F5}"/>
              </a:ext>
            </a:extLst>
          </p:cNvPr>
          <p:cNvSpPr txBox="1"/>
          <p:nvPr/>
        </p:nvSpPr>
        <p:spPr>
          <a:xfrm>
            <a:off x="1097280" y="1785882"/>
            <a:ext cx="75140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/>
              <a:t>docker run -d --name msa_db3 -e MYSQL_ROOT_PASSWORD=password -p 3322:3306 -d mysql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ACDDC8-1617-FA1E-1DC0-E82807542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215" y="2162333"/>
            <a:ext cx="9250066" cy="466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5B97D95-9F00-8A5F-3C0F-0ADCDD1E77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215" y="2828764"/>
            <a:ext cx="6057604" cy="3818924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EACDA89E-3B44-EEA9-E66B-6BAC44B64677}"/>
              </a:ext>
            </a:extLst>
          </p:cNvPr>
          <p:cNvGrpSpPr/>
          <p:nvPr/>
        </p:nvGrpSpPr>
        <p:grpSpPr>
          <a:xfrm>
            <a:off x="7501544" y="2828764"/>
            <a:ext cx="4130861" cy="3128832"/>
            <a:chOff x="7501544" y="2828764"/>
            <a:chExt cx="4130861" cy="3128832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BAFFD87-1366-9BF5-D4A3-22622E4A48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45610" y="4738226"/>
              <a:ext cx="4086795" cy="121937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26ED5CF8-7415-A516-25EA-0A854AE6487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01544" y="2828764"/>
              <a:ext cx="2219635" cy="162900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EADAADEA-6CFA-559F-D7AF-432F649E33D7}"/>
                </a:ext>
              </a:extLst>
            </p:cNvPr>
            <p:cNvSpPr/>
            <p:nvPr/>
          </p:nvSpPr>
          <p:spPr>
            <a:xfrm>
              <a:off x="8330184" y="3931920"/>
              <a:ext cx="1097280" cy="2246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6219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DFDCEF-8E9F-C766-07D2-DB9BEB04A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application.yml </a:t>
            </a:r>
            <a:r>
              <a:rPr lang="ko-KR" altLang="en-US"/>
              <a:t>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67BF15-B213-661D-00C4-D6BBC0963FC6}"/>
              </a:ext>
            </a:extLst>
          </p:cNvPr>
          <p:cNvSpPr txBox="1"/>
          <p:nvPr/>
        </p:nvSpPr>
        <p:spPr>
          <a:xfrm>
            <a:off x="3787902" y="1939297"/>
            <a:ext cx="6094476" cy="297940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8082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spring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dataSource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url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jdbc:mysql://localhost:3322/point-db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username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root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password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driver-class-name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com.mysql.cj.jdbc.Driver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jpa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hibernate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ddl-auto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update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show-sql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application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point-service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82884F3F-70E7-591D-8528-F2C9126EA056}"/>
              </a:ext>
            </a:extLst>
          </p:cNvPr>
          <p:cNvGrpSpPr/>
          <p:nvPr/>
        </p:nvGrpSpPr>
        <p:grpSpPr>
          <a:xfrm>
            <a:off x="588265" y="1938527"/>
            <a:ext cx="3051626" cy="4325112"/>
            <a:chOff x="588265" y="1938527"/>
            <a:chExt cx="3051626" cy="4325112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952F7C48-6327-8049-FAF4-A3DDD9D178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24812"/>
            <a:stretch>
              <a:fillRect/>
            </a:stretch>
          </p:blipFill>
          <p:spPr>
            <a:xfrm>
              <a:off x="588265" y="1938527"/>
              <a:ext cx="3051626" cy="4325112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BBE219DF-C4AB-075A-DAB1-191EA318BFAB}"/>
                </a:ext>
              </a:extLst>
            </p:cNvPr>
            <p:cNvSpPr/>
            <p:nvPr/>
          </p:nvSpPr>
          <p:spPr>
            <a:xfrm>
              <a:off x="786384" y="5897880"/>
              <a:ext cx="1051560" cy="2286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58799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239E98-9C5E-E95E-ACBF-70D3E00C1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Point Entity </a:t>
            </a:r>
            <a:r>
              <a:rPr lang="ko-KR" altLang="en-US"/>
              <a:t>작성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9A519A5-E716-909B-0ED2-053F4DF0D149}"/>
              </a:ext>
            </a:extLst>
          </p:cNvPr>
          <p:cNvGrpSpPr/>
          <p:nvPr/>
        </p:nvGrpSpPr>
        <p:grpSpPr>
          <a:xfrm>
            <a:off x="962615" y="1826305"/>
            <a:ext cx="2457793" cy="3810532"/>
            <a:chOff x="962615" y="1826305"/>
            <a:chExt cx="2457793" cy="3810532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81A9F5F-136C-E69E-85ED-2F5839F651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2615" y="1826305"/>
              <a:ext cx="2457793" cy="3810532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C8042E71-3F4B-4092-6CEE-CBD4191DB1D2}"/>
                </a:ext>
              </a:extLst>
            </p:cNvPr>
            <p:cNvSpPr/>
            <p:nvPr/>
          </p:nvSpPr>
          <p:spPr>
            <a:xfrm>
              <a:off x="1325880" y="3118104"/>
              <a:ext cx="813816" cy="23774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891489C-FBAE-C7E7-9DBC-4A847D54DF08}"/>
              </a:ext>
            </a:extLst>
          </p:cNvPr>
          <p:cNvSpPr txBox="1"/>
          <p:nvPr/>
        </p:nvSpPr>
        <p:spPr>
          <a:xfrm>
            <a:off x="7598664" y="1826305"/>
            <a:ext cx="43434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도메인 주도 개발</a:t>
            </a:r>
            <a:r>
              <a:rPr lang="en-US" altLang="ko-KR" sz="1400"/>
              <a:t> – </a:t>
            </a:r>
            <a:br>
              <a:rPr lang="en-US" altLang="ko-KR" sz="1400"/>
            </a:br>
            <a:r>
              <a:rPr lang="ko-KR" altLang="en-US" sz="1400"/>
              <a:t>엔티티가 자신의 상태와 불변식을 스스로 관리하도록 하여 객체가 항상 유효한 상태를 유지하도록 하는 설계 방식</a:t>
            </a:r>
            <a:r>
              <a:rPr lang="en-US" altLang="ko-KR" sz="1400"/>
              <a:t>.</a:t>
            </a:r>
          </a:p>
          <a:p>
            <a:endParaRPr lang="en-US" altLang="ko-KR" sz="1400"/>
          </a:p>
          <a:p>
            <a:r>
              <a:rPr lang="en-US" altLang="ko-KR" sz="1400"/>
              <a:t>Point</a:t>
            </a:r>
            <a:r>
              <a:rPr lang="ko-KR" altLang="en-US" sz="1400"/>
              <a:t>의 차감가 합계는 불변식이고 자신의 정보</a:t>
            </a:r>
            <a:r>
              <a:rPr lang="en-US" altLang="ko-KR" sz="1400"/>
              <a:t>(</a:t>
            </a:r>
            <a:r>
              <a:rPr lang="ko-KR" altLang="en-US" sz="1400"/>
              <a:t>상태</a:t>
            </a:r>
            <a:r>
              <a:rPr lang="en-US" altLang="ko-KR" sz="1400"/>
              <a:t>)</a:t>
            </a:r>
            <a:r>
              <a:rPr lang="ko-KR" altLang="en-US" sz="1400"/>
              <a:t>를 스스로 관리하도록 함</a:t>
            </a:r>
            <a:r>
              <a:rPr lang="en-US" altLang="ko-KR" sz="1400"/>
              <a:t>.</a:t>
            </a:r>
            <a:endParaRPr lang="ko-KR" altLang="en-US" sz="1400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6E82DC9F-D25F-A726-FE1C-08AC5E7CA87A}"/>
              </a:ext>
            </a:extLst>
          </p:cNvPr>
          <p:cNvGrpSpPr/>
          <p:nvPr/>
        </p:nvGrpSpPr>
        <p:grpSpPr>
          <a:xfrm>
            <a:off x="3604865" y="1826305"/>
            <a:ext cx="3856639" cy="4970124"/>
            <a:chOff x="3604865" y="1826305"/>
            <a:chExt cx="3856639" cy="497012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1A83447-9FE3-C031-B1FF-92B250B6A7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04865" y="1826305"/>
              <a:ext cx="3856639" cy="497012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2E107D83-594D-8232-06E0-4B5A743E41C1}"/>
                </a:ext>
              </a:extLst>
            </p:cNvPr>
            <p:cNvSpPr/>
            <p:nvPr/>
          </p:nvSpPr>
          <p:spPr>
            <a:xfrm>
              <a:off x="4160520" y="5522976"/>
              <a:ext cx="2478024" cy="117043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9425022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5C5116-71F1-E60A-F35D-7254BA248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PointRepository </a:t>
            </a:r>
            <a:r>
              <a:rPr lang="ko-KR" altLang="en-US"/>
              <a:t>인터페이스 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F85AE9-3FB4-84FC-9A2B-85D977DBC587}"/>
              </a:ext>
            </a:extLst>
          </p:cNvPr>
          <p:cNvSpPr txBox="1"/>
          <p:nvPr/>
        </p:nvSpPr>
        <p:spPr>
          <a:xfrm>
            <a:off x="4400550" y="1946668"/>
            <a:ext cx="5575554" cy="63094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PointRepository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extends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JpaRepository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&gt;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findByUserId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7850397-5010-453F-99C8-379190F3D241}"/>
              </a:ext>
            </a:extLst>
          </p:cNvPr>
          <p:cNvGrpSpPr/>
          <p:nvPr/>
        </p:nvGrpSpPr>
        <p:grpSpPr>
          <a:xfrm>
            <a:off x="1330810" y="1946668"/>
            <a:ext cx="2896004" cy="4001058"/>
            <a:chOff x="1330810" y="1946668"/>
            <a:chExt cx="2896004" cy="4001058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6BE2D762-0CAD-A46E-E5D6-2E4599E695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30810" y="1946668"/>
              <a:ext cx="2896004" cy="4001058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2297683-A287-6069-4C7F-E30B6A28F107}"/>
                </a:ext>
              </a:extLst>
            </p:cNvPr>
            <p:cNvSpPr/>
            <p:nvPr/>
          </p:nvSpPr>
          <p:spPr>
            <a:xfrm>
              <a:off x="1645920" y="3429000"/>
              <a:ext cx="1426464" cy="24688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4AE9E23-F320-5E7A-26E4-629C3D04257D}"/>
              </a:ext>
            </a:extLst>
          </p:cNvPr>
          <p:cNvSpPr txBox="1"/>
          <p:nvPr/>
        </p:nvSpPr>
        <p:spPr>
          <a:xfrm>
            <a:off x="4400550" y="2670048"/>
            <a:ext cx="7285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조회해온 </a:t>
            </a:r>
            <a:r>
              <a:rPr lang="en-US" altLang="ko-KR" sz="1400"/>
              <a:t>Point Entity</a:t>
            </a:r>
            <a:r>
              <a:rPr lang="ko-KR" altLang="en-US" sz="1400"/>
              <a:t>에 대해 </a:t>
            </a:r>
            <a:r>
              <a:rPr lang="en-US" altLang="ko-KR" sz="1400"/>
              <a:t>null</a:t>
            </a:r>
            <a:r>
              <a:rPr lang="ko-KR" altLang="en-US" sz="1400"/>
              <a:t>처리를 위한 </a:t>
            </a:r>
            <a:r>
              <a:rPr lang="en-US" altLang="ko-KR" sz="1400"/>
              <a:t>Optional </a:t>
            </a:r>
            <a:r>
              <a:rPr lang="ko-KR" altLang="en-US" sz="1400"/>
              <a:t>객체 반환</a:t>
            </a:r>
          </a:p>
        </p:txBody>
      </p:sp>
    </p:spTree>
    <p:extLst>
      <p:ext uri="{BB962C8B-B14F-4D97-AF65-F5344CB8AC3E}">
        <p14:creationId xmlns:p14="http://schemas.microsoft.com/office/powerpoint/2010/main" val="19508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6D358-44FA-5D03-BE82-6AB4A1F61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Point </a:t>
            </a:r>
            <a:r>
              <a:rPr lang="ko-KR" altLang="en-US"/>
              <a:t>합계 및 차감 </a:t>
            </a:r>
            <a:r>
              <a:rPr lang="en-US" altLang="ko-KR"/>
              <a:t>DTO </a:t>
            </a:r>
            <a:r>
              <a:rPr lang="ko-KR" altLang="en-US"/>
              <a:t>작성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EE89B63-67A7-8BE6-03FA-BD4F8AB26A6C}"/>
              </a:ext>
            </a:extLst>
          </p:cNvPr>
          <p:cNvGrpSpPr/>
          <p:nvPr/>
        </p:nvGrpSpPr>
        <p:grpSpPr>
          <a:xfrm>
            <a:off x="206098" y="1946668"/>
            <a:ext cx="2896004" cy="4001058"/>
            <a:chOff x="1330810" y="1946668"/>
            <a:chExt cx="2896004" cy="4001058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564ECB4B-0783-1AD1-DEF1-C028A28F73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30810" y="1946668"/>
              <a:ext cx="2896004" cy="4001058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A4648B6-4673-5678-EF35-C5CA49B15F60}"/>
                </a:ext>
              </a:extLst>
            </p:cNvPr>
            <p:cNvSpPr/>
            <p:nvPr/>
          </p:nvSpPr>
          <p:spPr>
            <a:xfrm>
              <a:off x="1545336" y="3639312"/>
              <a:ext cx="1938528" cy="63093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40CDF18B-8C20-8FBD-0673-FD2AAD8B5EB0}"/>
              </a:ext>
            </a:extLst>
          </p:cNvPr>
          <p:cNvSpPr txBox="1"/>
          <p:nvPr/>
        </p:nvSpPr>
        <p:spPr>
          <a:xfrm>
            <a:off x="3184398" y="1946668"/>
            <a:ext cx="4336900" cy="421307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AddPointRequestDto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AddPointRequestDto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AddPointRequestDto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setUserId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getAmount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setAmount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altLang="ko-KR" sz="105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altLang="ko-KR" sz="105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2FA667-A05F-EF34-35F2-67095FA47BB9}"/>
              </a:ext>
            </a:extLst>
          </p:cNvPr>
          <p:cNvSpPr txBox="1"/>
          <p:nvPr/>
        </p:nvSpPr>
        <p:spPr>
          <a:xfrm>
            <a:off x="7603594" y="1962876"/>
            <a:ext cx="4382308" cy="403020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DeductPointRequestDto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DeductPointRequestDto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DeductPointRequestDto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setUserId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getAmount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setAmount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amount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34981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3EF71A-8AED-7879-F799-7845EE3BE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PointService </a:t>
            </a:r>
            <a:r>
              <a:rPr lang="ko-KR" altLang="en-US"/>
              <a:t>합계</a:t>
            </a:r>
            <a:r>
              <a:rPr lang="en-US" altLang="ko-KR"/>
              <a:t>/</a:t>
            </a:r>
            <a:r>
              <a:rPr lang="ko-KR" altLang="en-US"/>
              <a:t>차감 메소드 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12E6EA-474C-C504-A74A-0EFBBEB5CC4C}"/>
              </a:ext>
            </a:extLst>
          </p:cNvPr>
          <p:cNvSpPr txBox="1"/>
          <p:nvPr/>
        </p:nvSpPr>
        <p:spPr>
          <a:xfrm>
            <a:off x="4254246" y="1849603"/>
            <a:ext cx="7322058" cy="277678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Transactional</a:t>
            </a: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addPoints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AddPointRequestDto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addPointRequestDto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pointRepository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findByUserId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addPointRequestDto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orElseGet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(() </a:t>
            </a:r>
            <a:r>
              <a:rPr lang="en-US" altLang="ko-KR" sz="11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addPointRequestDto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altLang="ko-KR" sz="11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addAmount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addPointRequestDto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getAmount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pointRepository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save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Transactional</a:t>
            </a:r>
            <a:endParaRPr lang="en-US" altLang="ko-KR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deductPoints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DeductPointRequestDto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deductPointRequestDto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pointRepository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findByUserId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deductPointRequestDto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orElseThrow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(() </a:t>
            </a:r>
            <a:r>
              <a:rPr lang="en-US" altLang="ko-KR" sz="11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IllegalArgumentException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사용자</a:t>
            </a:r>
            <a:r>
              <a:rPr lang="ko-KR" altLang="en-US" sz="1100">
                <a:solidFill>
                  <a:srgbClr val="A5D6FF"/>
                </a:solidFill>
                <a:latin typeface="Consolas" panose="020B0609020204030204" pitchFamily="49" charset="0"/>
              </a:rPr>
              <a:t>의 포인트 정보를 </a:t>
            </a:r>
            <a:r>
              <a:rPr lang="ko-KR" altLang="en-US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찾을 수 없습니다</a:t>
            </a:r>
            <a:r>
              <a:rPr lang="en-US" altLang="ko-KR" sz="11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."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deductAmount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deductPointRequestDto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getAmount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pointRepository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save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14B9663-083B-5A87-9103-F2A7F1CC4EF2}"/>
              </a:ext>
            </a:extLst>
          </p:cNvPr>
          <p:cNvGrpSpPr/>
          <p:nvPr/>
        </p:nvGrpSpPr>
        <p:grpSpPr>
          <a:xfrm>
            <a:off x="1224525" y="1836271"/>
            <a:ext cx="2848373" cy="4867954"/>
            <a:chOff x="1224525" y="1836271"/>
            <a:chExt cx="2848373" cy="486795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AAC3BF1-6E5B-1D5D-8C0A-9C1F572C04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525" y="1836271"/>
              <a:ext cx="2848373" cy="4867954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56874C5-89C0-F70D-DC9E-5128FA038947}"/>
                </a:ext>
              </a:extLst>
            </p:cNvPr>
            <p:cNvSpPr/>
            <p:nvPr/>
          </p:nvSpPr>
          <p:spPr>
            <a:xfrm>
              <a:off x="1499616" y="4370832"/>
              <a:ext cx="1271016" cy="22815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D3865DF1-12C4-A2A1-CE20-75E2C4C942B6}"/>
              </a:ext>
            </a:extLst>
          </p:cNvPr>
          <p:cNvSpPr txBox="1"/>
          <p:nvPr/>
        </p:nvSpPr>
        <p:spPr>
          <a:xfrm>
            <a:off x="4254246" y="4598985"/>
            <a:ext cx="732205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-- addPoints --</a:t>
            </a:r>
          </a:p>
          <a:p>
            <a:r>
              <a:rPr lang="en-US" altLang="ko-KR" sz="1100">
                <a:sym typeface="Wingdings" panose="05000000000000000000" pitchFamily="2" charset="2"/>
              </a:rPr>
              <a:t>orElseGet</a:t>
            </a:r>
            <a:r>
              <a:rPr lang="ko-KR" altLang="en-US" sz="1100">
                <a:sym typeface="Wingdings" panose="05000000000000000000" pitchFamily="2" charset="2"/>
              </a:rPr>
              <a:t>을 쓰는 이유 </a:t>
            </a:r>
            <a:r>
              <a:rPr lang="en-US" altLang="ko-KR" sz="1100">
                <a:sym typeface="Wingdings" panose="05000000000000000000" pitchFamily="2" charset="2"/>
              </a:rPr>
              <a:t>: </a:t>
            </a:r>
            <a:r>
              <a:rPr lang="ko-KR" altLang="en-US" sz="1100">
                <a:sym typeface="Wingdings" panose="05000000000000000000" pitchFamily="2" charset="2"/>
              </a:rPr>
              <a:t>회원에 대한 포인트 객체가 없다는 첫 회원가입 후 </a:t>
            </a:r>
            <a:r>
              <a:rPr lang="en-US" altLang="ko-KR" sz="1100">
                <a:sym typeface="Wingdings" panose="05000000000000000000" pitchFamily="2" charset="2"/>
              </a:rPr>
              <a:t>Point</a:t>
            </a:r>
            <a:r>
              <a:rPr lang="ko-KR" altLang="en-US" sz="1100">
                <a:sym typeface="Wingdings" panose="05000000000000000000" pitchFamily="2" charset="2"/>
              </a:rPr>
              <a:t>에 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                      </a:t>
            </a:r>
            <a:r>
              <a:rPr lang="ko-KR" altLang="en-US" sz="1100">
                <a:sym typeface="Wingdings" panose="05000000000000000000" pitchFamily="2" charset="2"/>
              </a:rPr>
              <a:t>대한 어떠한 조작</a:t>
            </a:r>
            <a:r>
              <a:rPr lang="en-US" altLang="ko-KR" sz="1100">
                <a:sym typeface="Wingdings" panose="05000000000000000000" pitchFamily="2" charset="2"/>
              </a:rPr>
              <a:t>(DML) </a:t>
            </a:r>
            <a:r>
              <a:rPr lang="ko-KR" altLang="en-US" sz="1100">
                <a:sym typeface="Wingdings" panose="05000000000000000000" pitchFamily="2" charset="2"/>
              </a:rPr>
              <a:t>이 없었다는 뜻임으로</a:t>
            </a:r>
            <a:r>
              <a:rPr lang="en-US" altLang="ko-KR" sz="1100">
                <a:sym typeface="Wingdings" panose="05000000000000000000" pitchFamily="2" charset="2"/>
              </a:rPr>
              <a:t>. </a:t>
            </a:r>
            <a:br>
              <a:rPr lang="en-US" altLang="ko-KR" sz="1100">
                <a:sym typeface="Wingdings" panose="05000000000000000000" pitchFamily="2" charset="2"/>
              </a:rPr>
            </a:br>
            <a:r>
              <a:rPr lang="en-US" altLang="ko-KR" sz="1100">
                <a:sym typeface="Wingdings" panose="05000000000000000000" pitchFamily="2" charset="2"/>
              </a:rPr>
              <a:t>                                             Point</a:t>
            </a:r>
            <a:r>
              <a:rPr lang="ko-KR" altLang="en-US" sz="1100">
                <a:sym typeface="Wingdings" panose="05000000000000000000" pitchFamily="2" charset="2"/>
              </a:rPr>
              <a:t>에 대한 엔티티 정보가 </a:t>
            </a:r>
            <a:r>
              <a:rPr lang="en-US" altLang="ko-KR" sz="1100">
                <a:sym typeface="Wingdings" panose="05000000000000000000" pitchFamily="2" charset="2"/>
              </a:rPr>
              <a:t>null</a:t>
            </a:r>
            <a:r>
              <a:rPr lang="ko-KR" altLang="en-US" sz="1100">
                <a:sym typeface="Wingdings" panose="05000000000000000000" pitchFamily="2" charset="2"/>
              </a:rPr>
              <a:t>이라면 </a:t>
            </a:r>
            <a:r>
              <a:rPr lang="en-US" altLang="ko-KR" sz="1100">
                <a:sym typeface="Wingdings" panose="05000000000000000000" pitchFamily="2" charset="2"/>
              </a:rPr>
              <a:t>0</a:t>
            </a:r>
            <a:r>
              <a:rPr lang="ko-KR" altLang="en-US" sz="1100">
                <a:sym typeface="Wingdings" panose="05000000000000000000" pitchFamily="2" charset="2"/>
              </a:rPr>
              <a:t>포인트로 초기화 하여 저장</a:t>
            </a:r>
            <a:endParaRPr lang="en-US" altLang="ko-KR" sz="1100">
              <a:sym typeface="Wingdings" panose="05000000000000000000" pitchFamily="2" charset="2"/>
            </a:endParaRPr>
          </a:p>
          <a:p>
            <a:r>
              <a:rPr lang="en-US" altLang="ko-KR" sz="1100">
                <a:sym typeface="Wingdings" panose="05000000000000000000" pitchFamily="2" charset="2"/>
              </a:rPr>
              <a:t>-- deductPoints</a:t>
            </a:r>
            <a:r>
              <a:rPr lang="ko-KR" altLang="en-US" sz="1100">
                <a:sym typeface="Wingdings" panose="05000000000000000000" pitchFamily="2" charset="2"/>
              </a:rPr>
              <a:t> </a:t>
            </a:r>
            <a:r>
              <a:rPr lang="en-US" altLang="ko-KR" sz="1100">
                <a:sym typeface="Wingdings" panose="05000000000000000000" pitchFamily="2" charset="2"/>
              </a:rPr>
              <a:t>--</a:t>
            </a:r>
          </a:p>
          <a:p>
            <a:r>
              <a:rPr lang="en-US" altLang="ko-KR" sz="1100"/>
              <a:t>orElseThrow</a:t>
            </a:r>
            <a:r>
              <a:rPr lang="ko-KR" altLang="en-US" sz="1100"/>
              <a:t>를 쓰는 이유 </a:t>
            </a:r>
            <a:r>
              <a:rPr lang="en-US" altLang="ko-KR" sz="1100"/>
              <a:t>: </a:t>
            </a:r>
            <a:r>
              <a:rPr lang="ko-KR" altLang="en-US" sz="1100"/>
              <a:t>조회하려는 </a:t>
            </a:r>
            <a:r>
              <a:rPr lang="en-US" altLang="ko-KR" sz="1100"/>
              <a:t>UserId </a:t>
            </a:r>
            <a:r>
              <a:rPr lang="ko-KR" altLang="en-US" sz="1100"/>
              <a:t>에 대한 </a:t>
            </a:r>
            <a:r>
              <a:rPr lang="en-US" altLang="ko-KR" sz="1100"/>
              <a:t>Point</a:t>
            </a:r>
            <a:r>
              <a:rPr lang="ko-KR" altLang="en-US" sz="1100"/>
              <a:t>가 없는 것임으로 사용자의 포인트 정보를 찾을 수 없다고 </a:t>
            </a:r>
            <a:br>
              <a:rPr lang="en-US" altLang="ko-KR" sz="1100"/>
            </a:br>
            <a:r>
              <a:rPr lang="en-US" altLang="ko-KR" sz="1100"/>
              <a:t>                                                 </a:t>
            </a:r>
            <a:r>
              <a:rPr lang="ko-KR" altLang="en-US" sz="1100"/>
              <a:t>안내해야함</a:t>
            </a:r>
            <a:r>
              <a:rPr lang="en-US" altLang="ko-KR" sz="1100"/>
              <a:t>. </a:t>
            </a:r>
          </a:p>
          <a:p>
            <a:endParaRPr lang="en-US" altLang="ko-KR" sz="1100"/>
          </a:p>
          <a:p>
            <a:pPr marL="228600" indent="-228600">
              <a:buAutoNum type="arabicPeriod"/>
            </a:pPr>
            <a:r>
              <a:rPr lang="en-US" altLang="ko-KR" sz="1100"/>
              <a:t>XXXPointRequestDto</a:t>
            </a:r>
            <a:r>
              <a:rPr lang="ko-KR" altLang="en-US" sz="1100"/>
              <a:t> 를 통해 </a:t>
            </a:r>
            <a:r>
              <a:rPr lang="en-US" altLang="ko-KR" sz="1100"/>
              <a:t>userId </a:t>
            </a:r>
            <a:r>
              <a:rPr lang="ko-KR" altLang="en-US" sz="1100"/>
              <a:t>를 가져옴</a:t>
            </a:r>
            <a:endParaRPr lang="en-US" altLang="ko-KR" sz="1100"/>
          </a:p>
          <a:p>
            <a:pPr marL="228600" indent="-228600">
              <a:buAutoNum type="arabicPeriod"/>
            </a:pPr>
            <a:r>
              <a:rPr lang="en-US" altLang="ko-KR" sz="1100"/>
              <a:t>pointRepository.findByUserId </a:t>
            </a:r>
            <a:r>
              <a:rPr lang="ko-KR" altLang="en-US" sz="1100"/>
              <a:t>메소드를 통해 </a:t>
            </a:r>
            <a:r>
              <a:rPr lang="en-US" altLang="ko-KR" sz="1100"/>
              <a:t>Point </a:t>
            </a:r>
            <a:r>
              <a:rPr lang="ko-KR" altLang="en-US" sz="1100"/>
              <a:t>엔티티 정보 조회</a:t>
            </a:r>
            <a:endParaRPr lang="en-US" altLang="ko-KR" sz="1100"/>
          </a:p>
          <a:p>
            <a:pPr marL="228600" indent="-228600">
              <a:buAutoNum type="arabicPeriod"/>
            </a:pPr>
            <a:r>
              <a:rPr lang="ko-KR" altLang="en-US" sz="1100"/>
              <a:t>엔티티를 통한 도메인 비지니스 메소드를 이용하여 </a:t>
            </a:r>
            <a:r>
              <a:rPr lang="en-US" altLang="ko-KR" sz="1100"/>
              <a:t>Point </a:t>
            </a:r>
            <a:r>
              <a:rPr lang="ko-KR" altLang="en-US" sz="1100"/>
              <a:t>관리</a:t>
            </a:r>
            <a:endParaRPr lang="en-US" altLang="ko-KR" sz="1100"/>
          </a:p>
          <a:p>
            <a:pPr marL="228600" indent="-228600">
              <a:buAutoNum type="arabicPeriod"/>
            </a:pPr>
            <a:r>
              <a:rPr lang="ko-KR" altLang="en-US" sz="1100"/>
              <a:t>저장</a:t>
            </a:r>
            <a:r>
              <a:rPr lang="en-US" altLang="ko-KR" sz="1100"/>
              <a:t>(deductPoints</a:t>
            </a:r>
            <a:r>
              <a:rPr lang="ko-KR" altLang="en-US" sz="1100"/>
              <a:t>의 경우에는 변경감지로 </a:t>
            </a:r>
            <a:r>
              <a:rPr lang="en-US" altLang="ko-KR" sz="1100"/>
              <a:t>save()</a:t>
            </a:r>
            <a:r>
              <a:rPr lang="ko-KR" altLang="en-US" sz="1100"/>
              <a:t>메소드를 호출안해도 변경이됨</a:t>
            </a:r>
            <a:r>
              <a:rPr lang="en-US" altLang="ko-KR" sz="1100"/>
              <a:t>. /addPoints</a:t>
            </a:r>
            <a:r>
              <a:rPr lang="ko-KR" altLang="en-US" sz="1100"/>
              <a:t>는 무조건 필요</a:t>
            </a:r>
            <a:r>
              <a:rPr lang="en-US" altLang="ko-KR" sz="1100"/>
              <a:t>)</a:t>
            </a: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2833609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B3936D-51B2-569C-5F39-6FB714C3B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PointController </a:t>
            </a:r>
            <a:r>
              <a:rPr lang="ko-KR" altLang="en-US"/>
              <a:t>합계</a:t>
            </a:r>
            <a:r>
              <a:rPr lang="en-US" altLang="ko-KR"/>
              <a:t>/</a:t>
            </a:r>
            <a:r>
              <a:rPr lang="ko-KR" altLang="en-US"/>
              <a:t>차감 </a:t>
            </a:r>
            <a:r>
              <a:rPr lang="en-US" altLang="ko-KR"/>
              <a:t>URI </a:t>
            </a:r>
            <a:r>
              <a:rPr lang="ko-KR" altLang="en-US"/>
              <a:t>작성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7CF5F4-54E1-581B-CDC7-65412AFE9656}"/>
              </a:ext>
            </a:extLst>
          </p:cNvPr>
          <p:cNvSpPr txBox="1"/>
          <p:nvPr/>
        </p:nvSpPr>
        <p:spPr>
          <a:xfrm>
            <a:off x="3559302" y="1839703"/>
            <a:ext cx="4844034" cy="457048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RestController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RequestMapping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"/points"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PointController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PointService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pointService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PointController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PointService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pointService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pointService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pointService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PostMapping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"/add"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addPoints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RequestBody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AddPointRequestDto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addPointRequestDto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pointService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addPoints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addPointRequestDto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noContent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build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PostMapping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"/deduct"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deductPoints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@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RequestBody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DeductPointRequestDto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deductPointRequestDto</a:t>
            </a:r>
            <a:endParaRPr lang="en-US" altLang="ko-KR" sz="105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pointService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deductPoints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deductPointRequestDto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noContent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05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build</a:t>
            </a: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5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325B591-F18A-7FE3-CF6A-493682FA07BF}"/>
              </a:ext>
            </a:extLst>
          </p:cNvPr>
          <p:cNvGrpSpPr/>
          <p:nvPr/>
        </p:nvGrpSpPr>
        <p:grpSpPr>
          <a:xfrm>
            <a:off x="573769" y="1839703"/>
            <a:ext cx="2848373" cy="4867954"/>
            <a:chOff x="1224525" y="1836271"/>
            <a:chExt cx="2848373" cy="486795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B53405AC-22A3-AD32-B942-0F4C427AB6B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24525" y="1836271"/>
              <a:ext cx="2848373" cy="4867954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C5C77EAC-221F-C7BD-1C14-37AA16912EA1}"/>
                </a:ext>
              </a:extLst>
            </p:cNvPr>
            <p:cNvSpPr/>
            <p:nvPr/>
          </p:nvSpPr>
          <p:spPr>
            <a:xfrm>
              <a:off x="1591056" y="2724912"/>
              <a:ext cx="1318268" cy="26174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E12F6D6-D062-F62C-995A-3F48720B0E4C}"/>
              </a:ext>
            </a:extLst>
          </p:cNvPr>
          <p:cNvSpPr txBox="1"/>
          <p:nvPr/>
        </p:nvSpPr>
        <p:spPr>
          <a:xfrm>
            <a:off x="8540496" y="1836783"/>
            <a:ext cx="32369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포인트의 적립 및 차감 </a:t>
            </a:r>
            <a:r>
              <a:rPr lang="en-US" altLang="ko-KR" sz="1200"/>
              <a:t>API</a:t>
            </a:r>
            <a:r>
              <a:rPr lang="ko-KR" altLang="en-US" sz="1200"/>
              <a:t>의 응답을 </a:t>
            </a:r>
            <a:r>
              <a:rPr lang="en-US" altLang="ko-KR" sz="1200"/>
              <a:t>noContent</a:t>
            </a:r>
            <a:r>
              <a:rPr lang="ko-KR" altLang="en-US" sz="1200"/>
              <a:t>로 하기로 했음</a:t>
            </a:r>
          </a:p>
        </p:txBody>
      </p:sp>
    </p:spTree>
    <p:extLst>
      <p:ext uri="{BB962C8B-B14F-4D97-AF65-F5344CB8AC3E}">
        <p14:creationId xmlns:p14="http://schemas.microsoft.com/office/powerpoint/2010/main" val="1764443601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84</TotalTime>
  <Words>783</Words>
  <Application>Microsoft Office PowerPoint</Application>
  <PresentationFormat>와이드스크린</PresentationFormat>
  <Paragraphs>128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Calibri</vt:lpstr>
      <vt:lpstr>Calibri Light</vt:lpstr>
      <vt:lpstr>Consolas</vt:lpstr>
      <vt:lpstr>Wingdings</vt:lpstr>
      <vt:lpstr>추억</vt:lpstr>
      <vt:lpstr>데이터 쓰기 API 구현</vt:lpstr>
      <vt:lpstr>회원가입 API 변경사항</vt:lpstr>
      <vt:lpstr>포인트 서비스 구성</vt:lpstr>
      <vt:lpstr>아키텍쳐 구성</vt:lpstr>
      <vt:lpstr>DB 구성 추가</vt:lpstr>
      <vt:lpstr>application.yml 작성</vt:lpstr>
      <vt:lpstr>Point Entity 작성</vt:lpstr>
      <vt:lpstr>PointRepository 인터페이스 작성</vt:lpstr>
      <vt:lpstr>Point 합계 및 차감 DTO 작성</vt:lpstr>
      <vt:lpstr>PointService 합계/차감 메소드 작성</vt:lpstr>
      <vt:lpstr>PointController 합계/차감 URI 작성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17</cp:revision>
  <dcterms:created xsi:type="dcterms:W3CDTF">2026-08-10T03:03:00Z</dcterms:created>
  <dcterms:modified xsi:type="dcterms:W3CDTF">2026-08-10T04:27:55Z</dcterms:modified>
</cp:coreProperties>
</file>