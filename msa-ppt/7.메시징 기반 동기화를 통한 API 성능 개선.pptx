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4" r:id="rId9"/>
    <p:sldId id="265" r:id="rId10"/>
    <p:sldId id="267" r:id="rId11"/>
    <p:sldId id="268" r:id="rId12"/>
    <p:sldId id="263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33295A62-DBC0-4BB3-9D72-4BF48AA20863}">
          <p14:sldIdLst>
            <p14:sldId id="256"/>
            <p14:sldId id="257"/>
          </p14:sldIdLst>
        </p14:section>
        <p14:section name="회원가입 메세지 발행" id="{8DBE97F3-B758-434C-89F8-467600504B94}">
          <p14:sldIdLst>
            <p14:sldId id="260"/>
            <p14:sldId id="258"/>
            <p14:sldId id="259"/>
          </p14:sldIdLst>
        </p14:section>
        <p14:section name="게시판 서비스의 Users동기화 메세지 처리" id="{37B8BF75-5753-4168-9270-81CE7F7B1738}">
          <p14:sldIdLst>
            <p14:sldId id="261"/>
            <p14:sldId id="262"/>
            <p14:sldId id="264"/>
            <p14:sldId id="265"/>
            <p14:sldId id="267"/>
            <p14:sldId id="268"/>
            <p14:sldId id="263"/>
            <p14:sldId id="269"/>
            <p14:sldId id="270"/>
          </p14:sldIdLst>
        </p14:section>
        <p14:section name="메세지기반 데이터 동기화 테스트" id="{8D5A0FBD-7D5B-4DD4-9070-886223A694F4}">
          <p14:sldIdLst>
            <p14:sldId id="271"/>
            <p14:sldId id="272"/>
            <p14:sldId id="27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8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626ADD-2568-4631-BC88-35F6D5B26A18}" type="datetimeFigureOut">
              <a:rPr lang="ko-KR" altLang="en-US" smtClean="0"/>
              <a:t>2026-08-15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4ACF5-1C58-4BAE-852D-376F1814150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5384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94ACF5-1C58-4BAE-852D-376F1814150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5104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2F5F-4FC0-4A53-BA85-A62556E266A9}" type="datetimeFigureOut">
              <a:rPr lang="ko-KR" altLang="en-US" smtClean="0"/>
              <a:t>2026-08-15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20A09-5613-41B5-87D5-55CB62340BAD}" type="slidenum">
              <a:rPr lang="ko-KR" altLang="en-US" smtClean="0"/>
              <a:t>‹#›</a:t>
            </a:fld>
            <a:endParaRPr lang="ko-KR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022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2F5F-4FC0-4A53-BA85-A62556E266A9}" type="datetimeFigureOut">
              <a:rPr lang="ko-KR" altLang="en-US" smtClean="0"/>
              <a:t>2026-08-15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20A09-5613-41B5-87D5-55CB62340BA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0689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2F5F-4FC0-4A53-BA85-A62556E266A9}" type="datetimeFigureOut">
              <a:rPr lang="ko-KR" altLang="en-US" smtClean="0"/>
              <a:t>2026-08-15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20A09-5613-41B5-87D5-55CB62340BAD}" type="slidenum">
              <a:rPr lang="ko-KR" altLang="en-US" smtClean="0"/>
              <a:t>‹#›</a:t>
            </a:fld>
            <a:endParaRPr lang="ko-KR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76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2F5F-4FC0-4A53-BA85-A62556E266A9}" type="datetimeFigureOut">
              <a:rPr lang="ko-KR" altLang="en-US" smtClean="0"/>
              <a:t>2026-08-15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20A09-5613-41B5-87D5-55CB62340BA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598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2F5F-4FC0-4A53-BA85-A62556E266A9}" type="datetimeFigureOut">
              <a:rPr lang="ko-KR" altLang="en-US" smtClean="0"/>
              <a:t>2026-08-15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20A09-5613-41B5-87D5-55CB62340BA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4541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2F5F-4FC0-4A53-BA85-A62556E266A9}" type="datetimeFigureOut">
              <a:rPr lang="ko-KR" altLang="en-US" smtClean="0"/>
              <a:t>2026-08-15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20A09-5613-41B5-87D5-55CB62340BA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3388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2F5F-4FC0-4A53-BA85-A62556E266A9}" type="datetimeFigureOut">
              <a:rPr lang="ko-KR" altLang="en-US" smtClean="0"/>
              <a:t>2026-08-15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20A09-5613-41B5-87D5-55CB62340BA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1077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B472F5F-4FC0-4A53-BA85-A62556E266A9}" type="datetimeFigureOut">
              <a:rPr lang="ko-KR" altLang="en-US" smtClean="0"/>
              <a:t>2026-08-15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C20A09-5613-41B5-87D5-55CB62340BA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7094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2F5F-4FC0-4A53-BA85-A62556E266A9}" type="datetimeFigureOut">
              <a:rPr lang="ko-KR" altLang="en-US" smtClean="0"/>
              <a:t>2026-08-15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20A09-5613-41B5-87D5-55CB62340BA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0936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2F5F-4FC0-4A53-BA85-A62556E266A9}" type="datetimeFigureOut">
              <a:rPr lang="ko-KR" altLang="en-US" smtClean="0"/>
              <a:t>2026-08-15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20A09-5613-41B5-87D5-55CB62340BA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8630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2F5F-4FC0-4A53-BA85-A62556E266A9}" type="datetimeFigureOut">
              <a:rPr lang="ko-KR" altLang="en-US" smtClean="0"/>
              <a:t>2026-08-15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20A09-5613-41B5-87D5-55CB62340BA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4708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B472F5F-4FC0-4A53-BA85-A62556E266A9}" type="datetimeFigureOut">
              <a:rPr lang="ko-KR" altLang="en-US" smtClean="0"/>
              <a:t>2026-08-15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4C20A09-5613-41B5-87D5-55CB62340BAD}" type="slidenum">
              <a:rPr lang="ko-KR" altLang="en-US" smtClean="0"/>
              <a:t>‹#›</a:t>
            </a:fld>
            <a:endParaRPr lang="ko-KR" alt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26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F5DF22-335C-36F8-1325-67AD4603EC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/>
              <a:t>메시징 기반의 데이터 동기화 방식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107904-6BB2-24A6-3E15-468D27D12E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메시징 기반의 데이터 동기화 방식으로 부하 발생시 빠른 처리</a:t>
            </a:r>
          </a:p>
        </p:txBody>
      </p:sp>
    </p:spTree>
    <p:extLst>
      <p:ext uri="{BB962C8B-B14F-4D97-AF65-F5344CB8AC3E}">
        <p14:creationId xmlns:p14="http://schemas.microsoft.com/office/powerpoint/2010/main" val="2597283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DF28AF-704B-8E4E-4BEB-85FD761CD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/>
              <a:t>메시징 기반의 데이터 동기화를 </a:t>
            </a:r>
            <a:r>
              <a:rPr lang="ko-KR" altLang="en-US" sz="3200" dirty="0" err="1"/>
              <a:t>고려해야하는</a:t>
            </a:r>
            <a:r>
              <a:rPr lang="ko-KR" altLang="en-US" sz="3200"/>
              <a:t> 상황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78D8851-7EDB-44B6-6AF1-E79C4C3F6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304" y="1913373"/>
            <a:ext cx="5465585" cy="24574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8802473-8A20-8BA8-B7D4-D4EE2663A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0389" y="1913373"/>
            <a:ext cx="5095291" cy="40258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B1798B-A6A6-52BE-8052-8905FE4A592E}"/>
              </a:ext>
            </a:extLst>
          </p:cNvPr>
          <p:cNvSpPr txBox="1"/>
          <p:nvPr/>
        </p:nvSpPr>
        <p:spPr>
          <a:xfrm>
            <a:off x="249304" y="4370832"/>
            <a:ext cx="5465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- </a:t>
            </a:r>
            <a:r>
              <a:rPr lang="ko-KR" altLang="en-US"/>
              <a:t>현재 구조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EE723F-1364-C1A6-4793-953E745004DA}"/>
              </a:ext>
            </a:extLst>
          </p:cNvPr>
          <p:cNvSpPr txBox="1"/>
          <p:nvPr/>
        </p:nvSpPr>
        <p:spPr>
          <a:xfrm>
            <a:off x="6126480" y="5939188"/>
            <a:ext cx="4809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- </a:t>
            </a:r>
            <a:r>
              <a:rPr lang="ko-KR" altLang="en-US"/>
              <a:t>메시징 기반 데이터 동기화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94AA92-E673-1370-ED03-59DB2CBA58F6}"/>
              </a:ext>
            </a:extLst>
          </p:cNvPr>
          <p:cNvSpPr txBox="1"/>
          <p:nvPr/>
        </p:nvSpPr>
        <p:spPr>
          <a:xfrm>
            <a:off x="249304" y="4835819"/>
            <a:ext cx="55916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/>
              <a:t>현재 구조의 문제점 </a:t>
            </a:r>
            <a:r>
              <a:rPr lang="en-US" altLang="ko-KR" sz="1400" b="1"/>
              <a:t>: </a:t>
            </a:r>
          </a:p>
          <a:p>
            <a:pPr marL="285750" indent="-285750">
              <a:buFontTx/>
              <a:buChar char="-"/>
            </a:pPr>
            <a:r>
              <a:rPr lang="ko-KR" altLang="en-US" sz="1400"/>
              <a:t>게시글 서비스에 부하가 쌓였다고 가정</a:t>
            </a:r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ko-KR" altLang="en-US" sz="1400"/>
              <a:t>부하가 쌓인 상태에서 사용자 서비스를 통해 </a:t>
            </a:r>
            <a:r>
              <a:rPr lang="en-US" altLang="ko-KR" sz="1400"/>
              <a:t>API</a:t>
            </a:r>
            <a:r>
              <a:rPr lang="ko-KR" altLang="en-US" sz="1400"/>
              <a:t>응답을 기다려야함</a:t>
            </a:r>
            <a:r>
              <a:rPr lang="en-US" altLang="ko-KR" sz="1400"/>
              <a:t>. (</a:t>
            </a:r>
            <a:r>
              <a:rPr lang="ko-KR" altLang="en-US" sz="1400"/>
              <a:t>사용자 정보 </a:t>
            </a:r>
            <a:r>
              <a:rPr lang="en-US" altLang="ko-KR" sz="1400"/>
              <a:t>API </a:t>
            </a:r>
            <a:r>
              <a:rPr lang="ko-KR" altLang="en-US" sz="1400"/>
              <a:t>응답을 기다리는 동안의 부하 </a:t>
            </a:r>
            <a:r>
              <a:rPr lang="en-US" altLang="ko-KR" sz="1400"/>
              <a:t>+)</a:t>
            </a:r>
          </a:p>
          <a:p>
            <a:r>
              <a:rPr lang="ko-KR" altLang="en-US" sz="1400" b="1"/>
              <a:t>메시징 기반 데이터 동기화 이점</a:t>
            </a:r>
            <a:r>
              <a:rPr lang="en-US" altLang="ko-KR" sz="1400" b="1"/>
              <a:t>:</a:t>
            </a:r>
          </a:p>
          <a:p>
            <a:pPr marL="285750" indent="-285750">
              <a:buFontTx/>
              <a:buChar char="-"/>
            </a:pPr>
            <a:r>
              <a:rPr lang="ko-KR" altLang="en-US" sz="1400"/>
              <a:t>게시글에서 보여줘야하는 사용자 정보만을 게시글 </a:t>
            </a:r>
            <a:r>
              <a:rPr lang="en-US" altLang="ko-KR" sz="1400"/>
              <a:t>DB</a:t>
            </a:r>
            <a:r>
              <a:rPr lang="ko-KR" altLang="en-US" sz="1400"/>
              <a:t>에 추가</a:t>
            </a:r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ko-KR" altLang="en-US" sz="1400"/>
              <a:t>사용자 서비스에서 </a:t>
            </a:r>
            <a:r>
              <a:rPr lang="ko-KR" altLang="en-US" sz="1400" b="1">
                <a:solidFill>
                  <a:srgbClr val="FF0000"/>
                </a:solidFill>
              </a:rPr>
              <a:t>사용자</a:t>
            </a:r>
            <a:r>
              <a:rPr lang="ko-KR" altLang="en-US" sz="1400"/>
              <a:t>에 대한 </a:t>
            </a:r>
            <a:r>
              <a:rPr lang="ko-KR" altLang="en-US" sz="1400" b="1">
                <a:solidFill>
                  <a:srgbClr val="FF0000"/>
                </a:solidFill>
              </a:rPr>
              <a:t>생성</a:t>
            </a:r>
            <a:r>
              <a:rPr lang="en-US" altLang="ko-KR" sz="1400" b="1">
                <a:solidFill>
                  <a:srgbClr val="FF0000"/>
                </a:solidFill>
              </a:rPr>
              <a:t>/</a:t>
            </a:r>
            <a:r>
              <a:rPr lang="ko-KR" altLang="en-US" sz="1400" b="1">
                <a:solidFill>
                  <a:srgbClr val="FF0000"/>
                </a:solidFill>
              </a:rPr>
              <a:t>수정</a:t>
            </a:r>
            <a:r>
              <a:rPr lang="en-US" altLang="ko-KR" sz="1400" b="1">
                <a:solidFill>
                  <a:srgbClr val="FF0000"/>
                </a:solidFill>
              </a:rPr>
              <a:t>/</a:t>
            </a:r>
            <a:r>
              <a:rPr lang="ko-KR" altLang="en-US" sz="1400" b="1">
                <a:solidFill>
                  <a:srgbClr val="FF0000"/>
                </a:solidFill>
              </a:rPr>
              <a:t>삭제</a:t>
            </a:r>
            <a:r>
              <a:rPr lang="ko-KR" altLang="en-US" sz="1400"/>
              <a:t>가 일어날 때마다</a:t>
            </a:r>
            <a:r>
              <a:rPr lang="en-US" altLang="ko-KR" sz="1400"/>
              <a:t>. </a:t>
            </a:r>
            <a:r>
              <a:rPr lang="ko-KR" altLang="en-US" sz="1400" b="1">
                <a:solidFill>
                  <a:srgbClr val="00B0F0"/>
                </a:solidFill>
              </a:rPr>
              <a:t>사용자관련 변경 메세지</a:t>
            </a:r>
            <a:r>
              <a:rPr lang="ko-KR" altLang="en-US" sz="1400"/>
              <a:t>를 </a:t>
            </a:r>
            <a:r>
              <a:rPr lang="ko-KR" altLang="en-US" sz="1400" b="1">
                <a:solidFill>
                  <a:srgbClr val="00B0F0"/>
                </a:solidFill>
              </a:rPr>
              <a:t>게시글 서비스에 전달</a:t>
            </a:r>
            <a:br>
              <a:rPr lang="en-US" altLang="ko-KR" sz="1400"/>
            </a:br>
            <a:r>
              <a:rPr lang="ko-KR" altLang="en-US" sz="1400"/>
              <a:t>사용자 변경 메세지를 보고 게시글 </a:t>
            </a:r>
            <a:r>
              <a:rPr lang="en-US" altLang="ko-KR" sz="1400"/>
              <a:t>DB</a:t>
            </a:r>
            <a:r>
              <a:rPr lang="ko-KR" altLang="en-US" sz="1400"/>
              <a:t>네 사용자 테이블 동기화</a:t>
            </a:r>
          </a:p>
        </p:txBody>
      </p:sp>
    </p:spTree>
    <p:extLst>
      <p:ext uri="{BB962C8B-B14F-4D97-AF65-F5344CB8AC3E}">
        <p14:creationId xmlns:p14="http://schemas.microsoft.com/office/powerpoint/2010/main" val="1769881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E74896-A6B5-5FA1-0B4A-60D632992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user-service</a:t>
            </a:r>
            <a:r>
              <a:rPr lang="ko-KR" altLang="en-US"/>
              <a:t>에 </a:t>
            </a:r>
            <a:r>
              <a:rPr lang="en-US" altLang="ko-KR"/>
              <a:t>Producer </a:t>
            </a:r>
            <a:r>
              <a:rPr lang="ko-KR" altLang="en-US"/>
              <a:t>설정 추가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01F42FA-1135-93FB-DF95-767A176C272B}"/>
              </a:ext>
            </a:extLst>
          </p:cNvPr>
          <p:cNvGrpSpPr/>
          <p:nvPr/>
        </p:nvGrpSpPr>
        <p:grpSpPr>
          <a:xfrm>
            <a:off x="444466" y="1906635"/>
            <a:ext cx="2305372" cy="3867690"/>
            <a:chOff x="444466" y="1906635"/>
            <a:chExt cx="2305372" cy="386769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DEE990A-BABE-1230-E72F-74A635EC2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4466" y="1906635"/>
              <a:ext cx="2305372" cy="386769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D85580E-A239-C783-BC47-94761D80D795}"/>
                </a:ext>
              </a:extLst>
            </p:cNvPr>
            <p:cNvSpPr/>
            <p:nvPr/>
          </p:nvSpPr>
          <p:spPr>
            <a:xfrm>
              <a:off x="585216" y="5486702"/>
              <a:ext cx="1536192" cy="28762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CB7D4E7-3B05-BAF4-58F0-78C9509A722C}"/>
              </a:ext>
            </a:extLst>
          </p:cNvPr>
          <p:cNvGrpSpPr/>
          <p:nvPr/>
        </p:nvGrpSpPr>
        <p:grpSpPr>
          <a:xfrm>
            <a:off x="2890588" y="1906635"/>
            <a:ext cx="6094476" cy="4745082"/>
            <a:chOff x="2890588" y="1906635"/>
            <a:chExt cx="6094476" cy="474508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5DEF31C-F935-99D3-6BCD-BF1B5A7F7E6B}"/>
                </a:ext>
              </a:extLst>
            </p:cNvPr>
            <p:cNvSpPr txBox="1"/>
            <p:nvPr/>
          </p:nvSpPr>
          <p:spPr>
            <a:xfrm>
              <a:off x="2890588" y="1906635"/>
              <a:ext cx="6094476" cy="474508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spring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datasource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url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9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jdbc:mysql://localhost:3320/user-db</a:t>
              </a: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username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9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root</a:t>
              </a: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password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9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password</a:t>
              </a: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driver-class-name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9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com.mysql.cj.jdbc.Driver</a:t>
              </a: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b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jpa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hibernate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ddl-auto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9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update</a:t>
              </a: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show-sql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9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true</a:t>
              </a: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application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9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user-service</a:t>
              </a: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b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kafka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bootstrap-servers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9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localhost:9092</a:t>
              </a: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consumer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auto-offset-reset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9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earliest</a:t>
              </a: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key-deserializer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9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org.apache.kafka.common.serialization.StringDeserializer</a:t>
              </a: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value-deserializer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9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org.apache.kafka.common.serialization.StringDeserializer</a:t>
              </a: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producer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key-serializer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9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org.apache.kafka.common.serialization.StringSerializer</a:t>
              </a: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value-serializer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9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org.apache.kafka.common.serialization.StringSerializer</a:t>
              </a: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0B27437-929E-4AF3-AF3C-FB98433F5420}"/>
                </a:ext>
              </a:extLst>
            </p:cNvPr>
            <p:cNvSpPr/>
            <p:nvPr/>
          </p:nvSpPr>
          <p:spPr>
            <a:xfrm>
              <a:off x="3447288" y="6044184"/>
              <a:ext cx="4928616" cy="6075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D8A0E2A-4974-429E-8AC3-7C6EB1B683F7}"/>
              </a:ext>
            </a:extLst>
          </p:cNvPr>
          <p:cNvSpPr txBox="1"/>
          <p:nvPr/>
        </p:nvSpPr>
        <p:spPr>
          <a:xfrm>
            <a:off x="9079992" y="1993392"/>
            <a:ext cx="2926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Producer </a:t>
            </a:r>
            <a:r>
              <a:rPr lang="ko-KR" altLang="en-US" sz="1200"/>
              <a:t>설정 </a:t>
            </a:r>
            <a:r>
              <a:rPr lang="en-US" altLang="ko-KR" sz="1200"/>
              <a:t>:</a:t>
            </a:r>
          </a:p>
          <a:p>
            <a:r>
              <a:rPr lang="en-US" altLang="ko-KR" sz="1200"/>
              <a:t>	Json String</a:t>
            </a:r>
            <a:r>
              <a:rPr lang="ko-KR" altLang="en-US" sz="1200"/>
              <a:t>으로 직렬화 설정</a:t>
            </a:r>
          </a:p>
        </p:txBody>
      </p:sp>
    </p:spTree>
    <p:extLst>
      <p:ext uri="{BB962C8B-B14F-4D97-AF65-F5344CB8AC3E}">
        <p14:creationId xmlns:p14="http://schemas.microsoft.com/office/powerpoint/2010/main" val="4034613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E5F65E-CFCA-ADD0-3626-4E19BA84A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회원가입완료 동기화 메세지 전달</a:t>
            </a:r>
            <a:r>
              <a:rPr lang="en-US" altLang="ko-KR" sz="3600"/>
              <a:t>DTO </a:t>
            </a:r>
            <a:r>
              <a:rPr lang="ko-KR" altLang="en-US" sz="3600"/>
              <a:t>작성</a:t>
            </a:r>
            <a:endParaRPr lang="ko-KR" altLang="en-US" sz="3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5704727-A9E6-8F8D-C42C-0D20DEC90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6336601"/>
            <a:ext cx="3877216" cy="135273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FBED49F-9BE4-E441-CDE5-EB8D3C5CD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028" y="6365770"/>
            <a:ext cx="2419688" cy="103837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3AE87FB-FB42-A743-F31C-112CC8037C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496" y="6336601"/>
            <a:ext cx="1991003" cy="13717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5D96B86-526B-A11D-3336-1E472208BA1D}"/>
              </a:ext>
            </a:extLst>
          </p:cNvPr>
          <p:cNvSpPr txBox="1"/>
          <p:nvPr/>
        </p:nvSpPr>
        <p:spPr>
          <a:xfrm>
            <a:off x="3901059" y="1811612"/>
            <a:ext cx="4450842" cy="422295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UserSignedUpEvent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UserSignedUpEvent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UserSignedUpEvent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030B9E1-EB68-6C58-40F6-6594708C4703}"/>
              </a:ext>
            </a:extLst>
          </p:cNvPr>
          <p:cNvGrpSpPr/>
          <p:nvPr/>
        </p:nvGrpSpPr>
        <p:grpSpPr>
          <a:xfrm>
            <a:off x="1228174" y="1811612"/>
            <a:ext cx="2438740" cy="2810267"/>
            <a:chOff x="1228174" y="1811612"/>
            <a:chExt cx="2438740" cy="2810267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9A59C559-D557-1713-15E9-BE9AA8C78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28174" y="1811612"/>
              <a:ext cx="2438740" cy="2810267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2ED2A27-4911-A885-AFF3-3541BD8B32B4}"/>
                </a:ext>
              </a:extLst>
            </p:cNvPr>
            <p:cNvSpPr/>
            <p:nvPr/>
          </p:nvSpPr>
          <p:spPr>
            <a:xfrm>
              <a:off x="1609344" y="4334256"/>
              <a:ext cx="1536192" cy="28762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00268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9DEAE4-7CDB-20B6-85E4-4289165E7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회원가입 서비스 로직 변경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536F3E-13D1-A124-A5B9-815CC7661D8D}"/>
              </a:ext>
            </a:extLst>
          </p:cNvPr>
          <p:cNvGrpSpPr/>
          <p:nvPr/>
        </p:nvGrpSpPr>
        <p:grpSpPr>
          <a:xfrm>
            <a:off x="147270" y="1811384"/>
            <a:ext cx="2534004" cy="4239217"/>
            <a:chOff x="979374" y="1811384"/>
            <a:chExt cx="2534004" cy="423921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13D605E-BD76-A08A-7461-6061CFA39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9374" y="1811384"/>
              <a:ext cx="2534004" cy="4239217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8D88A9A-13C6-FC7B-0E97-FF1A86F04A2F}"/>
                </a:ext>
              </a:extLst>
            </p:cNvPr>
            <p:cNvSpPr/>
            <p:nvPr/>
          </p:nvSpPr>
          <p:spPr>
            <a:xfrm>
              <a:off x="1344168" y="4114800"/>
              <a:ext cx="1591056" cy="30175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B30E299-1B95-E843-8771-228625135BF5}"/>
              </a:ext>
            </a:extLst>
          </p:cNvPr>
          <p:cNvGrpSpPr/>
          <p:nvPr/>
        </p:nvGrpSpPr>
        <p:grpSpPr>
          <a:xfrm>
            <a:off x="7166786" y="1811384"/>
            <a:ext cx="4756989" cy="4239217"/>
            <a:chOff x="3536618" y="1811384"/>
            <a:chExt cx="4756989" cy="423921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4E64E85-0E75-B748-338B-4943FB0D9A7A}"/>
                </a:ext>
              </a:extLst>
            </p:cNvPr>
            <p:cNvSpPr txBox="1"/>
            <p:nvPr/>
          </p:nvSpPr>
          <p:spPr>
            <a:xfrm>
              <a:off x="3536618" y="1811384"/>
              <a:ext cx="4756989" cy="4239217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@</a:t>
              </a:r>
              <a:r>
                <a:rPr lang="en-US" altLang="ko-KR" sz="9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Transactional</a:t>
              </a: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9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void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signUp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9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SignUpRequestDto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signUpRequestDto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User</a:t>
              </a:r>
              <a:r>
                <a:rPr lang="en-US" altLang="ko-KR" sz="9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user</a:t>
              </a:r>
              <a:r>
                <a:rPr lang="en-US" altLang="ko-KR" sz="9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new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User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9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signUpRequestDto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9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getEmail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9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signUpRequestDto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9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getName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9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signUpRequestDto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9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getPassword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);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User</a:t>
              </a:r>
              <a:r>
                <a:rPr lang="en-US" altLang="ko-KR" sz="9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savedUser</a:t>
              </a:r>
              <a:r>
                <a:rPr lang="en-US" altLang="ko-KR" sz="9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this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9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userRepository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9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save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9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user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8B949E"/>
                  </a:solidFill>
                  <a:effectLst/>
                  <a:latin typeface="Consolas" panose="020B0609020204030204" pitchFamily="49" charset="0"/>
                </a:rPr>
                <a:t>// </a:t>
              </a:r>
              <a:r>
                <a:rPr lang="ko-KR" altLang="en-US" sz="900" b="0">
                  <a:solidFill>
                    <a:srgbClr val="8B949E"/>
                  </a:solidFill>
                  <a:effectLst/>
                  <a:latin typeface="Consolas" panose="020B0609020204030204" pitchFamily="49" charset="0"/>
                </a:rPr>
                <a:t>회원가입 포인트 </a:t>
              </a:r>
              <a:r>
                <a:rPr lang="en-US" altLang="ko-KR" sz="900" b="0">
                  <a:solidFill>
                    <a:srgbClr val="8B949E"/>
                  </a:solidFill>
                  <a:effectLst/>
                  <a:latin typeface="Consolas" panose="020B0609020204030204" pitchFamily="49" charset="0"/>
                </a:rPr>
                <a:t>1000</a:t>
              </a:r>
              <a:r>
                <a:rPr lang="ko-KR" altLang="en-US" sz="900" b="0">
                  <a:solidFill>
                    <a:srgbClr val="8B949E"/>
                  </a:solidFill>
                  <a:effectLst/>
                  <a:latin typeface="Consolas" panose="020B0609020204030204" pitchFamily="49" charset="0"/>
                </a:rPr>
                <a:t>점 적립</a:t>
              </a:r>
              <a:endParaRPr lang="ko-KR" altLang="en-US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ko-KR" altLang="en-US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pointClient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9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addPoints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9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savedUser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9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getUserId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(), </a:t>
              </a:r>
              <a:r>
                <a:rPr lang="en-US" altLang="ko-KR" sz="900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1000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  <a:p>
              <a:pPr>
                <a:lnSpc>
                  <a:spcPts val="1425"/>
                </a:lnSpc>
                <a:buNone/>
              </a:pPr>
              <a:b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8B949E"/>
                  </a:solidFill>
                  <a:effectLst/>
                  <a:latin typeface="Consolas" panose="020B0609020204030204" pitchFamily="49" charset="0"/>
                </a:rPr>
                <a:t>// </a:t>
              </a:r>
              <a:r>
                <a:rPr lang="ko-KR" altLang="en-US" sz="900" b="0">
                  <a:solidFill>
                    <a:srgbClr val="8B949E"/>
                  </a:solidFill>
                  <a:effectLst/>
                  <a:latin typeface="Consolas" panose="020B0609020204030204" pitchFamily="49" charset="0"/>
                </a:rPr>
                <a:t>회원가입 완료 이벤트 발행</a:t>
              </a:r>
              <a:endParaRPr lang="ko-KR" altLang="en-US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ko-KR" altLang="en-US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UserSignedUpEvent</a:t>
              </a:r>
              <a:r>
                <a:rPr lang="en-US" altLang="ko-KR" sz="9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userSignedUpEvent</a:t>
              </a:r>
              <a:r>
                <a:rPr lang="en-US" altLang="ko-KR" sz="9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new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UserSignedUpEvent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9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savedUser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9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getUserId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9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savedUser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9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getName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);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this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9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kafkaTemplate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9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send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9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"user-signed-up"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9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this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9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toJsonString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9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userSignedUpEvent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);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FBB7FA3-D989-694F-FA6B-E204FFCFB80D}"/>
                </a:ext>
              </a:extLst>
            </p:cNvPr>
            <p:cNvSpPr/>
            <p:nvPr/>
          </p:nvSpPr>
          <p:spPr>
            <a:xfrm>
              <a:off x="4059936" y="4114800"/>
              <a:ext cx="4014216" cy="16459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72BD1DB-950B-8437-03A9-3834F3381DA7}"/>
              </a:ext>
            </a:extLst>
          </p:cNvPr>
          <p:cNvGrpSpPr/>
          <p:nvPr/>
        </p:nvGrpSpPr>
        <p:grpSpPr>
          <a:xfrm>
            <a:off x="2780376" y="1811384"/>
            <a:ext cx="4266844" cy="2193688"/>
            <a:chOff x="2780376" y="1811384"/>
            <a:chExt cx="4266844" cy="2193688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76A3B0BA-3BCC-ECDF-4A96-715EAE04B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80376" y="1811384"/>
              <a:ext cx="4266844" cy="2193688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EA44EB3-D3B7-7B85-CCF3-C5936802EACB}"/>
                </a:ext>
              </a:extLst>
            </p:cNvPr>
            <p:cNvSpPr/>
            <p:nvPr/>
          </p:nvSpPr>
          <p:spPr>
            <a:xfrm>
              <a:off x="3529584" y="2999232"/>
              <a:ext cx="2852928" cy="2194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B0636AF-5DF3-76BD-52B2-ADB99D45FE0C}"/>
                </a:ext>
              </a:extLst>
            </p:cNvPr>
            <p:cNvSpPr/>
            <p:nvPr/>
          </p:nvSpPr>
          <p:spPr>
            <a:xfrm>
              <a:off x="3343656" y="2407920"/>
              <a:ext cx="3703564" cy="2194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261CCCB-40EE-55BD-554F-C69D0071E369}"/>
                </a:ext>
              </a:extLst>
            </p:cNvPr>
            <p:cNvSpPr/>
            <p:nvPr/>
          </p:nvSpPr>
          <p:spPr>
            <a:xfrm>
              <a:off x="3624072" y="3639313"/>
              <a:ext cx="2246376" cy="2194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B743532-3DE9-6181-9EC4-8905F066EA27}"/>
              </a:ext>
            </a:extLst>
          </p:cNvPr>
          <p:cNvSpPr txBox="1"/>
          <p:nvPr/>
        </p:nvSpPr>
        <p:spPr>
          <a:xfrm>
            <a:off x="2780376" y="4114800"/>
            <a:ext cx="4266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200"/>
              <a:t>의존성 주입을 위한 생성자 추가</a:t>
            </a:r>
            <a:endParaRPr lang="en-US" altLang="ko-KR" sz="1200"/>
          </a:p>
          <a:p>
            <a:pPr marL="228600" indent="-228600">
              <a:buAutoNum type="arabicPeriod"/>
            </a:pPr>
            <a:r>
              <a:rPr lang="ko-KR" altLang="en-US" sz="1200"/>
              <a:t>회원가입</a:t>
            </a:r>
            <a:r>
              <a:rPr lang="en-US" altLang="ko-KR" sz="1200"/>
              <a:t>DB</a:t>
            </a:r>
            <a:r>
              <a:rPr lang="ko-KR" altLang="en-US" sz="1200"/>
              <a:t>저장 후 </a:t>
            </a:r>
            <a:r>
              <a:rPr lang="en-US" altLang="ko-KR" sz="1200"/>
              <a:t>Kafka</a:t>
            </a:r>
            <a:r>
              <a:rPr lang="ko-KR" altLang="en-US" sz="1200"/>
              <a:t>를 통한 </a:t>
            </a:r>
            <a:r>
              <a:rPr lang="en-US" altLang="ko-KR" sz="1200"/>
              <a:t>Users </a:t>
            </a:r>
            <a:r>
              <a:rPr lang="ko-KR" altLang="en-US" sz="1200"/>
              <a:t>동기화 메세지 발행</a:t>
            </a:r>
          </a:p>
        </p:txBody>
      </p:sp>
    </p:spTree>
    <p:extLst>
      <p:ext uri="{BB962C8B-B14F-4D97-AF65-F5344CB8AC3E}">
        <p14:creationId xmlns:p14="http://schemas.microsoft.com/office/powerpoint/2010/main" val="2340205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3C38BC-602F-6ECE-0365-93546B7F8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board-service</a:t>
            </a:r>
            <a:r>
              <a:rPr lang="ko-KR" altLang="en-US"/>
              <a:t>에 </a:t>
            </a:r>
            <a:r>
              <a:rPr lang="en-US" altLang="ko-KR"/>
              <a:t>Consumer </a:t>
            </a:r>
            <a:r>
              <a:rPr lang="ko-KR" altLang="en-US"/>
              <a:t>설정 추가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9755C6E-F1B3-977A-9AF9-3F83ED7C02BC}"/>
              </a:ext>
            </a:extLst>
          </p:cNvPr>
          <p:cNvGrpSpPr/>
          <p:nvPr/>
        </p:nvGrpSpPr>
        <p:grpSpPr>
          <a:xfrm>
            <a:off x="2975229" y="1933382"/>
            <a:ext cx="6094476" cy="4924618"/>
            <a:chOff x="2654046" y="1849734"/>
            <a:chExt cx="6094476" cy="492461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F16918F-A933-692F-B6F7-8912274B4ED6}"/>
                </a:ext>
              </a:extLst>
            </p:cNvPr>
            <p:cNvSpPr txBox="1"/>
            <p:nvPr/>
          </p:nvSpPr>
          <p:spPr>
            <a:xfrm>
              <a:off x="2654046" y="1849734"/>
              <a:ext cx="6094476" cy="4924618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spring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datasource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url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9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jdbc:mysql://localhost:3321/board-db</a:t>
              </a: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username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9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root</a:t>
              </a: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password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9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password</a:t>
              </a: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driver-class-name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9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com.mysql.cj.jdbc.Driver</a:t>
              </a: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b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jpa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hibernate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ddl-auto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9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update</a:t>
              </a: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show-sql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9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true</a:t>
              </a: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b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kafka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bootstrap-servers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9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localhost:9092</a:t>
              </a: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producer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key-serializer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9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org.apache.kafka.common.serialization.StringSerializer</a:t>
              </a: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value-serializer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9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org.apache.kafka.common.serialization.StringSerializer</a:t>
              </a: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900" b="0">
                  <a:solidFill>
                    <a:srgbClr val="8B949E"/>
                  </a:solidFill>
                  <a:effectLst/>
                  <a:latin typeface="Consolas" panose="020B0609020204030204" pitchFamily="49" charset="0"/>
                </a:rPr>
                <a:t># properties:</a:t>
              </a: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900" b="0">
                  <a:solidFill>
                    <a:srgbClr val="8B949E"/>
                  </a:solidFill>
                  <a:effectLst/>
                  <a:latin typeface="Consolas" panose="020B0609020204030204" pitchFamily="49" charset="0"/>
                </a:rPr>
                <a:t>#     patitioner.class: org.apache.kafka.clients.producer.RoundRobinPartitioner</a:t>
              </a: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consumer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key-deserializer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9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org.apache.kafka.common.serialization.StringDeserializer</a:t>
              </a: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value-deserializer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9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org.apache.kafka.common.serialization.StringDeserializer</a:t>
              </a: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application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9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board-service</a:t>
              </a: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755AA4D-D308-C661-E025-E9932186BAEF}"/>
                </a:ext>
              </a:extLst>
            </p:cNvPr>
            <p:cNvSpPr/>
            <p:nvPr/>
          </p:nvSpPr>
          <p:spPr>
            <a:xfrm>
              <a:off x="3081528" y="5596128"/>
              <a:ext cx="5239512" cy="74066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777F2A0-73FC-3699-C212-3C30D3415091}"/>
              </a:ext>
            </a:extLst>
          </p:cNvPr>
          <p:cNvGrpSpPr/>
          <p:nvPr/>
        </p:nvGrpSpPr>
        <p:grpSpPr>
          <a:xfrm>
            <a:off x="446935" y="1933382"/>
            <a:ext cx="2410161" cy="3219899"/>
            <a:chOff x="446935" y="1933382"/>
            <a:chExt cx="2410161" cy="3219899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7397CAAA-9369-D502-1BEB-58917AAAB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6935" y="1933382"/>
              <a:ext cx="2410161" cy="3219899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7777A59-12AC-F900-2617-7A5FE274380F}"/>
                </a:ext>
              </a:extLst>
            </p:cNvPr>
            <p:cNvSpPr/>
            <p:nvPr/>
          </p:nvSpPr>
          <p:spPr>
            <a:xfrm>
              <a:off x="723889" y="4939112"/>
              <a:ext cx="1552967" cy="21416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491BE32-E207-B104-E878-4C175E226495}"/>
              </a:ext>
            </a:extLst>
          </p:cNvPr>
          <p:cNvSpPr txBox="1"/>
          <p:nvPr/>
        </p:nvSpPr>
        <p:spPr>
          <a:xfrm>
            <a:off x="9069705" y="1933382"/>
            <a:ext cx="312229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user-service</a:t>
            </a:r>
            <a:r>
              <a:rPr lang="ko-KR" altLang="en-US" sz="1100"/>
              <a:t>로 부터 </a:t>
            </a:r>
            <a:r>
              <a:rPr lang="en-US" altLang="ko-KR" sz="1100"/>
              <a:t>users</a:t>
            </a:r>
            <a:r>
              <a:rPr lang="ko-KR" altLang="en-US" sz="1100"/>
              <a:t>테이블에 대한 동기화 메세지를 전달받아야함으로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r>
              <a:rPr lang="en-US" altLang="ko-KR" sz="1100"/>
              <a:t>Json</a:t>
            </a:r>
            <a:r>
              <a:rPr lang="ko-KR" altLang="en-US" sz="1100"/>
              <a:t>형태의 메세지를 본래의 </a:t>
            </a:r>
            <a:r>
              <a:rPr lang="en-US" altLang="ko-KR" sz="1100"/>
              <a:t>DTO</a:t>
            </a:r>
            <a:r>
              <a:rPr lang="ko-KR" altLang="en-US" sz="1100"/>
              <a:t>객체로 맵핑하기 위한 역직렬화 설정이 필요하다</a:t>
            </a:r>
            <a:r>
              <a:rPr lang="en-US" altLang="ko-KR" sz="1100"/>
              <a:t>.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1840514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0C8E8-87AF-2DD3-6B35-0DCA9C7C4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Producer</a:t>
            </a:r>
            <a:r>
              <a:rPr lang="ko-KR" altLang="en-US" sz="3200"/>
              <a:t>로 부터 전달받을</a:t>
            </a:r>
            <a:r>
              <a:rPr lang="en-US" altLang="ko-KR" sz="3200"/>
              <a:t>UserSignedUpEvent(DTO) </a:t>
            </a:r>
            <a:r>
              <a:rPr lang="ko-KR" altLang="en-US" sz="3200"/>
              <a:t>작성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77BB480E-D9EE-771F-4D14-51B997E9544C}"/>
              </a:ext>
            </a:extLst>
          </p:cNvPr>
          <p:cNvGrpSpPr/>
          <p:nvPr/>
        </p:nvGrpSpPr>
        <p:grpSpPr>
          <a:xfrm>
            <a:off x="221187" y="1854161"/>
            <a:ext cx="2495898" cy="2381582"/>
            <a:chOff x="221187" y="1854161"/>
            <a:chExt cx="2495898" cy="238158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23428F8-4DFE-A2B7-1860-010B818C19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1187" y="1854161"/>
              <a:ext cx="2495898" cy="2381582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5D0A056-3DE7-9AD5-BD2C-BD5490019A6D}"/>
                </a:ext>
              </a:extLst>
            </p:cNvPr>
            <p:cNvSpPr/>
            <p:nvPr/>
          </p:nvSpPr>
          <p:spPr>
            <a:xfrm>
              <a:off x="566928" y="3986784"/>
              <a:ext cx="1673352" cy="24895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8F5AEC6-318B-AF30-F7DA-DEED88CC94CB}"/>
              </a:ext>
            </a:extLst>
          </p:cNvPr>
          <p:cNvGrpSpPr/>
          <p:nvPr/>
        </p:nvGrpSpPr>
        <p:grpSpPr>
          <a:xfrm>
            <a:off x="2972943" y="1854161"/>
            <a:ext cx="4506849" cy="4924618"/>
            <a:chOff x="2972943" y="1854161"/>
            <a:chExt cx="4506849" cy="492461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A727AB5-A313-D0CF-6E77-0F56296B1E01}"/>
                </a:ext>
              </a:extLst>
            </p:cNvPr>
            <p:cNvSpPr txBox="1"/>
            <p:nvPr/>
          </p:nvSpPr>
          <p:spPr>
            <a:xfrm>
              <a:off x="2972943" y="1854161"/>
              <a:ext cx="4506849" cy="4924618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class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UserSignedUpEvent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9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private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Long</a:t>
              </a:r>
              <a:r>
                <a:rPr lang="en-US" altLang="ko-KR" sz="9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userId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9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private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9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9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UserSignedUpEvent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(){}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9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UserSignedUpEvent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9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Long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userId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ko-KR" sz="9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this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9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userId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userId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this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9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9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Long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getUserId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userId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endPara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9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getName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9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static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UserSignedUpEvent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fromJson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9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json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9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try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9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ObjectMapper</a:t>
              </a:r>
              <a:r>
                <a:rPr lang="en-US" altLang="ko-KR" sz="9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mapper</a:t>
              </a:r>
              <a:r>
                <a:rPr lang="en-US" altLang="ko-KR" sz="9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new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ObjectMapper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9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mapper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9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readValue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9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json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ko-KR" sz="9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UserSignedUpEvent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9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class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}</a:t>
              </a:r>
              <a:r>
                <a:rPr lang="en-US" altLang="ko-KR" sz="9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catch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altLang="ko-KR" sz="9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JacksonException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e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9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e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9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printStackTrace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9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throw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new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9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RuntimeException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9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"JSON </a:t>
              </a:r>
              <a:r>
                <a:rPr lang="ko-KR" altLang="en-US" sz="9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파싱 실패</a:t>
              </a:r>
              <a:r>
                <a:rPr lang="en-US" altLang="ko-KR" sz="9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}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9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51F566D-3763-5D17-C905-6C56A6AEB9A8}"/>
                </a:ext>
              </a:extLst>
            </p:cNvPr>
            <p:cNvSpPr/>
            <p:nvPr/>
          </p:nvSpPr>
          <p:spPr>
            <a:xfrm>
              <a:off x="3288792" y="4916423"/>
              <a:ext cx="4072128" cy="16549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CC90012-A684-24DD-5B2E-ED19E1259E04}"/>
              </a:ext>
            </a:extLst>
          </p:cNvPr>
          <p:cNvSpPr txBox="1"/>
          <p:nvPr/>
        </p:nvSpPr>
        <p:spPr>
          <a:xfrm>
            <a:off x="7616952" y="1854161"/>
            <a:ext cx="4353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consumer </a:t>
            </a:r>
            <a:r>
              <a:rPr lang="ko-KR" altLang="en-US" sz="1400"/>
              <a:t>로써 </a:t>
            </a:r>
            <a:r>
              <a:rPr lang="en-US" altLang="ko-KR" sz="1400"/>
              <a:t>kafka</a:t>
            </a:r>
            <a:r>
              <a:rPr lang="ko-KR" altLang="en-US" sz="1400"/>
              <a:t>로 부터 전달받은 </a:t>
            </a:r>
            <a:r>
              <a:rPr lang="en-US" altLang="ko-KR" sz="1400"/>
              <a:t>Json String</a:t>
            </a:r>
            <a:r>
              <a:rPr lang="ko-KR" altLang="en-US" sz="1400"/>
              <a:t>메세지를</a:t>
            </a:r>
            <a:r>
              <a:rPr lang="en-US" altLang="ko-KR" sz="1400"/>
              <a:t> </a:t>
            </a:r>
            <a:r>
              <a:rPr lang="ko-KR" altLang="en-US" sz="1400"/>
              <a:t>자바 </a:t>
            </a:r>
            <a:r>
              <a:rPr lang="en-US" altLang="ko-KR" sz="1400"/>
              <a:t>Object( DTO )</a:t>
            </a:r>
            <a:r>
              <a:rPr lang="ko-KR" altLang="en-US" sz="1400"/>
              <a:t>로 변환하기 위한</a:t>
            </a:r>
            <a:endParaRPr lang="en-US" altLang="ko-KR" sz="1400"/>
          </a:p>
          <a:p>
            <a:r>
              <a:rPr lang="ko-KR" altLang="en-US" sz="1400"/>
              <a:t>로직을 </a:t>
            </a:r>
            <a:r>
              <a:rPr lang="en-US" altLang="ko-KR" sz="1400"/>
              <a:t>DTO</a:t>
            </a:r>
            <a:r>
              <a:rPr lang="ko-KR" altLang="en-US" sz="1400"/>
              <a:t>내부에 작성한다</a:t>
            </a:r>
            <a:r>
              <a:rPr lang="en-US" altLang="ko-KR" sz="1400"/>
              <a:t>. </a:t>
            </a:r>
            <a:r>
              <a:rPr lang="en-US" altLang="ko-KR" sz="1400">
                <a:sym typeface="Wingdings" panose="05000000000000000000" pitchFamily="2" charset="2"/>
              </a:rPr>
              <a:t> static fromJson </a:t>
            </a:r>
            <a:r>
              <a:rPr lang="ko-KR" altLang="en-US" sz="1400">
                <a:sym typeface="Wingdings" panose="05000000000000000000" pitchFamily="2" charset="2"/>
              </a:rPr>
              <a:t>메소드</a:t>
            </a:r>
            <a:endParaRPr lang="en-US" altLang="ko-KR" sz="1400"/>
          </a:p>
          <a:p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283351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EAF3A9-FA7D-4D97-DE12-6C5A8F2A2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/>
              <a:t>board-service</a:t>
            </a:r>
            <a:r>
              <a:rPr lang="ko-KR" altLang="en-US" sz="2800"/>
              <a:t>에 </a:t>
            </a:r>
            <a:r>
              <a:rPr lang="en-US" altLang="ko-KR" sz="2800"/>
              <a:t>Users</a:t>
            </a:r>
            <a:r>
              <a:rPr lang="ko-KR" altLang="en-US" sz="2800"/>
              <a:t>테이블 생성을 위한 </a:t>
            </a:r>
            <a:r>
              <a:rPr lang="en-US" altLang="ko-KR" sz="2800"/>
              <a:t>User</a:t>
            </a:r>
            <a:r>
              <a:rPr lang="ko-KR" altLang="en-US" sz="2800"/>
              <a:t>엔티티 작성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30556D6-8C96-2B35-3465-19E7BAF6D5B4}"/>
              </a:ext>
            </a:extLst>
          </p:cNvPr>
          <p:cNvGrpSpPr/>
          <p:nvPr/>
        </p:nvGrpSpPr>
        <p:grpSpPr>
          <a:xfrm>
            <a:off x="1285332" y="1963506"/>
            <a:ext cx="2324424" cy="2400635"/>
            <a:chOff x="361788" y="1899498"/>
            <a:chExt cx="2324424" cy="240063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7A71E74-09FC-FCF5-94D3-614DA69D5B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1788" y="1899498"/>
              <a:ext cx="2324424" cy="2400635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8A4318B-FAAA-260D-BD3C-D5C05FCA0E16}"/>
                </a:ext>
              </a:extLst>
            </p:cNvPr>
            <p:cNvSpPr/>
            <p:nvPr/>
          </p:nvSpPr>
          <p:spPr>
            <a:xfrm>
              <a:off x="694944" y="3813048"/>
              <a:ext cx="758952" cy="2286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FA266E1-EF6C-204B-3905-B05461FFC463}"/>
              </a:ext>
            </a:extLst>
          </p:cNvPr>
          <p:cNvSpPr txBox="1"/>
          <p:nvPr/>
        </p:nvSpPr>
        <p:spPr>
          <a:xfrm>
            <a:off x="3751326" y="1963506"/>
            <a:ext cx="2594610" cy="438600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Entity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"users"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Id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CBED42-26E1-096A-B32E-2AC66598C752}"/>
              </a:ext>
            </a:extLst>
          </p:cNvPr>
          <p:cNvSpPr txBox="1"/>
          <p:nvPr/>
        </p:nvSpPr>
        <p:spPr>
          <a:xfrm>
            <a:off x="6473952" y="1963506"/>
            <a:ext cx="51389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board-service</a:t>
            </a:r>
            <a:r>
              <a:rPr lang="ko-KR" altLang="en-US" sz="1200"/>
              <a:t>에서 생성할 </a:t>
            </a:r>
            <a:r>
              <a:rPr lang="en-US" altLang="ko-KR" sz="1200"/>
              <a:t>users</a:t>
            </a:r>
            <a:r>
              <a:rPr lang="ko-KR" altLang="en-US" sz="1200"/>
              <a:t>테이블은 </a:t>
            </a:r>
            <a:br>
              <a:rPr lang="en-US" altLang="ko-KR" sz="1200"/>
            </a:br>
            <a:r>
              <a:rPr lang="ko-KR" altLang="en-US" sz="1200"/>
              <a:t>게시판 정보와 함께 보여줘야하는 사용자 정보만을 설정한다</a:t>
            </a:r>
            <a:r>
              <a:rPr lang="en-US" altLang="ko-KR" sz="1200"/>
              <a:t>. </a:t>
            </a:r>
          </a:p>
          <a:p>
            <a:r>
              <a:rPr lang="ko-KR" altLang="en-US" sz="1200"/>
              <a:t>노출될 필요가 전혀없는 데이터를 </a:t>
            </a:r>
            <a:r>
              <a:rPr lang="en-US" altLang="ko-KR" sz="1200"/>
              <a:t>board-service</a:t>
            </a:r>
            <a:r>
              <a:rPr lang="ko-KR" altLang="en-US" sz="1200"/>
              <a:t> </a:t>
            </a:r>
            <a:r>
              <a:rPr lang="en-US" altLang="ko-KR" sz="1200"/>
              <a:t>DB</a:t>
            </a:r>
            <a:r>
              <a:rPr lang="ko-KR" altLang="en-US" sz="1200"/>
              <a:t>내 </a:t>
            </a:r>
            <a:r>
              <a:rPr lang="en-US" altLang="ko-KR" sz="1200"/>
              <a:t>users</a:t>
            </a:r>
            <a:r>
              <a:rPr lang="ko-KR" altLang="en-US" sz="1200"/>
              <a:t>테이블로 가지고 오면 안된다</a:t>
            </a:r>
            <a:r>
              <a:rPr lang="en-US" altLang="ko-KR" sz="1200"/>
              <a:t>.</a:t>
            </a:r>
          </a:p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78628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666D34-2107-B27B-07B8-6AEB689AA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Board</a:t>
            </a:r>
            <a:r>
              <a:rPr lang="ko-KR" altLang="en-US"/>
              <a:t>엔티티와 </a:t>
            </a:r>
            <a:r>
              <a:rPr lang="en-US" altLang="ko-KR"/>
              <a:t>Users </a:t>
            </a:r>
            <a:r>
              <a:rPr lang="ko-KR" altLang="en-US"/>
              <a:t>연관관계 설정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DA31D6F-BC94-FEFD-0709-F678EDB19DAC}"/>
              </a:ext>
            </a:extLst>
          </p:cNvPr>
          <p:cNvGrpSpPr/>
          <p:nvPr/>
        </p:nvGrpSpPr>
        <p:grpSpPr>
          <a:xfrm>
            <a:off x="112175" y="1888233"/>
            <a:ext cx="4505545" cy="4483638"/>
            <a:chOff x="112175" y="1888233"/>
            <a:chExt cx="4505545" cy="448363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191DDFA-0BF6-892E-49DE-C05C51C31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175" y="1888233"/>
              <a:ext cx="4505545" cy="4483638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2FBD52B-6475-6F9D-FA1E-08A20F609CB3}"/>
                </a:ext>
              </a:extLst>
            </p:cNvPr>
            <p:cNvSpPr/>
            <p:nvPr/>
          </p:nvSpPr>
          <p:spPr>
            <a:xfrm>
              <a:off x="603504" y="3246120"/>
              <a:ext cx="1499616" cy="1828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86D5CC1-F667-8E67-6EA7-4B8456E7653F}"/>
                </a:ext>
              </a:extLst>
            </p:cNvPr>
            <p:cNvSpPr/>
            <p:nvPr/>
          </p:nvSpPr>
          <p:spPr>
            <a:xfrm>
              <a:off x="603504" y="3672836"/>
              <a:ext cx="3931920" cy="51511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0357DE6-BCC5-141A-DC39-C07DC46141B0}"/>
              </a:ext>
            </a:extLst>
          </p:cNvPr>
          <p:cNvSpPr txBox="1"/>
          <p:nvPr/>
        </p:nvSpPr>
        <p:spPr>
          <a:xfrm>
            <a:off x="4681728" y="1888233"/>
            <a:ext cx="739809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1 &gt;  21Line : User</a:t>
            </a:r>
            <a:r>
              <a:rPr lang="ko-KR" altLang="en-US" sz="1200"/>
              <a:t>엔티티 내 </a:t>
            </a:r>
            <a:r>
              <a:rPr lang="en-US" altLang="ko-KR" sz="1200"/>
              <a:t>userId </a:t>
            </a:r>
            <a:r>
              <a:rPr lang="ko-KR" altLang="en-US" sz="1200"/>
              <a:t>가 있음으로 </a:t>
            </a:r>
            <a:r>
              <a:rPr lang="en-US" altLang="ko-KR" sz="1200"/>
              <a:t>Board </a:t>
            </a:r>
            <a:r>
              <a:rPr lang="ko-KR" altLang="en-US" sz="1200"/>
              <a:t>맵핑 시</a:t>
            </a:r>
            <a:r>
              <a:rPr lang="en-US" altLang="ko-KR" sz="1200"/>
              <a:t>, userId</a:t>
            </a:r>
            <a:r>
              <a:rPr lang="ko-KR" altLang="en-US" sz="1200"/>
              <a:t>에 대한 중복 맵핑 </a:t>
            </a:r>
            <a:r>
              <a:rPr lang="en-US" altLang="ko-KR" sz="1200"/>
              <a:t>Exception</a:t>
            </a:r>
            <a:br>
              <a:rPr lang="en-US" altLang="ko-KR" sz="1200"/>
            </a:br>
            <a:r>
              <a:rPr lang="en-US" altLang="ko-KR" sz="1200"/>
              <a:t>                      (DuplicateMappingException) </a:t>
            </a:r>
            <a:r>
              <a:rPr lang="ko-KR" altLang="en-US" sz="1200"/>
              <a:t>이 발생한다</a:t>
            </a:r>
            <a:r>
              <a:rPr lang="en-US" altLang="ko-KR" sz="1200"/>
              <a:t>.  </a:t>
            </a:r>
            <a:r>
              <a:rPr lang="ko-KR" altLang="en-US" sz="1200"/>
              <a:t>이를 방지하고자 </a:t>
            </a:r>
            <a:r>
              <a:rPr lang="en-US" altLang="ko-KR" sz="1200"/>
              <a:t>@Column</a:t>
            </a:r>
            <a:r>
              <a:rPr lang="ko-KR" altLang="en-US" sz="1200"/>
              <a:t>을 통해 </a:t>
            </a:r>
            <a:br>
              <a:rPr lang="en-US" altLang="ko-KR" sz="1200"/>
            </a:br>
            <a:r>
              <a:rPr lang="en-US" altLang="ko-KR" sz="1200"/>
              <a:t>                      Board </a:t>
            </a:r>
            <a:r>
              <a:rPr lang="ko-KR" altLang="en-US" sz="1200"/>
              <a:t>테이블의 </a:t>
            </a:r>
            <a:r>
              <a:rPr lang="en-US" altLang="ko-KR" sz="1200"/>
              <a:t>user_id </a:t>
            </a:r>
            <a:r>
              <a:rPr lang="ko-KR" altLang="en-US" sz="1200"/>
              <a:t>정보임을 명확하게 해준다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en-US" altLang="ko-KR" sz="1200"/>
              <a:t>2 &gt; 24~26Line : insertable</a:t>
            </a:r>
            <a:r>
              <a:rPr lang="ko-KR" altLang="en-US" sz="1200"/>
              <a:t>과 </a:t>
            </a:r>
            <a:r>
              <a:rPr lang="en-US" altLang="ko-KR" sz="1200"/>
              <a:t>updatetable</a:t>
            </a:r>
            <a:r>
              <a:rPr lang="ko-KR" altLang="en-US" sz="1200"/>
              <a:t>이 </a:t>
            </a:r>
            <a:r>
              <a:rPr lang="en-US" altLang="ko-KR" sz="1200"/>
              <a:t>false</a:t>
            </a:r>
            <a:r>
              <a:rPr lang="ko-KR" altLang="en-US" sz="1200"/>
              <a:t>인 이유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	 </a:t>
            </a:r>
            <a:r>
              <a:rPr lang="ko-KR" altLang="en-US" sz="1200"/>
              <a:t>첫번째 이유</a:t>
            </a:r>
            <a:r>
              <a:rPr lang="en-US" altLang="ko-KR" sz="1200"/>
              <a:t> : hibernate</a:t>
            </a:r>
            <a:r>
              <a:rPr lang="ko-KR" altLang="en-US" sz="1200"/>
              <a:t>에서는 내부 엔티티와 동일한 멤버변수를 가지는것을 허가하지 않는다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                                       </a:t>
            </a:r>
            <a:r>
              <a:rPr lang="ko-KR" altLang="en-US" sz="1200"/>
              <a:t>이유는 스칼라 형식으로 데이터를 집어 넣든 연관관계를 통해 쓰든 두 가지 방법이 </a:t>
            </a:r>
            <a:br>
              <a:rPr lang="en-US" altLang="ko-KR" sz="1200"/>
            </a:br>
            <a:r>
              <a:rPr lang="en-US" altLang="ko-KR" sz="1200"/>
              <a:t>                                       </a:t>
            </a:r>
            <a:r>
              <a:rPr lang="ko-KR" altLang="en-US" sz="1200"/>
              <a:t>생기게 되는데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                                      </a:t>
            </a:r>
            <a:r>
              <a:rPr lang="ko-KR" altLang="en-US" sz="1200"/>
              <a:t>직접 데이터를 관리하는 </a:t>
            </a:r>
            <a:r>
              <a:rPr lang="en-US" altLang="ko-KR" sz="1200"/>
              <a:t>hibernate</a:t>
            </a:r>
            <a:r>
              <a:rPr lang="ko-KR" altLang="en-US" sz="1200"/>
              <a:t>입장에선 매우 난처한 상황을 겪을 수 있기에 </a:t>
            </a:r>
            <a:br>
              <a:rPr lang="en-US" altLang="ko-KR" sz="1200"/>
            </a:br>
            <a:r>
              <a:rPr lang="en-US" altLang="ko-KR" sz="1200"/>
              <a:t>                                      </a:t>
            </a:r>
            <a:r>
              <a:rPr lang="ko-KR" altLang="en-US" sz="1200"/>
              <a:t>허용하지 않는다</a:t>
            </a:r>
            <a:r>
              <a:rPr lang="en-US" altLang="ko-KR" sz="1200"/>
              <a:t>. </a:t>
            </a:r>
            <a:br>
              <a:rPr lang="en-US" altLang="ko-KR" sz="1200"/>
            </a:br>
            <a:r>
              <a:rPr lang="en-US" altLang="ko-KR" sz="1200"/>
              <a:t>                                      (board</a:t>
            </a:r>
            <a:r>
              <a:rPr lang="ko-KR" altLang="en-US" sz="1200"/>
              <a:t>의 </a:t>
            </a:r>
            <a:r>
              <a:rPr lang="en-US" altLang="ko-KR" sz="1200"/>
              <a:t>userId </a:t>
            </a:r>
            <a:r>
              <a:rPr lang="ko-KR" altLang="en-US" sz="1200"/>
              <a:t>가 </a:t>
            </a:r>
            <a:r>
              <a:rPr lang="en-US" altLang="ko-KR" sz="1200"/>
              <a:t>null, </a:t>
            </a:r>
            <a:r>
              <a:rPr lang="ko-KR" altLang="en-US" sz="1200"/>
              <a:t>연관관계 </a:t>
            </a:r>
            <a:r>
              <a:rPr lang="en-US" altLang="ko-KR" sz="1200"/>
              <a:t>user.userId </a:t>
            </a:r>
            <a:r>
              <a:rPr lang="ko-KR" altLang="en-US" sz="1200"/>
              <a:t>가 값이 변경 되었다고 가정하자 </a:t>
            </a:r>
            <a:br>
              <a:rPr lang="en-US" altLang="ko-KR" sz="1200"/>
            </a:br>
            <a:r>
              <a:rPr lang="en-US" altLang="ko-KR" sz="1200"/>
              <a:t>                                       hibernate</a:t>
            </a:r>
            <a:r>
              <a:rPr lang="ko-KR" altLang="en-US" sz="1200"/>
              <a:t>입장에선 </a:t>
            </a:r>
            <a:r>
              <a:rPr lang="en-US" altLang="ko-KR" sz="1200"/>
              <a:t>null</a:t>
            </a:r>
            <a:r>
              <a:rPr lang="ko-KR" altLang="en-US" sz="1200"/>
              <a:t>이 맞는 데이터인지 </a:t>
            </a:r>
            <a:r>
              <a:rPr lang="en-US" altLang="ko-KR" sz="1200"/>
              <a:t>userId</a:t>
            </a:r>
            <a:r>
              <a:rPr lang="ko-KR" altLang="en-US" sz="1200"/>
              <a:t>가 맞는 데이터인지 알 수 없다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			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/>
              <a:t>그래서 어느 한쪽은 쓰기가 불가능하게 설정이 되어야만 한다</a:t>
            </a:r>
            <a:r>
              <a:rPr lang="en-US" altLang="ko-KR" sz="1200"/>
              <a:t>.)</a:t>
            </a:r>
            <a:br>
              <a:rPr lang="en-US" altLang="ko-KR" sz="1200"/>
            </a:br>
            <a:r>
              <a:rPr lang="en-US" altLang="ko-KR" sz="1200"/>
              <a:t>    	 </a:t>
            </a:r>
            <a:br>
              <a:rPr lang="en-US" altLang="ko-KR" sz="1200"/>
            </a:br>
            <a:r>
              <a:rPr lang="en-US" altLang="ko-KR" sz="1200"/>
              <a:t>	</a:t>
            </a:r>
            <a:r>
              <a:rPr lang="ko-KR" altLang="en-US" sz="1200"/>
              <a:t>두번째 이유 </a:t>
            </a:r>
            <a:r>
              <a:rPr lang="en-US" altLang="ko-KR" sz="1200"/>
              <a:t>:</a:t>
            </a:r>
            <a:r>
              <a:rPr lang="en-US" altLang="ko-KR" sz="1200">
                <a:latin typeface="+mj-ea"/>
                <a:ea typeface="+mj-ea"/>
              </a:rPr>
              <a:t>MSA</a:t>
            </a:r>
            <a:r>
              <a:rPr lang="ko-KR" altLang="en-US" sz="1200">
                <a:latin typeface="+mj-ea"/>
                <a:ea typeface="+mj-ea"/>
              </a:rPr>
              <a:t>에서 </a:t>
            </a:r>
            <a:r>
              <a:rPr lang="en-US" altLang="ko-KR" sz="1200" b="1">
                <a:solidFill>
                  <a:srgbClr val="FF0000"/>
                </a:solidFill>
                <a:latin typeface="+mj-ea"/>
                <a:ea typeface="+mj-ea"/>
              </a:rPr>
              <a:t>"</a:t>
            </a:r>
            <a:r>
              <a:rPr lang="ko-KR" altLang="en-US" sz="1200" b="1">
                <a:solidFill>
                  <a:srgbClr val="FF0000"/>
                </a:solidFill>
                <a:latin typeface="+mj-ea"/>
                <a:ea typeface="+mj-ea"/>
              </a:rPr>
              <a:t>게시글 작성</a:t>
            </a:r>
            <a:r>
              <a:rPr lang="en-US" altLang="ko-KR" sz="1200" b="1">
                <a:solidFill>
                  <a:srgbClr val="FF0000"/>
                </a:solidFill>
                <a:latin typeface="+mj-ea"/>
                <a:ea typeface="+mj-ea"/>
              </a:rPr>
              <a:t>"</a:t>
            </a:r>
            <a:r>
              <a:rPr lang="ko-KR" altLang="en-US" sz="1200" b="1">
                <a:solidFill>
                  <a:srgbClr val="FF0000"/>
                </a:solidFill>
                <a:latin typeface="+mj-ea"/>
                <a:ea typeface="+mj-ea"/>
              </a:rPr>
              <a:t>이라는 쓰기 작업</a:t>
            </a:r>
            <a:r>
              <a:rPr lang="ko-KR" altLang="en-US" sz="1200">
                <a:latin typeface="+mj-ea"/>
                <a:ea typeface="+mj-ea"/>
              </a:rPr>
              <a:t>이 </a:t>
            </a:r>
            <a:r>
              <a:rPr lang="ko-KR" altLang="en-US" sz="1200" b="1">
                <a:solidFill>
                  <a:srgbClr val="FF0000"/>
                </a:solidFill>
                <a:latin typeface="+mj-ea"/>
                <a:ea typeface="+mj-ea"/>
              </a:rPr>
              <a:t>다른 서비스</a:t>
            </a:r>
            <a:r>
              <a:rPr lang="en-US" altLang="ko-KR" sz="1200" b="1">
                <a:solidFill>
                  <a:srgbClr val="FF0000"/>
                </a:solidFill>
                <a:latin typeface="+mj-ea"/>
                <a:ea typeface="+mj-ea"/>
              </a:rPr>
              <a:t>(user-service)</a:t>
            </a:r>
            <a:r>
              <a:rPr lang="ko-KR" altLang="en-US" sz="1200">
                <a:latin typeface="+mj-ea"/>
                <a:ea typeface="+mj-ea"/>
              </a:rPr>
              <a:t>의 </a:t>
            </a:r>
            <a:br>
              <a:rPr lang="en-US" altLang="ko-KR" sz="1200">
                <a:latin typeface="+mj-ea"/>
                <a:ea typeface="+mj-ea"/>
              </a:rPr>
            </a:br>
            <a:r>
              <a:rPr lang="en-US" altLang="ko-KR" sz="1200">
                <a:latin typeface="+mj-ea"/>
                <a:ea typeface="+mj-ea"/>
              </a:rPr>
              <a:t>                         </a:t>
            </a:r>
            <a:r>
              <a:rPr lang="ko-KR" altLang="en-US" sz="1200" b="1">
                <a:solidFill>
                  <a:srgbClr val="FF0000"/>
                </a:solidFill>
                <a:latin typeface="+mj-ea"/>
                <a:ea typeface="+mj-ea"/>
              </a:rPr>
              <a:t>동기화 상태에 의존</a:t>
            </a:r>
            <a:r>
              <a:rPr lang="ko-KR" altLang="en-US" sz="1200">
                <a:latin typeface="+mj-ea"/>
                <a:ea typeface="+mj-ea"/>
              </a:rPr>
              <a:t>하면 안 되기 때문이다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br>
              <a:rPr lang="en-US" altLang="ko-KR" sz="1200">
                <a:latin typeface="+mj-ea"/>
                <a:ea typeface="+mj-ea"/>
              </a:rPr>
            </a:br>
            <a:r>
              <a:rPr lang="en-US" altLang="ko-KR" sz="1200">
                <a:latin typeface="+mj-ea"/>
                <a:ea typeface="+mj-ea"/>
              </a:rPr>
              <a:t>                         (</a:t>
            </a:r>
            <a:r>
              <a:rPr lang="ko-KR" altLang="en-US" sz="1200">
                <a:latin typeface="+mj-ea"/>
                <a:ea typeface="+mj-ea"/>
              </a:rPr>
              <a:t>연관관계로의 쓰기작업을 하면 안되는 이유</a:t>
            </a:r>
            <a:r>
              <a:rPr lang="en-US" altLang="ko-KR" sz="1200">
                <a:latin typeface="+mj-ea"/>
                <a:ea typeface="+mj-ea"/>
              </a:rPr>
              <a:t>)</a:t>
            </a:r>
            <a:endParaRPr lang="ko-KR" altLang="en-US" sz="12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37769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4D9FF-E754-A38C-8BF7-3C65E78F2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board-service</a:t>
            </a:r>
            <a:r>
              <a:rPr lang="ko-KR" altLang="en-US" sz="3600"/>
              <a:t>에서 </a:t>
            </a:r>
            <a:r>
              <a:rPr lang="en-US" altLang="ko-KR" sz="3600"/>
              <a:t>User</a:t>
            </a:r>
            <a:r>
              <a:rPr lang="ko-KR" altLang="en-US" sz="3600"/>
              <a:t>를 저장하기 위한 </a:t>
            </a:r>
            <a:r>
              <a:rPr lang="en-US" altLang="ko-KR" sz="3600"/>
              <a:t>DTO</a:t>
            </a:r>
            <a:r>
              <a:rPr lang="ko-KR" altLang="en-US" sz="3600"/>
              <a:t>작성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A8526EB-70D0-5E5C-04AB-CF53FF0F8BBA}"/>
              </a:ext>
            </a:extLst>
          </p:cNvPr>
          <p:cNvGrpSpPr/>
          <p:nvPr/>
        </p:nvGrpSpPr>
        <p:grpSpPr>
          <a:xfrm>
            <a:off x="434732" y="1879999"/>
            <a:ext cx="2562583" cy="3372321"/>
            <a:chOff x="434732" y="1879999"/>
            <a:chExt cx="2562583" cy="337232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DC03344-6C96-0F7A-3796-0010729D4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4732" y="1879999"/>
              <a:ext cx="2562583" cy="3372321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32CC2F0-4E86-6DB9-4411-6C5DA505CB36}"/>
                </a:ext>
              </a:extLst>
            </p:cNvPr>
            <p:cNvSpPr/>
            <p:nvPr/>
          </p:nvSpPr>
          <p:spPr>
            <a:xfrm>
              <a:off x="804672" y="4581144"/>
              <a:ext cx="1645920" cy="31089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F5BBD50-E80A-5AE7-4837-AB594F90597B}"/>
              </a:ext>
            </a:extLst>
          </p:cNvPr>
          <p:cNvSpPr txBox="1"/>
          <p:nvPr/>
        </p:nvSpPr>
        <p:spPr>
          <a:xfrm>
            <a:off x="3122307" y="1879999"/>
            <a:ext cx="3333357" cy="36830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SaveUserRequestDto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SaveUserRequestDto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0C1AD1-3A68-3432-9C60-A6D09AC62910}"/>
              </a:ext>
            </a:extLst>
          </p:cNvPr>
          <p:cNvSpPr txBox="1"/>
          <p:nvPr/>
        </p:nvSpPr>
        <p:spPr>
          <a:xfrm>
            <a:off x="6611112" y="1879999"/>
            <a:ext cx="51461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board-service</a:t>
            </a:r>
            <a:r>
              <a:rPr lang="ko-KR" altLang="en-US"/>
              <a:t> 애플리케이션 내 </a:t>
            </a:r>
            <a:endParaRPr lang="en-US" altLang="ko-KR"/>
          </a:p>
          <a:p>
            <a:r>
              <a:rPr lang="en-US" altLang="ko-KR"/>
              <a:t>UserService </a:t>
            </a:r>
            <a:r>
              <a:rPr lang="ko-KR" altLang="en-US"/>
              <a:t>에서</a:t>
            </a:r>
            <a:r>
              <a:rPr lang="en-US" altLang="ko-KR"/>
              <a:t> signUp</a:t>
            </a:r>
            <a:r>
              <a:rPr lang="ko-KR" altLang="en-US"/>
              <a:t>메소드의 인자로 전달받을</a:t>
            </a:r>
            <a:br>
              <a:rPr lang="en-US" altLang="ko-KR"/>
            </a:br>
            <a:r>
              <a:rPr lang="en-US" altLang="ko-KR"/>
              <a:t>SaveUserRequestDto </a:t>
            </a:r>
            <a:r>
              <a:rPr lang="ko-KR" altLang="en-US"/>
              <a:t>작성</a:t>
            </a:r>
          </a:p>
        </p:txBody>
      </p:sp>
    </p:spTree>
    <p:extLst>
      <p:ext uri="{BB962C8B-B14F-4D97-AF65-F5344CB8AC3E}">
        <p14:creationId xmlns:p14="http://schemas.microsoft.com/office/powerpoint/2010/main" val="2676881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B7EDFC-2E5D-0629-281A-E2382E2D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board-service </a:t>
            </a:r>
            <a:r>
              <a:rPr lang="ko-KR" altLang="en-US"/>
              <a:t>내 </a:t>
            </a:r>
            <a:r>
              <a:rPr lang="en-US" altLang="ko-KR"/>
              <a:t>UserService </a:t>
            </a:r>
            <a:r>
              <a:rPr lang="ko-KR" altLang="en-US"/>
              <a:t>작성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FDBFE1-26AF-FD52-7A04-43838E6455B9}"/>
              </a:ext>
            </a:extLst>
          </p:cNvPr>
          <p:cNvSpPr txBox="1"/>
          <p:nvPr/>
        </p:nvSpPr>
        <p:spPr>
          <a:xfrm>
            <a:off x="3605022" y="1867701"/>
            <a:ext cx="4386834" cy="330879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Service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UserService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UserRepository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userRepository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UserService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UserRepository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userRepository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userRepository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userRepository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Transactional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SaveUserRequestDto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saveUserRequestDto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saveUserRequestDto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saveUserRequestDto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userRepository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34A7947-3E44-ED0C-1044-AD4C443BEBAD}"/>
              </a:ext>
            </a:extLst>
          </p:cNvPr>
          <p:cNvGrpSpPr/>
          <p:nvPr/>
        </p:nvGrpSpPr>
        <p:grpSpPr>
          <a:xfrm>
            <a:off x="797816" y="1867701"/>
            <a:ext cx="2695951" cy="4896533"/>
            <a:chOff x="797816" y="1867701"/>
            <a:chExt cx="2695951" cy="489653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048CD16-B608-C075-15D6-7B8855795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7816" y="1867701"/>
              <a:ext cx="2695951" cy="4896533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BF0C64C-F47E-00C4-CC76-3F9BC7BC5083}"/>
                </a:ext>
              </a:extLst>
            </p:cNvPr>
            <p:cNvSpPr/>
            <p:nvPr/>
          </p:nvSpPr>
          <p:spPr>
            <a:xfrm>
              <a:off x="1179576" y="6291072"/>
              <a:ext cx="1143000" cy="2803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EB138B3-3E49-D5A6-87AA-DEF21B9D4B45}"/>
              </a:ext>
            </a:extLst>
          </p:cNvPr>
          <p:cNvSpPr txBox="1"/>
          <p:nvPr/>
        </p:nvSpPr>
        <p:spPr>
          <a:xfrm>
            <a:off x="8065008" y="1867701"/>
            <a:ext cx="3931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consumer</a:t>
            </a:r>
            <a:r>
              <a:rPr lang="ko-KR" altLang="en-US" sz="1200"/>
              <a:t>로 부터 저장하려는 정보를 가지고있는 </a:t>
            </a:r>
            <a:r>
              <a:rPr lang="en-US" altLang="ko-KR" sz="1200"/>
              <a:t>SaveuserRequestDto</a:t>
            </a:r>
            <a:r>
              <a:rPr lang="ko-KR" altLang="en-US" sz="1200"/>
              <a:t>를 받아 </a:t>
            </a:r>
            <a:r>
              <a:rPr lang="en-US" altLang="ko-KR" sz="1200"/>
              <a:t>User</a:t>
            </a:r>
            <a:r>
              <a:rPr lang="ko-KR" altLang="en-US" sz="1200"/>
              <a:t>엔티티를 셋팅하고 저장한다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381079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C7A900-8536-7852-C234-9DDF13E8D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동기화 메세지를 처리하는 </a:t>
            </a:r>
            <a:br>
              <a:rPr lang="en-US" altLang="ko-KR" sz="4000"/>
            </a:br>
            <a:r>
              <a:rPr lang="en-US" altLang="ko-KR" sz="4000"/>
              <a:t>UserSignedUpEventConsumer </a:t>
            </a:r>
            <a:r>
              <a:rPr lang="ko-KR" altLang="en-US" sz="4000"/>
              <a:t>작성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1C956F-9724-A534-A9E5-AE481AD15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68" y="1899387"/>
            <a:ext cx="2562583" cy="126700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EC70E63-809F-B9A6-C617-DEA19530155A}"/>
              </a:ext>
            </a:extLst>
          </p:cNvPr>
          <p:cNvSpPr/>
          <p:nvPr/>
        </p:nvSpPr>
        <p:spPr>
          <a:xfrm>
            <a:off x="932688" y="2926080"/>
            <a:ext cx="2148840" cy="2403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A4370F-364C-5B52-BB9F-C323BDEAA790}"/>
              </a:ext>
            </a:extLst>
          </p:cNvPr>
          <p:cNvSpPr txBox="1"/>
          <p:nvPr/>
        </p:nvSpPr>
        <p:spPr>
          <a:xfrm>
            <a:off x="3322886" y="1899387"/>
            <a:ext cx="5546228" cy="438927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Component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UserSignedUpEventConsumer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UserService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userService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UserSignedUpEventConsumer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UserService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userService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userService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userService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KafkaListener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topics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"user-signed-up"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"board-service"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concurrency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"3"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consume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UserSignedUpEvent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userSignedUpEvent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UserSignedUpEvent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fromJson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SaveUserRequestDto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saveUserRequestDto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SaveUserRequestDto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userSignedUpEvent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userSignedUpEvent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userService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saveUserRequestDto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702D24-2F7C-432B-F856-11DEDF2A8D8A}"/>
              </a:ext>
            </a:extLst>
          </p:cNvPr>
          <p:cNvSpPr txBox="1"/>
          <p:nvPr/>
        </p:nvSpPr>
        <p:spPr>
          <a:xfrm>
            <a:off x="8997696" y="1899387"/>
            <a:ext cx="312724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kafka </a:t>
            </a:r>
            <a:r>
              <a:rPr lang="ko-KR" altLang="en-US" sz="1100"/>
              <a:t>로부터 전달받은 </a:t>
            </a:r>
            <a:r>
              <a:rPr lang="en-US" altLang="ko-KR" sz="1100"/>
              <a:t>JsonString(UserSignedUpEvent </a:t>
            </a:r>
            <a:r>
              <a:rPr lang="ko-KR" altLang="en-US" sz="1100"/>
              <a:t>객체로 부터 변환</a:t>
            </a:r>
            <a:r>
              <a:rPr lang="en-US" altLang="ko-KR" sz="1100"/>
              <a:t>) </a:t>
            </a:r>
            <a:r>
              <a:rPr lang="ko-KR" altLang="en-US" sz="1100"/>
              <a:t>을 </a:t>
            </a:r>
            <a:r>
              <a:rPr lang="en-US" altLang="ko-KR" sz="1100"/>
              <a:t>UserSignedUpEvent</a:t>
            </a:r>
            <a:r>
              <a:rPr lang="ko-KR" altLang="en-US" sz="1100"/>
              <a:t>로 파싱하고</a:t>
            </a:r>
            <a:r>
              <a:rPr lang="en-US" altLang="ko-KR" sz="1100"/>
              <a:t>,</a:t>
            </a:r>
          </a:p>
          <a:p>
            <a:endParaRPr lang="en-US" altLang="ko-KR" sz="1100"/>
          </a:p>
          <a:p>
            <a:r>
              <a:rPr lang="ko-KR" altLang="en-US" sz="1100"/>
              <a:t>파싱된 데이터를 회원가입 메소드에 전달할 </a:t>
            </a:r>
            <a:endParaRPr lang="en-US" altLang="ko-KR" sz="1100"/>
          </a:p>
          <a:p>
            <a:r>
              <a:rPr lang="en-US" altLang="ko-KR" sz="1100"/>
              <a:t>SaveUserRequestDto</a:t>
            </a:r>
            <a:r>
              <a:rPr lang="ko-KR" altLang="en-US" sz="1100"/>
              <a:t>에 맵핑하여 전달한다</a:t>
            </a:r>
            <a:r>
              <a:rPr lang="en-US" altLang="ko-KR" sz="1100"/>
              <a:t>.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69001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E38764-AF37-53A7-14F2-F34481070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/>
              <a:t>board-service</a:t>
            </a:r>
            <a:r>
              <a:rPr lang="ko-KR" altLang="en-US" sz="2800"/>
              <a:t> 내 </a:t>
            </a:r>
            <a:r>
              <a:rPr lang="en-US" altLang="ko-KR" sz="2800"/>
              <a:t>user</a:t>
            </a:r>
            <a:r>
              <a:rPr lang="ko-KR" altLang="en-US" sz="2800"/>
              <a:t>연관관계를 통한 조회 메소드 성능 개선 </a:t>
            </a:r>
            <a:br>
              <a:rPr lang="en-US" altLang="ko-KR" sz="2800"/>
            </a:br>
            <a:r>
              <a:rPr lang="en-US" altLang="ko-KR" sz="2800"/>
              <a:t>-(</a:t>
            </a:r>
            <a:r>
              <a:rPr lang="ko-KR" altLang="en-US" sz="2800"/>
              <a:t>단일 조회</a:t>
            </a:r>
            <a:r>
              <a:rPr lang="en-US" altLang="ko-KR" sz="2800"/>
              <a:t>)</a:t>
            </a:r>
            <a:endParaRPr lang="ko-KR" altLang="en-US" sz="2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28D6FD-103C-A9F5-2C89-5F3DA3326F0D}"/>
              </a:ext>
            </a:extLst>
          </p:cNvPr>
          <p:cNvSpPr txBox="1"/>
          <p:nvPr/>
        </p:nvSpPr>
        <p:spPr>
          <a:xfrm>
            <a:off x="9144" y="1881294"/>
            <a:ext cx="5749290" cy="456554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getBoard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boardRepository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findById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orElseThrow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altLang="ko-KR" sz="9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IllegalArgumentException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게시글을 찾을수 없습니다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user-service</a:t>
            </a:r>
            <a:r>
              <a:rPr lang="ko-KR" altLang="en-US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로 부터 사용자 정보 불러오기</a:t>
            </a:r>
            <a:endParaRPr lang="ko-KR" altLang="en-US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optionalUserResponseDto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>
                <a:solidFill>
                  <a:srgbClr val="BBBEBF"/>
                </a:solidFill>
                <a:latin typeface="Consolas" panose="020B0609020204030204" pitchFamily="49" charset="0"/>
              </a:rPr>
              <a:t>		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userClient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fetchUser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UserDto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userDto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optionalUserResponseDto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isPresent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optionalUserResponseDto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응답값 조합하기</a:t>
            </a:r>
            <a:endParaRPr lang="ko-KR" altLang="en-US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userDto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UserDto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getBoardId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getTitle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getContent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userDto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536345-F61F-AC47-4A95-42FA385F377E}"/>
              </a:ext>
            </a:extLst>
          </p:cNvPr>
          <p:cNvSpPr txBox="1"/>
          <p:nvPr/>
        </p:nvSpPr>
        <p:spPr>
          <a:xfrm>
            <a:off x="5861304" y="1881294"/>
            <a:ext cx="5859018" cy="29497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연관관계를 활용한 특정 게시글 조회</a:t>
            </a:r>
            <a:endParaRPr lang="ko-KR" altLang="en-US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getBoard2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boardRepository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findById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orElseThrow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altLang="ko-KR" sz="9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IllegalArgumentException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게시글을 찾을 수 없습니다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getBoardId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getTitle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getContent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UserDto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D968C9D5-A178-011F-B5C7-E0DD16F0B3C8}"/>
              </a:ext>
            </a:extLst>
          </p:cNvPr>
          <p:cNvSpPr/>
          <p:nvPr/>
        </p:nvSpPr>
        <p:spPr>
          <a:xfrm>
            <a:off x="5495544" y="3081528"/>
            <a:ext cx="768096" cy="4754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0823E4-2CFF-66D2-D342-51D4DED1EABF}"/>
              </a:ext>
            </a:extLst>
          </p:cNvPr>
          <p:cNvSpPr txBox="1"/>
          <p:nvPr/>
        </p:nvSpPr>
        <p:spPr>
          <a:xfrm>
            <a:off x="5861304" y="4965192"/>
            <a:ext cx="5859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UserDto</a:t>
            </a:r>
            <a:r>
              <a:rPr lang="ko-KR" altLang="en-US" sz="1400"/>
              <a:t> 정보를 </a:t>
            </a:r>
            <a:r>
              <a:rPr lang="en-US" altLang="ko-KR" sz="1400"/>
              <a:t>RestClient </a:t>
            </a:r>
            <a:r>
              <a:rPr lang="ko-KR" altLang="en-US" sz="1400"/>
              <a:t>요청에 의해 받아오는데 사용되는 시간 자원을 내부 테이블을 통해 처리 가능 </a:t>
            </a:r>
            <a:r>
              <a:rPr lang="en-US" altLang="ko-KR" sz="1400"/>
              <a:t>(</a:t>
            </a:r>
            <a:r>
              <a:rPr lang="ko-KR" altLang="en-US" sz="1400"/>
              <a:t>성능향상</a:t>
            </a:r>
            <a:r>
              <a:rPr lang="en-US" altLang="ko-KR" sz="1400"/>
              <a:t>)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39293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4FDD3-3F9F-4FBD-587B-D83AA605E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0602D6E-9019-854E-FFCD-236BADADDED6}"/>
              </a:ext>
            </a:extLst>
          </p:cNvPr>
          <p:cNvSpPr txBox="1"/>
          <p:nvPr/>
        </p:nvSpPr>
        <p:spPr>
          <a:xfrm>
            <a:off x="6791706" y="1737360"/>
            <a:ext cx="5228082" cy="296491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연관관계를 활용한 게시글 전체 조회</a:t>
            </a:r>
            <a:endParaRPr lang="ko-KR" altLang="en-US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getBoards2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boards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boardRepository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findAll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getBoardId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getTitle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getContent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}).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636ACA6-2413-9452-3EC4-7FEF41D9A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/>
              <a:t>board-service</a:t>
            </a:r>
            <a:r>
              <a:rPr lang="ko-KR" altLang="en-US" sz="2800"/>
              <a:t> 내 </a:t>
            </a:r>
            <a:r>
              <a:rPr lang="en-US" altLang="ko-KR" sz="2800"/>
              <a:t>user</a:t>
            </a:r>
            <a:r>
              <a:rPr lang="ko-KR" altLang="en-US" sz="2800"/>
              <a:t>연관관계를 통한 조회 메소드 성능 개선 </a:t>
            </a:r>
            <a:br>
              <a:rPr lang="en-US" altLang="ko-KR" sz="2800"/>
            </a:br>
            <a:r>
              <a:rPr lang="en-US" altLang="ko-KR" sz="2800"/>
              <a:t>-(</a:t>
            </a:r>
            <a:r>
              <a:rPr lang="ko-KR" altLang="en-US" sz="2800"/>
              <a:t>목록 조회</a:t>
            </a:r>
            <a:r>
              <a:rPr lang="en-US" altLang="ko-KR" sz="2800"/>
              <a:t>)</a:t>
            </a:r>
            <a:endParaRPr lang="ko-KR" altLang="en-US" sz="2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467674-46CA-EC6D-CFDD-2FAC8D5031C7}"/>
              </a:ext>
            </a:extLst>
          </p:cNvPr>
          <p:cNvSpPr txBox="1"/>
          <p:nvPr/>
        </p:nvSpPr>
        <p:spPr>
          <a:xfrm>
            <a:off x="182880" y="1737360"/>
            <a:ext cx="6094476" cy="511935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getBoards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boards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boardRepository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findAll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userIds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distinct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userResponseDtos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userClient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fetchUsersByIds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userId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를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로 하는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Map 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생성</a:t>
            </a:r>
            <a:endParaRPr lang="ko-KR" altLang="en-US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UserDto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userMap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userResponseDtos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toMap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getBoardId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getTitle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getContent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userMap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46013217-2FB6-0EEF-067A-65CC6C865CE7}"/>
              </a:ext>
            </a:extLst>
          </p:cNvPr>
          <p:cNvSpPr/>
          <p:nvPr/>
        </p:nvSpPr>
        <p:spPr>
          <a:xfrm>
            <a:off x="6023610" y="3219817"/>
            <a:ext cx="1090422" cy="4754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362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17260E-71E0-C8B4-63EF-5B10A4E9B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회원 가입 테스트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F5E5C1-540F-127D-E45B-F192DBC68B54}"/>
              </a:ext>
            </a:extLst>
          </p:cNvPr>
          <p:cNvSpPr txBox="1"/>
          <p:nvPr/>
        </p:nvSpPr>
        <p:spPr>
          <a:xfrm>
            <a:off x="1097280" y="1892808"/>
            <a:ext cx="1005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/>
              <a:t>회원 서비스 </a:t>
            </a:r>
            <a:r>
              <a:rPr lang="en-US" altLang="ko-KR"/>
              <a:t>DB / </a:t>
            </a:r>
            <a:r>
              <a:rPr lang="ko-KR" altLang="en-US"/>
              <a:t>게시판 서비스 </a:t>
            </a:r>
            <a:r>
              <a:rPr lang="en-US" altLang="ko-KR"/>
              <a:t>DB / </a:t>
            </a:r>
            <a:r>
              <a:rPr lang="ko-KR" altLang="en-US"/>
              <a:t>포인트 서비스 </a:t>
            </a:r>
            <a:r>
              <a:rPr lang="en-US" altLang="ko-KR"/>
              <a:t>DB </a:t>
            </a:r>
            <a:r>
              <a:rPr lang="ko-KR" altLang="en-US"/>
              <a:t>데이터 </a:t>
            </a:r>
            <a:r>
              <a:rPr lang="en-US" altLang="ko-KR"/>
              <a:t>Truncate </a:t>
            </a:r>
            <a:r>
              <a:rPr lang="ko-KR" altLang="en-US"/>
              <a:t>처리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회원가입 </a:t>
            </a:r>
            <a:r>
              <a:rPr lang="en-US" altLang="ko-KR"/>
              <a:t>API </a:t>
            </a:r>
            <a:r>
              <a:rPr lang="ko-KR" altLang="en-US"/>
              <a:t>전송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96D5D00-3F18-350A-B0D3-DCD14CE65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952" y="2539139"/>
            <a:ext cx="3467584" cy="2667372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ECF507F9-D697-8458-FDC2-35AF48988433}"/>
              </a:ext>
            </a:extLst>
          </p:cNvPr>
          <p:cNvGrpSpPr/>
          <p:nvPr/>
        </p:nvGrpSpPr>
        <p:grpSpPr>
          <a:xfrm>
            <a:off x="4745736" y="3319272"/>
            <a:ext cx="6766560" cy="1052835"/>
            <a:chOff x="4745736" y="3319272"/>
            <a:chExt cx="6766560" cy="1052835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63406C1-AEA7-5A68-2AAF-073AE347F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44339" y="3429000"/>
              <a:ext cx="2229161" cy="733527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4EBED806-4D04-C478-34F0-EB93369B7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11711" y="3429000"/>
              <a:ext cx="1152686" cy="94310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CDCAB1A-8065-E86A-55E3-F607943D332E}"/>
                </a:ext>
              </a:extLst>
            </p:cNvPr>
            <p:cNvSpPr txBox="1"/>
            <p:nvPr/>
          </p:nvSpPr>
          <p:spPr>
            <a:xfrm>
              <a:off x="8833104" y="3429000"/>
              <a:ext cx="26791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/>
                <a:t>board-service</a:t>
              </a:r>
              <a:r>
                <a:rPr lang="ko-KR" altLang="en-US" sz="1400"/>
                <a:t> </a:t>
              </a:r>
              <a:r>
                <a:rPr lang="en-US" altLang="ko-KR" sz="1400"/>
                <a:t>board</a:t>
              </a:r>
              <a:r>
                <a:rPr lang="ko-KR" altLang="en-US" sz="1400"/>
                <a:t>테이블과 </a:t>
              </a:r>
              <a:r>
                <a:rPr lang="en-US" altLang="ko-KR" sz="1400"/>
                <a:t>users</a:t>
              </a:r>
              <a:r>
                <a:rPr lang="ko-KR" altLang="en-US" sz="1400"/>
                <a:t>테이블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AFB67713-D6A9-2BB6-DC52-B0DF897D7870}"/>
                </a:ext>
              </a:extLst>
            </p:cNvPr>
            <p:cNvSpPr/>
            <p:nvPr/>
          </p:nvSpPr>
          <p:spPr>
            <a:xfrm>
              <a:off x="4745736" y="3319272"/>
              <a:ext cx="6675120" cy="105283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FE90851-C97B-1856-6266-9EEDF55EB3F3}"/>
              </a:ext>
            </a:extLst>
          </p:cNvPr>
          <p:cNvGrpSpPr/>
          <p:nvPr/>
        </p:nvGrpSpPr>
        <p:grpSpPr>
          <a:xfrm>
            <a:off x="4745736" y="2423160"/>
            <a:ext cx="6766560" cy="796260"/>
            <a:chOff x="4745736" y="2423160"/>
            <a:chExt cx="6766560" cy="79626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E7671E7-1CE8-0B35-E3CD-B40C0B9C7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44339" y="2539139"/>
              <a:ext cx="3820058" cy="590632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8A9A1DE-3176-8318-F940-2CD0743FEFA3}"/>
                </a:ext>
              </a:extLst>
            </p:cNvPr>
            <p:cNvSpPr txBox="1"/>
            <p:nvPr/>
          </p:nvSpPr>
          <p:spPr>
            <a:xfrm>
              <a:off x="8833104" y="2539139"/>
              <a:ext cx="26791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user-service</a:t>
              </a:r>
              <a:r>
                <a:rPr lang="ko-KR" altLang="en-US"/>
                <a:t> </a:t>
              </a:r>
              <a:r>
                <a:rPr lang="en-US" altLang="ko-KR"/>
                <a:t>users</a:t>
              </a:r>
              <a:r>
                <a:rPr lang="ko-KR" altLang="en-US"/>
                <a:t>테이블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F64F3420-A7AA-0379-0D5A-9FD8FB667F33}"/>
                </a:ext>
              </a:extLst>
            </p:cNvPr>
            <p:cNvSpPr/>
            <p:nvPr/>
          </p:nvSpPr>
          <p:spPr>
            <a:xfrm>
              <a:off x="4745736" y="2423160"/>
              <a:ext cx="6675120" cy="7962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CC8D820-DF7E-DD21-AA59-34A0E9F0F7BB}"/>
              </a:ext>
            </a:extLst>
          </p:cNvPr>
          <p:cNvGrpSpPr/>
          <p:nvPr/>
        </p:nvGrpSpPr>
        <p:grpSpPr>
          <a:xfrm>
            <a:off x="5779008" y="4457672"/>
            <a:ext cx="4855464" cy="869928"/>
            <a:chOff x="5779008" y="4671336"/>
            <a:chExt cx="4768925" cy="869928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41D00C1-D856-4054-E565-613A8E112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58919" y="4671336"/>
              <a:ext cx="1790950" cy="800212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A93F2C1-F563-CFD6-FF86-8A3323CB36E4}"/>
                </a:ext>
              </a:extLst>
            </p:cNvPr>
            <p:cNvSpPr txBox="1"/>
            <p:nvPr/>
          </p:nvSpPr>
          <p:spPr>
            <a:xfrm>
              <a:off x="7868741" y="4917553"/>
              <a:ext cx="26791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/>
                <a:t>point-service</a:t>
              </a:r>
              <a:r>
                <a:rPr lang="ko-KR" altLang="en-US" sz="1400"/>
                <a:t>의 </a:t>
              </a:r>
              <a:r>
                <a:rPr lang="en-US" altLang="ko-KR" sz="1400"/>
                <a:t>point</a:t>
              </a:r>
              <a:r>
                <a:rPr lang="ko-KR" altLang="en-US" sz="1400"/>
                <a:t>테이블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471342FE-48EA-EC29-8B97-0C09D3E8CC44}"/>
                </a:ext>
              </a:extLst>
            </p:cNvPr>
            <p:cNvSpPr/>
            <p:nvPr/>
          </p:nvSpPr>
          <p:spPr>
            <a:xfrm>
              <a:off x="5779008" y="4671336"/>
              <a:ext cx="4453128" cy="86992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4709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EF59D-52DA-B6E6-FC92-9306628E6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게시글 작성 테스트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36E259C-4491-6829-3FC5-FC4CBEDE4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667" y="1969416"/>
            <a:ext cx="2953162" cy="2333951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5DEF5977-7336-7CAC-5B91-9F06267DD71F}"/>
              </a:ext>
            </a:extLst>
          </p:cNvPr>
          <p:cNvGrpSpPr/>
          <p:nvPr/>
        </p:nvGrpSpPr>
        <p:grpSpPr>
          <a:xfrm>
            <a:off x="3988801" y="1883664"/>
            <a:ext cx="3957335" cy="952633"/>
            <a:chOff x="3988801" y="1883664"/>
            <a:chExt cx="3957335" cy="95263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93D7886-8E31-2369-9081-799D7FEEA3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8801" y="1969416"/>
              <a:ext cx="3848637" cy="752580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EA5D845-AD01-9016-98EE-3B9583B6E53D}"/>
                </a:ext>
              </a:extLst>
            </p:cNvPr>
            <p:cNvSpPr/>
            <p:nvPr/>
          </p:nvSpPr>
          <p:spPr>
            <a:xfrm>
              <a:off x="3988801" y="1883664"/>
              <a:ext cx="3957335" cy="9526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043D8AB-BB68-C44A-6C5F-16127BDA39AF}"/>
              </a:ext>
            </a:extLst>
          </p:cNvPr>
          <p:cNvGrpSpPr/>
          <p:nvPr/>
        </p:nvGrpSpPr>
        <p:grpSpPr>
          <a:xfrm>
            <a:off x="3988801" y="2918234"/>
            <a:ext cx="4214035" cy="1135832"/>
            <a:chOff x="3841829" y="2924104"/>
            <a:chExt cx="4214035" cy="1135832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9D21D63B-CC44-270B-67F3-A9B087C6D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09543" y="3013250"/>
              <a:ext cx="2324424" cy="100979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91C3D4CE-014D-76C3-0969-EE246C3A1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01888" y="3041828"/>
              <a:ext cx="1286054" cy="952633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A31321D-ECA1-756B-517A-51CE1E435FF3}"/>
                </a:ext>
              </a:extLst>
            </p:cNvPr>
            <p:cNvSpPr/>
            <p:nvPr/>
          </p:nvSpPr>
          <p:spPr>
            <a:xfrm>
              <a:off x="3841829" y="2924104"/>
              <a:ext cx="4214035" cy="11358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E1D769D-67F4-BB37-FE47-3EB9227DDC8C}"/>
              </a:ext>
            </a:extLst>
          </p:cNvPr>
          <p:cNvGrpSpPr/>
          <p:nvPr/>
        </p:nvGrpSpPr>
        <p:grpSpPr>
          <a:xfrm>
            <a:off x="3988801" y="4143212"/>
            <a:ext cx="1991375" cy="876422"/>
            <a:chOff x="3988801" y="4218299"/>
            <a:chExt cx="1991375" cy="876422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62F5A0E1-E009-507E-C13A-B6AAD3D79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88801" y="4218299"/>
              <a:ext cx="1838582" cy="876422"/>
            </a:xfrm>
            <a:prstGeom prst="rect">
              <a:avLst/>
            </a:prstGeom>
          </p:spPr>
        </p:pic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EED2BE0-61D3-7312-5F2E-169B14462CE8}"/>
                </a:ext>
              </a:extLst>
            </p:cNvPr>
            <p:cNvSpPr/>
            <p:nvPr/>
          </p:nvSpPr>
          <p:spPr>
            <a:xfrm>
              <a:off x="3988801" y="4218299"/>
              <a:ext cx="1991375" cy="8764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800200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91ED6E-5E36-190C-213A-4BAA47F02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게시글 및 목록 조회 테스트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1A420E8-AD59-EEE7-4104-7C3219DB2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10" y="4337394"/>
            <a:ext cx="4039164" cy="143847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277A5BC-B18D-4985-0C69-A985CECEA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469" y="4337394"/>
            <a:ext cx="6687483" cy="117173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3D72883-D128-32E2-4E66-7482F14E8F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469" y="2288963"/>
            <a:ext cx="6687483" cy="11972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BDD4AD4-CD78-64CA-8BE2-950CF559D1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010" y="2288963"/>
            <a:ext cx="4058216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532604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318</TotalTime>
  <Words>2010</Words>
  <Application>Microsoft Office PowerPoint</Application>
  <PresentationFormat>와이드스크린</PresentationFormat>
  <Paragraphs>341</Paragraphs>
  <Slides>17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맑은 고딕</vt:lpstr>
      <vt:lpstr>Calibri</vt:lpstr>
      <vt:lpstr>Calibri Light</vt:lpstr>
      <vt:lpstr>Consolas</vt:lpstr>
      <vt:lpstr>Wingdings</vt:lpstr>
      <vt:lpstr>추억</vt:lpstr>
      <vt:lpstr>메시징 기반의 데이터 동기화 방식</vt:lpstr>
      <vt:lpstr>메시징 기반의 데이터 동기화를 고려해야하는 상황</vt:lpstr>
      <vt:lpstr>user-service에 Producer 설정 추가</vt:lpstr>
      <vt:lpstr>회원가입완료 동기화 메세지 전달DTO 작성</vt:lpstr>
      <vt:lpstr>회원가입 서비스 로직 변경</vt:lpstr>
      <vt:lpstr>board-service에 Consumer 설정 추가</vt:lpstr>
      <vt:lpstr>Producer로 부터 전달받을UserSignedUpEvent(DTO) 작성</vt:lpstr>
      <vt:lpstr>board-service에 Users테이블 생성을 위한 User엔티티 작성</vt:lpstr>
      <vt:lpstr>Board엔티티와 Users 연관관계 설정</vt:lpstr>
      <vt:lpstr>board-service에서 User를 저장하기 위한 DTO작성</vt:lpstr>
      <vt:lpstr>board-service 내 UserService 작성</vt:lpstr>
      <vt:lpstr>동기화 메세지를 처리하는  UserSignedUpEventConsumer 작성</vt:lpstr>
      <vt:lpstr>board-service 내 user연관관계를 통한 조회 메소드 성능 개선  -(단일 조회)</vt:lpstr>
      <vt:lpstr>board-service 내 user연관관계를 통한 조회 메소드 성능 개선  -(목록 조회)</vt:lpstr>
      <vt:lpstr>회원 가입 테스트</vt:lpstr>
      <vt:lpstr>게시글 작성 테스트</vt:lpstr>
      <vt:lpstr>게시글 및 목록 조회 테스트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43</cp:revision>
  <dcterms:created xsi:type="dcterms:W3CDTF">2026-08-15T10:19:48Z</dcterms:created>
  <dcterms:modified xsi:type="dcterms:W3CDTF">2026-08-15T15:38:10Z</dcterms:modified>
</cp:coreProperties>
</file>