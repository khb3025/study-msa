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C67E2C3-34CB-4912-BD0F-3FB5458BB881}">
          <p14:sldIdLst>
            <p14:sldId id="256"/>
          </p14:sldIdLst>
        </p14:section>
        <p14:section name="MSA RollBack 문제 확인하기" id="{D661462A-5961-4036-9309-D97665285579}">
          <p14:sldIdLst>
            <p14:sldId id="257"/>
            <p14:sldId id="258"/>
            <p14:sldId id="259"/>
            <p14:sldId id="260"/>
          </p14:sldIdLst>
        </p14:section>
        <p14:section name="Saga패턴 적용하기" id="{F6FB0C8D-5F5A-4B72-8A0E-1B7D7DDF79DC}">
          <p14:sldIdLst>
            <p14:sldId id="262"/>
            <p14:sldId id="263"/>
            <p14:sldId id="261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47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09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226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06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77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59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17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3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1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74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A93F852-B290-4013-8F3C-3F3469BE53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74693C6-604E-4C79-8566-DA27B9CDD28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66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23257-F499-27B1-E374-7B294DA0C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/>
              <a:t>MSA</a:t>
            </a:r>
            <a:r>
              <a:rPr lang="ko-KR" altLang="en-US" sz="6000"/>
              <a:t>환경에서 트랜잭션 관리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C13849-4CCE-DA1C-6301-9E21B4D3A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독립된 </a:t>
            </a:r>
            <a:r>
              <a:rPr lang="en-US" altLang="ko-KR" sz="2000"/>
              <a:t>DB</a:t>
            </a:r>
            <a:r>
              <a:rPr lang="ko-KR" altLang="en-US" sz="2000"/>
              <a:t>구조와 트랜잭션에 의해 </a:t>
            </a:r>
            <a:r>
              <a:rPr lang="en-US" altLang="ko-KR" sz="2000"/>
              <a:t>RollBack</a:t>
            </a:r>
            <a:r>
              <a:rPr lang="ko-KR" altLang="en-US" sz="2000"/>
              <a:t>되지 않는 서비스에 대한 처리방법</a:t>
            </a:r>
          </a:p>
        </p:txBody>
      </p:sp>
    </p:spTree>
    <p:extLst>
      <p:ext uri="{BB962C8B-B14F-4D97-AF65-F5344CB8AC3E}">
        <p14:creationId xmlns:p14="http://schemas.microsoft.com/office/powerpoint/2010/main" val="290020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50BFE-2364-15CC-2BC8-103D8E5E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문제시 되는 상황 구현 </a:t>
            </a:r>
            <a:r>
              <a:rPr lang="en-US" altLang="ko-KR" sz="3200"/>
              <a:t>– ActiveScore Service Exception</a:t>
            </a:r>
            <a:endParaRPr lang="ko-KR" altLang="en-US" sz="3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BA7A8-85D5-17E6-E5E0-C9BD4AC90A76}"/>
              </a:ext>
            </a:extLst>
          </p:cNvPr>
          <p:cNvSpPr txBox="1"/>
          <p:nvPr/>
        </p:nvSpPr>
        <p:spPr>
          <a:xfrm>
            <a:off x="3531870" y="1940865"/>
            <a:ext cx="6094476" cy="24143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Transactional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사용자를 찾을수 없습니다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getScore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에러 발생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C682092-715C-1A3F-5D8A-B01F78C42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86" y="1940865"/>
            <a:ext cx="2603369" cy="47990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C4274F-EF7C-E3CE-551C-41A5050A3CEB}"/>
              </a:ext>
            </a:extLst>
          </p:cNvPr>
          <p:cNvSpPr txBox="1"/>
          <p:nvPr/>
        </p:nvSpPr>
        <p:spPr>
          <a:xfrm>
            <a:off x="3531870" y="4425696"/>
            <a:ext cx="8327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UserService</a:t>
            </a:r>
            <a:r>
              <a:rPr lang="ko-KR" altLang="en-US" sz="1200"/>
              <a:t>에서 </a:t>
            </a:r>
            <a:r>
              <a:rPr lang="en-US" altLang="ko-KR" sz="1200"/>
              <a:t>activeScore </a:t>
            </a:r>
            <a:r>
              <a:rPr lang="ko-KR" altLang="en-US" sz="1200"/>
              <a:t>로직에 </a:t>
            </a:r>
            <a:r>
              <a:rPr lang="en-US" altLang="ko-KR" sz="1200"/>
              <a:t>Exception</a:t>
            </a:r>
            <a:r>
              <a:rPr lang="ko-KR" altLang="en-US" sz="1200"/>
              <a:t>을 강제로 발생시킨다고 하였을 때</a:t>
            </a:r>
            <a:r>
              <a:rPr lang="en-US" altLang="ko-KR" sz="1200"/>
              <a:t>,</a:t>
            </a:r>
          </a:p>
          <a:p>
            <a:r>
              <a:rPr lang="en-US" altLang="ko-KR" sz="1200"/>
              <a:t>Board-service </a:t>
            </a:r>
            <a:r>
              <a:rPr lang="ko-KR" altLang="en-US" sz="1200"/>
              <a:t>게시글 등록 </a:t>
            </a:r>
            <a:r>
              <a:rPr lang="en-US" altLang="ko-KR" sz="1200"/>
              <a:t>API</a:t>
            </a:r>
            <a:r>
              <a:rPr lang="ko-KR" altLang="en-US" sz="1200"/>
              <a:t>의 트랜잭션을 살펴본다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7008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39A5CB0-9A15-51C2-A094-8A144BB6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명확한 확인을 위한 </a:t>
            </a:r>
            <a:r>
              <a:rPr lang="en-US" altLang="ko-KR"/>
              <a:t>DB </a:t>
            </a:r>
            <a:r>
              <a:rPr lang="ko-KR" altLang="en-US"/>
              <a:t>데이터 수정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AD8732-6F33-92FF-DB9D-A81105941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62" y="1910618"/>
            <a:ext cx="3991532" cy="1390844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3360D8-D56E-2F06-BC4E-427538A9E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620" y="1910618"/>
            <a:ext cx="3648584" cy="1076475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F1B4DA3-6D07-00A4-D4B8-BD980D71D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930" y="1910618"/>
            <a:ext cx="2819794" cy="1962424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596F07-6424-D38C-B3FC-F885F59440CA}"/>
              </a:ext>
            </a:extLst>
          </p:cNvPr>
          <p:cNvSpPr txBox="1"/>
          <p:nvPr/>
        </p:nvSpPr>
        <p:spPr>
          <a:xfrm>
            <a:off x="552362" y="3371873"/>
            <a:ext cx="389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F7FE0-3EF3-87F5-90E6-9AD6B742445C}"/>
              </a:ext>
            </a:extLst>
          </p:cNvPr>
          <p:cNvSpPr txBox="1"/>
          <p:nvPr/>
        </p:nvSpPr>
        <p:spPr>
          <a:xfrm>
            <a:off x="4734218" y="3095767"/>
            <a:ext cx="389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Board</a:t>
            </a: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47B36-9E66-A8E4-8C9C-DB3EA9EBE1EA}"/>
              </a:ext>
            </a:extLst>
          </p:cNvPr>
          <p:cNvSpPr txBox="1"/>
          <p:nvPr/>
        </p:nvSpPr>
        <p:spPr>
          <a:xfrm>
            <a:off x="8625840" y="3453691"/>
            <a:ext cx="1846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Point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0957A9-F7B9-BFFB-8F01-BD2DFA80D963}"/>
              </a:ext>
            </a:extLst>
          </p:cNvPr>
          <p:cNvSpPr txBox="1"/>
          <p:nvPr/>
        </p:nvSpPr>
        <p:spPr>
          <a:xfrm>
            <a:off x="704088" y="4288536"/>
            <a:ext cx="9768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데이터를 명확하게 확인할 수 있도록 </a:t>
            </a:r>
            <a:endParaRPr lang="en-US" altLang="ko-KR"/>
          </a:p>
          <a:p>
            <a:r>
              <a:rPr lang="en-US" altLang="ko-KR"/>
              <a:t>1. User</a:t>
            </a:r>
            <a:r>
              <a:rPr lang="ko-KR" altLang="en-US"/>
              <a:t>의 </a:t>
            </a:r>
            <a:r>
              <a:rPr lang="en-US" altLang="ko-KR"/>
              <a:t>activeScore</a:t>
            </a:r>
            <a:r>
              <a:rPr lang="ko-KR" altLang="en-US"/>
              <a:t>를 </a:t>
            </a:r>
            <a:r>
              <a:rPr lang="en-US" altLang="ko-KR"/>
              <a:t>0</a:t>
            </a:r>
            <a:r>
              <a:rPr lang="ko-KR" altLang="en-US"/>
              <a:t>으로 </a:t>
            </a:r>
            <a:r>
              <a:rPr lang="en-US" altLang="ko-KR"/>
              <a:t>(</a:t>
            </a:r>
            <a:r>
              <a:rPr lang="ko-KR" altLang="en-US"/>
              <a:t>회원 </a:t>
            </a:r>
            <a:r>
              <a:rPr lang="en-US" altLang="ko-KR"/>
              <a:t>ID </a:t>
            </a:r>
            <a:r>
              <a:rPr lang="ko-KR" altLang="en-US"/>
              <a:t>도 </a:t>
            </a:r>
            <a:r>
              <a:rPr lang="en-US" altLang="ko-KR"/>
              <a:t>auto_increment</a:t>
            </a:r>
            <a:r>
              <a:rPr lang="ko-KR" altLang="en-US"/>
              <a:t>에 맞게 맞춘다</a:t>
            </a:r>
            <a:r>
              <a:rPr lang="en-US" altLang="ko-KR"/>
              <a:t>.)</a:t>
            </a:r>
          </a:p>
          <a:p>
            <a:r>
              <a:rPr lang="en-US" altLang="ko-KR"/>
              <a:t>2. </a:t>
            </a:r>
            <a:r>
              <a:rPr lang="ko-KR" altLang="en-US"/>
              <a:t>게시글을 모두 삭제</a:t>
            </a:r>
            <a:endParaRPr lang="en-US" altLang="ko-KR"/>
          </a:p>
          <a:p>
            <a:r>
              <a:rPr lang="en-US" altLang="ko-KR"/>
              <a:t>3. </a:t>
            </a:r>
            <a:r>
              <a:rPr lang="ko-KR" altLang="en-US"/>
              <a:t>포인트를 초기 회원가입시 주는 </a:t>
            </a:r>
            <a:r>
              <a:rPr lang="en-US" altLang="ko-KR"/>
              <a:t>1000</a:t>
            </a:r>
            <a:r>
              <a:rPr lang="ko-KR" altLang="en-US"/>
              <a:t>포인트로 고정한다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01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9D7AD-3034-0800-15D5-1939B4D6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등록</a:t>
            </a:r>
            <a:r>
              <a:rPr lang="en-US" altLang="ko-KR"/>
              <a:t>API</a:t>
            </a:r>
            <a:r>
              <a:rPr lang="ko-KR" altLang="en-US"/>
              <a:t> 트랜잭션 살펴보기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D3BC5C-37D9-739B-811E-1903CE34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42" y="1907703"/>
            <a:ext cx="4932546" cy="18779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31E5D8-E5E1-6264-23F4-EA9C443802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98"/>
          <a:stretch>
            <a:fillRect/>
          </a:stretch>
        </p:blipFill>
        <p:spPr>
          <a:xfrm>
            <a:off x="5660136" y="1907703"/>
            <a:ext cx="3876310" cy="476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ED5FAE-FA96-6040-C835-6C4C9037EAF0}"/>
              </a:ext>
            </a:extLst>
          </p:cNvPr>
          <p:cNvSpPr txBox="1"/>
          <p:nvPr/>
        </p:nvSpPr>
        <p:spPr>
          <a:xfrm>
            <a:off x="5660136" y="2496100"/>
            <a:ext cx="60465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게시글 등록 </a:t>
            </a:r>
            <a:r>
              <a:rPr lang="en-US" altLang="ko-KR" sz="1200"/>
              <a:t>API</a:t>
            </a:r>
            <a:r>
              <a:rPr lang="ko-KR" altLang="en-US" sz="1200"/>
              <a:t>를 요청할 시 예상대로 사용자 활동 스코어에 대한 요청에서 에러가 발생하기에 </a:t>
            </a:r>
            <a:r>
              <a:rPr lang="en-US" altLang="ko-KR" sz="1200"/>
              <a:t>Internal</a:t>
            </a:r>
            <a:r>
              <a:rPr lang="ko-KR" altLang="en-US" sz="1200"/>
              <a:t> </a:t>
            </a:r>
            <a:r>
              <a:rPr lang="en-US" altLang="ko-KR" sz="1200"/>
              <a:t>Server</a:t>
            </a:r>
            <a:r>
              <a:rPr lang="ko-KR" altLang="en-US" sz="1200"/>
              <a:t>에러를 일으킨다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@Transactional</a:t>
            </a:r>
            <a:r>
              <a:rPr lang="ko-KR" altLang="en-US" sz="1200"/>
              <a:t>로 묶여있기에 어느 하나의 로직이더라도 </a:t>
            </a:r>
            <a:r>
              <a:rPr lang="en-US" altLang="ko-KR" sz="1200"/>
              <a:t>DB</a:t>
            </a:r>
            <a:r>
              <a:rPr lang="ko-KR" altLang="en-US" sz="1200"/>
              <a:t>를 롤백 시켜야하지만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MSA </a:t>
            </a:r>
            <a:r>
              <a:rPr lang="ko-KR" altLang="en-US" sz="1200"/>
              <a:t>환경은 독립적으로 </a:t>
            </a:r>
            <a:r>
              <a:rPr lang="en-US" altLang="ko-KR" sz="1200"/>
              <a:t>DB</a:t>
            </a:r>
            <a:r>
              <a:rPr lang="ko-KR" altLang="en-US" sz="1200"/>
              <a:t>가 구성되고 이로인해 롤백이 온전히 이루어지지 않을꺼라는 것은 쉽게 예상 가능하다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-- create</a:t>
            </a:r>
            <a:r>
              <a:rPr lang="ko-KR" altLang="en-US" sz="1200"/>
              <a:t>메소드는 다음의 순서대로 동작한다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r>
              <a:rPr lang="en-US" altLang="ko-KR" sz="1200"/>
              <a:t>board-service</a:t>
            </a:r>
            <a:r>
              <a:rPr lang="ko-KR" altLang="en-US" sz="1200"/>
              <a:t>에서 포인트 차감 </a:t>
            </a:r>
            <a:r>
              <a:rPr lang="en-US" altLang="ko-KR" sz="1200"/>
              <a:t>API </a:t>
            </a:r>
            <a:r>
              <a:rPr lang="ko-KR" altLang="en-US" sz="1200"/>
              <a:t>요청 </a:t>
            </a:r>
            <a:r>
              <a:rPr lang="en-US" altLang="ko-KR" sz="1200">
                <a:sym typeface="Wingdings" panose="05000000000000000000" pitchFamily="2" charset="2"/>
              </a:rPr>
              <a:t> point-service</a:t>
            </a:r>
            <a:r>
              <a:rPr lang="ko-KR" altLang="en-US" sz="1200">
                <a:sym typeface="Wingdings" panose="05000000000000000000" pitchFamily="2" charset="2"/>
              </a:rPr>
              <a:t> 내 포인트 차감 </a:t>
            </a:r>
            <a:r>
              <a:rPr lang="en-US" altLang="ko-KR" sz="1200">
                <a:sym typeface="Wingdings" panose="05000000000000000000" pitchFamily="2" charset="2"/>
              </a:rPr>
              <a:t> DB</a:t>
            </a:r>
            <a:r>
              <a:rPr lang="ko-KR" altLang="en-US" sz="1200">
                <a:sym typeface="Wingdings" panose="05000000000000000000" pitchFamily="2" charset="2"/>
              </a:rPr>
              <a:t>저장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  board-service </a:t>
            </a:r>
            <a:r>
              <a:rPr lang="ko-KR" altLang="en-US" sz="1200">
                <a:sym typeface="Wingdings" panose="05000000000000000000" pitchFamily="2" charset="2"/>
              </a:rPr>
              <a:t>로 응답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ko-KR" altLang="en-US" sz="1200">
                <a:sym typeface="Wingdings" panose="05000000000000000000" pitchFamily="2" charset="2"/>
              </a:rPr>
              <a:t>게시글 등록 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200">
                <a:sym typeface="Wingdings" panose="05000000000000000000" pitchFamily="2" charset="2"/>
              </a:rPr>
              <a:t>user-service</a:t>
            </a:r>
            <a:r>
              <a:rPr lang="ko-KR" altLang="en-US" sz="1200">
                <a:sym typeface="Wingdings" panose="05000000000000000000" pitchFamily="2" charset="2"/>
              </a:rPr>
              <a:t>로 활동포인트 증가 </a:t>
            </a:r>
            <a:r>
              <a:rPr lang="en-US" altLang="ko-KR" sz="1200">
                <a:sym typeface="Wingdings" panose="05000000000000000000" pitchFamily="2" charset="2"/>
              </a:rPr>
              <a:t>API</a:t>
            </a:r>
            <a:r>
              <a:rPr lang="ko-KR" altLang="en-US" sz="1200">
                <a:sym typeface="Wingdings" panose="05000000000000000000" pitchFamily="2" charset="2"/>
              </a:rPr>
              <a:t>요청 </a:t>
            </a:r>
            <a:r>
              <a:rPr lang="en-US" altLang="ko-KR" sz="1200">
                <a:sym typeface="Wingdings" panose="05000000000000000000" pitchFamily="2" charset="2"/>
              </a:rPr>
              <a:t> user-service </a:t>
            </a:r>
            <a:r>
              <a:rPr lang="ko-KR" altLang="en-US" sz="1200">
                <a:sym typeface="Wingdings" panose="05000000000000000000" pitchFamily="2" charset="2"/>
              </a:rPr>
              <a:t>내 활동포인트 증가 </a:t>
            </a:r>
            <a:r>
              <a:rPr lang="en-US" altLang="ko-KR" sz="1200">
                <a:sym typeface="Wingdings" panose="05000000000000000000" pitchFamily="2" charset="2"/>
              </a:rPr>
              <a:t> DB</a:t>
            </a:r>
            <a:r>
              <a:rPr lang="ko-KR" altLang="en-US" sz="1200">
                <a:sym typeface="Wingdings" panose="05000000000000000000" pitchFamily="2" charset="2"/>
              </a:rPr>
              <a:t>저장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사용자 강제 </a:t>
            </a:r>
            <a:r>
              <a:rPr lang="en-US" altLang="ko-KR" sz="1200">
                <a:sym typeface="Wingdings" panose="05000000000000000000" pitchFamily="2" charset="2"/>
              </a:rPr>
              <a:t>Exception </a:t>
            </a:r>
            <a:r>
              <a:rPr lang="ko-KR" altLang="en-US" sz="1200">
                <a:sym typeface="Wingdings" panose="05000000000000000000" pitchFamily="2" charset="2"/>
              </a:rPr>
              <a:t>발생 </a:t>
            </a:r>
            <a:r>
              <a:rPr lang="en-US" altLang="ko-KR" sz="1200">
                <a:sym typeface="Wingdings" panose="05000000000000000000" pitchFamily="2" charset="2"/>
              </a:rPr>
              <a:t> DB</a:t>
            </a:r>
            <a:r>
              <a:rPr lang="ko-KR" altLang="en-US" sz="1200">
                <a:sym typeface="Wingdings" panose="05000000000000000000" pitchFamily="2" charset="2"/>
              </a:rPr>
              <a:t>저장 취소</a:t>
            </a:r>
            <a:r>
              <a:rPr lang="en-US" altLang="ko-KR" sz="1200">
                <a:sym typeface="Wingdings" panose="05000000000000000000" pitchFamily="2" charset="2"/>
              </a:rPr>
              <a:t>(RollBack)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 board-service</a:t>
            </a:r>
            <a:r>
              <a:rPr lang="ko-KR" altLang="en-US" sz="1200">
                <a:sym typeface="Wingdings" panose="05000000000000000000" pitchFamily="2" charset="2"/>
              </a:rPr>
              <a:t>로 실패 응답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200">
                <a:sym typeface="Wingdings" panose="05000000000000000000" pitchFamily="2" charset="2"/>
              </a:rPr>
              <a:t>user-service</a:t>
            </a:r>
            <a:r>
              <a:rPr lang="ko-KR" altLang="en-US" sz="1200">
                <a:sym typeface="Wingdings" panose="05000000000000000000" pitchFamily="2" charset="2"/>
              </a:rPr>
              <a:t>로 실패 응답에 의한 게시글 저장</a:t>
            </a:r>
            <a:r>
              <a:rPr lang="en-US" altLang="ko-KR" sz="1200">
                <a:sym typeface="Wingdings" panose="05000000000000000000" pitchFamily="2" charset="2"/>
              </a:rPr>
              <a:t>(RollBack)</a:t>
            </a:r>
          </a:p>
          <a:p>
            <a:r>
              <a:rPr lang="en-US" altLang="ko-KR" sz="1200"/>
              <a:t>-- DB </a:t>
            </a:r>
            <a:r>
              <a:rPr lang="ko-KR" altLang="en-US" sz="1200"/>
              <a:t>확인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65C96A3-36A7-B49D-F632-E39DA80C7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43" y="3897829"/>
            <a:ext cx="5174794" cy="24641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F277589-C698-3469-80D8-0BAA3F4E6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805" y="5358422"/>
            <a:ext cx="2283195" cy="7831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552C7C4-F2C8-1AFE-E5B7-4216523C59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0729" y="5358422"/>
            <a:ext cx="1726874" cy="678415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FC3D6B83-679A-DBF9-80AA-932273386172}"/>
              </a:ext>
            </a:extLst>
          </p:cNvPr>
          <p:cNvGrpSpPr/>
          <p:nvPr/>
        </p:nvGrpSpPr>
        <p:grpSpPr>
          <a:xfrm>
            <a:off x="10119851" y="5361553"/>
            <a:ext cx="1829055" cy="1209844"/>
            <a:chOff x="10119851" y="5361553"/>
            <a:chExt cx="1829055" cy="120984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13BAD3C-AD70-5BE5-ACC4-A0B007087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19851" y="5361553"/>
              <a:ext cx="1829055" cy="1209844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FDB7840-CAC4-3C6B-E7D4-DE9FF4DE28CA}"/>
                </a:ext>
              </a:extLst>
            </p:cNvPr>
            <p:cNvSpPr/>
            <p:nvPr/>
          </p:nvSpPr>
          <p:spPr>
            <a:xfrm>
              <a:off x="10415016" y="6141547"/>
              <a:ext cx="1533890" cy="2204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E79793E-401D-F4DF-CFD2-3E41AC27D3AC}"/>
              </a:ext>
            </a:extLst>
          </p:cNvPr>
          <p:cNvSpPr txBox="1"/>
          <p:nvPr/>
        </p:nvSpPr>
        <p:spPr>
          <a:xfrm>
            <a:off x="5717805" y="6217920"/>
            <a:ext cx="4159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포인트만 빠져나간 상황 발생</a:t>
            </a:r>
          </a:p>
        </p:txBody>
      </p:sp>
    </p:spTree>
    <p:extLst>
      <p:ext uri="{BB962C8B-B14F-4D97-AF65-F5344CB8AC3E}">
        <p14:creationId xmlns:p14="http://schemas.microsoft.com/office/powerpoint/2010/main" val="342716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69340-C844-2245-B3DE-E554F828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MSA </a:t>
            </a:r>
            <a:r>
              <a:rPr lang="ko-KR" altLang="en-US" sz="4000"/>
              <a:t>트랜잭션 관리를 위한 </a:t>
            </a:r>
            <a:r>
              <a:rPr lang="en-US" altLang="ko-KR" sz="4000"/>
              <a:t>SGA</a:t>
            </a:r>
            <a:r>
              <a:rPr lang="ko-KR" altLang="en-US" sz="4000"/>
              <a:t>패턴 개요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FE6D08-85C9-4FF8-6EE5-85327296B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79" y="1966739"/>
            <a:ext cx="6821606" cy="3967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7A3FA-6375-1ABA-2989-DBA03AB557FE}"/>
              </a:ext>
            </a:extLst>
          </p:cNvPr>
          <p:cNvSpPr txBox="1"/>
          <p:nvPr/>
        </p:nvSpPr>
        <p:spPr>
          <a:xfrm>
            <a:off x="7388352" y="1947672"/>
            <a:ext cx="4681728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포인트 차감 </a:t>
            </a:r>
            <a:r>
              <a:rPr lang="en-US" altLang="ko-KR" sz="1100"/>
              <a:t>– </a:t>
            </a:r>
            <a:r>
              <a:rPr lang="ko-KR" altLang="en-US" sz="1100"/>
              <a:t>게시글 작성 </a:t>
            </a:r>
            <a:r>
              <a:rPr lang="en-US" altLang="ko-KR" sz="1100"/>
              <a:t>– </a:t>
            </a:r>
            <a:r>
              <a:rPr lang="ko-KR" altLang="en-US" sz="1100"/>
              <a:t>활동 점수 적립</a:t>
            </a:r>
            <a:endParaRPr lang="en-US" altLang="ko-KR" sz="1100"/>
          </a:p>
          <a:p>
            <a:endParaRPr lang="en-US" altLang="ko-KR" sz="1100"/>
          </a:p>
          <a:p>
            <a:r>
              <a:rPr lang="ko-KR" altLang="en-US" sz="1100"/>
              <a:t>상기 과정은 한 트랜잭션으로 동작해야한다</a:t>
            </a:r>
            <a:r>
              <a:rPr lang="en-US" altLang="ko-KR" sz="1100"/>
              <a:t>. </a:t>
            </a:r>
          </a:p>
          <a:p>
            <a:r>
              <a:rPr lang="ko-KR" altLang="en-US" sz="1100"/>
              <a:t>각 과정에 대해 실패가 발생 시 과정에 반대되는 일을 수행하는 동작을 해주면 </a:t>
            </a:r>
            <a:r>
              <a:rPr lang="en-US" altLang="ko-KR" sz="1100"/>
              <a:t>DB</a:t>
            </a:r>
            <a:r>
              <a:rPr lang="ko-KR" altLang="en-US" sz="1100"/>
              <a:t>또한 </a:t>
            </a:r>
            <a:r>
              <a:rPr lang="en-US" altLang="ko-KR" sz="1100"/>
              <a:t>RollBack </a:t>
            </a:r>
            <a:r>
              <a:rPr lang="ko-KR" altLang="en-US" sz="1100"/>
              <a:t>과 동일한 효과가 나도록 할 수 있을것이다</a:t>
            </a:r>
            <a:r>
              <a:rPr lang="en-US" altLang="ko-KR" sz="1100"/>
              <a:t>.</a:t>
            </a:r>
            <a:r>
              <a:rPr lang="ko-KR" altLang="en-US" sz="1100"/>
              <a:t> </a:t>
            </a:r>
            <a:endParaRPr lang="en-US" altLang="ko-KR" sz="1100"/>
          </a:p>
          <a:p>
            <a:endParaRPr lang="en-US" altLang="ko-KR" sz="1100"/>
          </a:p>
          <a:p>
            <a:r>
              <a:rPr lang="ko-KR" altLang="en-US" sz="1100"/>
              <a:t>● 활동점수 적립 실패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게시글 삭제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포인트 적립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ko-KR" altLang="en-US" sz="1100">
                <a:sym typeface="Wingdings" panose="05000000000000000000" pitchFamily="2" charset="2"/>
              </a:rPr>
              <a:t>● 게시글 작성 실패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포인트 적립</a:t>
            </a:r>
            <a:endParaRPr lang="en-US" altLang="ko-KR" sz="1100">
              <a:sym typeface="Wingdings" panose="05000000000000000000" pitchFamily="2" charset="2"/>
            </a:endParaRP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r>
              <a:rPr lang="ko-KR" altLang="en-US" sz="1100">
                <a:sym typeface="Wingdings" panose="05000000000000000000" pitchFamily="2" charset="2"/>
              </a:rPr>
              <a:t>즉 활동 점수 적립에 실패 시 </a:t>
            </a:r>
            <a:endParaRPr lang="en-US" altLang="ko-KR" sz="1100">
              <a:sym typeface="Wingdings" panose="05000000000000000000" pitchFamily="2" charset="2"/>
            </a:endParaRPr>
          </a:p>
          <a:p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1. user-service</a:t>
            </a:r>
            <a:r>
              <a:rPr lang="ko-KR" altLang="en-US" sz="1100">
                <a:sym typeface="Wingdings" panose="05000000000000000000" pitchFamily="2" charset="2"/>
              </a:rPr>
              <a:t>에서의 </a:t>
            </a:r>
            <a:r>
              <a:rPr lang="en-US" altLang="ko-KR" sz="1100">
                <a:sym typeface="Wingdings" panose="05000000000000000000" pitchFamily="2" charset="2"/>
              </a:rPr>
              <a:t>Rollback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2. </a:t>
            </a:r>
            <a:r>
              <a:rPr lang="ko-KR" altLang="en-US" sz="1100">
                <a:sym typeface="Wingdings" panose="05000000000000000000" pitchFamily="2" charset="2"/>
              </a:rPr>
              <a:t>작성한 게시글에 대한 삭제 처리 </a:t>
            </a:r>
            <a:r>
              <a:rPr lang="en-US" altLang="ko-KR" sz="1100">
                <a:sym typeface="Wingdings" panose="05000000000000000000" pitchFamily="2" charset="2"/>
              </a:rPr>
              <a:t>(board-service</a:t>
            </a:r>
            <a:r>
              <a:rPr lang="ko-KR" altLang="en-US" sz="1100">
                <a:sym typeface="Wingdings" panose="05000000000000000000" pitchFamily="2" charset="2"/>
              </a:rPr>
              <a:t>에서 </a:t>
            </a:r>
            <a:r>
              <a:rPr lang="en-US" altLang="ko-KR" sz="1100">
                <a:sym typeface="Wingdings" panose="05000000000000000000" pitchFamily="2" charset="2"/>
              </a:rPr>
              <a:t>Rollback)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3. </a:t>
            </a:r>
            <a:r>
              <a:rPr lang="ko-KR" altLang="en-US" sz="1100">
                <a:sym typeface="Wingdings" panose="05000000000000000000" pitchFamily="2" charset="2"/>
              </a:rPr>
              <a:t>포인트 차감에 대한 보상을 위한 포인트 적립 </a:t>
            </a:r>
            <a:r>
              <a:rPr lang="en-US" altLang="ko-KR" sz="1100">
                <a:sym typeface="Wingdings" panose="05000000000000000000" pitchFamily="2" charset="2"/>
              </a:rPr>
              <a:t>API</a:t>
            </a:r>
            <a:r>
              <a:rPr lang="ko-KR" altLang="en-US" sz="1100">
                <a:sym typeface="Wingdings" panose="05000000000000000000" pitchFamily="2" charset="2"/>
              </a:rPr>
              <a:t>를 호출</a:t>
            </a:r>
            <a:endParaRPr lang="en-US" altLang="ko-KR" sz="1100">
              <a:sym typeface="Wingdings" panose="05000000000000000000" pitchFamily="2" charset="2"/>
            </a:endParaRP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r>
              <a:rPr lang="ko-KR" altLang="en-US" sz="1100"/>
              <a:t>트랜잭션과 함께 보상 트랜잭션을 하나로 묶는것을 </a:t>
            </a:r>
            <a:r>
              <a:rPr lang="en-US" altLang="ko-KR" sz="1100"/>
              <a:t>Saga</a:t>
            </a:r>
            <a:r>
              <a:rPr lang="ko-KR" altLang="en-US" sz="1100"/>
              <a:t>패턴이라고 한다</a:t>
            </a:r>
            <a:r>
              <a:rPr lang="en-US" altLang="ko-KR" sz="1100"/>
              <a:t>.</a:t>
            </a:r>
          </a:p>
          <a:p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365265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AE00E-5850-FC4B-58D0-9D397B58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BoardService create</a:t>
            </a:r>
            <a:r>
              <a:rPr lang="ko-KR" altLang="en-US" sz="4000"/>
              <a:t>메소드에 </a:t>
            </a:r>
            <a:r>
              <a:rPr lang="en-US" altLang="ko-KR" sz="4000"/>
              <a:t>Saga </a:t>
            </a:r>
            <a:r>
              <a:rPr lang="ko-KR" altLang="en-US" sz="4000"/>
              <a:t>패턴 적용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D3BE71-03DB-4858-C971-CB8352E9C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39" y="1922725"/>
            <a:ext cx="5174794" cy="2464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292000-A3C3-BB99-8B7C-47372E9DA38F}"/>
              </a:ext>
            </a:extLst>
          </p:cNvPr>
          <p:cNvSpPr txBox="1"/>
          <p:nvPr/>
        </p:nvSpPr>
        <p:spPr>
          <a:xfrm>
            <a:off x="339039" y="4387612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saga </a:t>
            </a:r>
            <a:r>
              <a:rPr lang="ko-KR" altLang="en-US"/>
              <a:t>패턴 적용 전 코드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9D604-F7DD-F379-2F92-440F8CB2E15F}"/>
              </a:ext>
            </a:extLst>
          </p:cNvPr>
          <p:cNvSpPr txBox="1"/>
          <p:nvPr/>
        </p:nvSpPr>
        <p:spPr>
          <a:xfrm>
            <a:off x="5803392" y="1922725"/>
            <a:ext cx="5257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create </a:t>
            </a:r>
            <a:r>
              <a:rPr lang="ko-KR" altLang="en-US" sz="1100"/>
              <a:t>메소드에서 활동 점수 적립보다 </a:t>
            </a:r>
            <a:r>
              <a:rPr lang="en-US" altLang="ko-KR" sz="1100"/>
              <a:t>board</a:t>
            </a:r>
            <a:r>
              <a:rPr lang="ko-KR" altLang="en-US" sz="1100"/>
              <a:t>가 먼저 저장되는것 같아 보이지만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JPA</a:t>
            </a:r>
            <a:r>
              <a:rPr lang="ko-KR" altLang="en-US" sz="1100"/>
              <a:t>의 </a:t>
            </a:r>
            <a:r>
              <a:rPr lang="en-US" altLang="ko-KR" sz="1100"/>
              <a:t>@Transactional </a:t>
            </a:r>
            <a:r>
              <a:rPr lang="ko-KR" altLang="en-US" sz="1100"/>
              <a:t>특성에 대해 알고 있다면 </a:t>
            </a:r>
            <a:r>
              <a:rPr lang="en-US" altLang="ko-KR" sz="1100"/>
              <a:t>board</a:t>
            </a:r>
            <a:r>
              <a:rPr lang="ko-KR" altLang="en-US" sz="1100"/>
              <a:t>가 가장 마지막에 저장된다는 걸 알 수 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트랜잭션이 걸린 </a:t>
            </a:r>
            <a:r>
              <a:rPr lang="en-US" altLang="ko-KR" sz="1100"/>
              <a:t>JPA</a:t>
            </a:r>
            <a:r>
              <a:rPr lang="ko-KR" altLang="en-US" sz="1100"/>
              <a:t>는 영속성 컨텍스트에 </a:t>
            </a:r>
            <a:r>
              <a:rPr lang="en-US" altLang="ko-KR" sz="1100"/>
              <a:t>board </a:t>
            </a:r>
            <a:r>
              <a:rPr lang="ko-KR" altLang="en-US" sz="1100"/>
              <a:t>엔티티의 정보만을 담을 뿐</a:t>
            </a:r>
            <a:r>
              <a:rPr lang="en-US" altLang="ko-KR" sz="1100"/>
              <a:t>, </a:t>
            </a:r>
            <a:r>
              <a:rPr lang="ko-KR" altLang="en-US" sz="1100"/>
              <a:t>실제로 </a:t>
            </a:r>
            <a:r>
              <a:rPr lang="en-US" altLang="ko-KR" sz="1100"/>
              <a:t>flush(DB</a:t>
            </a:r>
            <a:r>
              <a:rPr lang="ko-KR" altLang="en-US" sz="1100"/>
              <a:t>적용</a:t>
            </a:r>
            <a:r>
              <a:rPr lang="en-US" altLang="ko-KR" sz="1100"/>
              <a:t>)</a:t>
            </a:r>
            <a:r>
              <a:rPr lang="ko-KR" altLang="en-US" sz="1100"/>
              <a:t>이 이루어지는것은 트랜잭션의 종료 이후이다</a:t>
            </a:r>
            <a:r>
              <a:rPr lang="en-US" altLang="ko-KR" sz="1100"/>
              <a:t>. </a:t>
            </a:r>
            <a:r>
              <a:rPr lang="ko-KR" altLang="en-US" sz="1100"/>
              <a:t>이로인해 </a:t>
            </a:r>
            <a:endParaRPr lang="en-US" altLang="ko-KR" sz="1100"/>
          </a:p>
          <a:p>
            <a:r>
              <a:rPr lang="ko-KR" altLang="en-US" sz="1100"/>
              <a:t>실제 코드의 동작 순서는</a:t>
            </a:r>
            <a:endParaRPr lang="en-US" altLang="ko-KR" sz="1100"/>
          </a:p>
          <a:p>
            <a:endParaRPr lang="en-US" altLang="ko-KR" sz="1100"/>
          </a:p>
          <a:p>
            <a:pPr marL="228600" indent="-228600">
              <a:buAutoNum type="arabicPeriod"/>
            </a:pPr>
            <a:r>
              <a:rPr lang="ko-KR" altLang="en-US" sz="1100"/>
              <a:t>포인트 차감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ko-KR" altLang="en-US" sz="1100"/>
              <a:t>게시글 엔티티 영속성 컨텍스트 등록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ko-KR" altLang="en-US" sz="1100"/>
              <a:t>활동포인트 적립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ko-KR" altLang="en-US" sz="1100"/>
              <a:t>게시글 엔티티 </a:t>
            </a:r>
            <a:r>
              <a:rPr lang="en-US" altLang="ko-KR" sz="1100"/>
              <a:t>DB </a:t>
            </a:r>
            <a:r>
              <a:rPr lang="ko-KR" altLang="en-US" sz="1100"/>
              <a:t>저장 </a:t>
            </a:r>
            <a:r>
              <a:rPr lang="en-US" altLang="ko-KR" sz="1100"/>
              <a:t>(flush -</a:t>
            </a:r>
            <a:r>
              <a:rPr lang="ko-KR" altLang="en-US" sz="1100"/>
              <a:t>일치시킴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r>
              <a:rPr lang="ko-KR" altLang="en-US" sz="1100"/>
              <a:t>상기가 된다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문제는 </a:t>
            </a:r>
            <a:r>
              <a:rPr lang="en-US" altLang="ko-KR" sz="1100"/>
              <a:t>Saga </a:t>
            </a:r>
            <a:r>
              <a:rPr lang="ko-KR" altLang="en-US" sz="1100"/>
              <a:t>패턴을 적용시키기 위해선 코드에 작성된 일련의 순서대로 동작하여</a:t>
            </a:r>
            <a:r>
              <a:rPr lang="en-US" altLang="ko-KR" sz="1100"/>
              <a:t>, </a:t>
            </a:r>
            <a:r>
              <a:rPr lang="ko-KR" altLang="en-US" sz="1100"/>
              <a:t>순서에 맞게 플래그 값을 저장하고</a:t>
            </a:r>
            <a:r>
              <a:rPr lang="en-US" altLang="ko-KR" sz="1100"/>
              <a:t>, </a:t>
            </a:r>
            <a:r>
              <a:rPr lang="ko-KR" altLang="en-US" sz="1100" b="1">
                <a:solidFill>
                  <a:srgbClr val="FF0000"/>
                </a:solidFill>
              </a:rPr>
              <a:t>진행된 플래그에 맞는 예외처리를 통해 보상 트랜잭션을 수행</a:t>
            </a:r>
            <a:r>
              <a:rPr lang="ko-KR" altLang="en-US" sz="1100"/>
              <a:t>하게 해야한다는 것이다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b="1">
                <a:solidFill>
                  <a:srgbClr val="FF0000"/>
                </a:solidFill>
                <a:sym typeface="Wingdings" panose="05000000000000000000" pitchFamily="2" charset="2"/>
              </a:rPr>
              <a:t>이를 위해 </a:t>
            </a:r>
            <a:r>
              <a:rPr lang="en-US" altLang="ko-KR" sz="1100" b="1">
                <a:solidFill>
                  <a:srgbClr val="FF0000"/>
                </a:solidFill>
                <a:sym typeface="Wingdings" panose="05000000000000000000" pitchFamily="2" charset="2"/>
              </a:rPr>
              <a:t>@Transactional</a:t>
            </a:r>
            <a:r>
              <a:rPr lang="ko-KR" altLang="en-US" sz="1100" b="1">
                <a:solidFill>
                  <a:srgbClr val="FF0000"/>
                </a:solidFill>
                <a:sym typeface="Wingdings" panose="05000000000000000000" pitchFamily="2" charset="2"/>
              </a:rPr>
              <a:t>을 제거할 필요가 있다</a:t>
            </a:r>
            <a:r>
              <a:rPr lang="en-US" altLang="ko-KR" sz="1100" b="1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endParaRPr lang="en-US" altLang="ko-KR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138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A9B6-080E-29DE-9F80-64866A5E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D2701-6B31-20F8-0E27-BD975134B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BoardService create</a:t>
            </a:r>
            <a:r>
              <a:rPr lang="ko-KR" altLang="en-US" sz="4000"/>
              <a:t>메소드에 </a:t>
            </a:r>
            <a:r>
              <a:rPr lang="en-US" altLang="ko-KR" sz="4000"/>
              <a:t>Saga </a:t>
            </a:r>
            <a:r>
              <a:rPr lang="ko-KR" altLang="en-US" sz="4000"/>
              <a:t>패턴 적용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8BAA0F-8EDB-D12F-7E8A-4F2FC219F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73" y="1892809"/>
            <a:ext cx="5238275" cy="38248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CF19267-DA0A-57EE-C85C-DB8273BD7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37" y="1892809"/>
            <a:ext cx="5113876" cy="2872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99F46C-CC5E-68BD-A6BA-BBE0B2B81BD8}"/>
              </a:ext>
            </a:extLst>
          </p:cNvPr>
          <p:cNvSpPr txBox="1"/>
          <p:nvPr/>
        </p:nvSpPr>
        <p:spPr>
          <a:xfrm>
            <a:off x="5612037" y="4764888"/>
            <a:ext cx="640499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100"/>
              <a:t>포인트 차감에 대한 보상 트랜잭션 실행 플래그 설정 </a:t>
            </a:r>
            <a:r>
              <a:rPr lang="en-US" altLang="ko-KR" sz="1100"/>
              <a:t>: isPointDeducted</a:t>
            </a:r>
          </a:p>
          <a:p>
            <a:pPr marL="228600" indent="-228600">
              <a:buAutoNum type="arabicPeriod"/>
            </a:pPr>
            <a:r>
              <a:rPr lang="ko-KR" altLang="en-US" sz="1100"/>
              <a:t>게시글 작성에 대한 보상 트랜잭션 실팽 플래그 설정 </a:t>
            </a:r>
            <a:r>
              <a:rPr lang="en-US" altLang="ko-KR" sz="1100"/>
              <a:t>: isBoardCreated</a:t>
            </a:r>
          </a:p>
          <a:p>
            <a:pPr marL="228600" indent="-228600">
              <a:buAutoNum type="arabicPeriod"/>
            </a:pPr>
            <a:r>
              <a:rPr lang="ko-KR" altLang="en-US" sz="1100"/>
              <a:t>작성된 게시글을 삭제하기 위한 게시글 </a:t>
            </a:r>
            <a:r>
              <a:rPr lang="en-US" altLang="ko-KR" sz="1100"/>
              <a:t>ID </a:t>
            </a:r>
            <a:r>
              <a:rPr lang="ko-KR" altLang="en-US" sz="1100"/>
              <a:t>값 변수 </a:t>
            </a:r>
            <a:r>
              <a:rPr lang="en-US" altLang="ko-KR" sz="1100"/>
              <a:t>: savedBoardId</a:t>
            </a:r>
          </a:p>
          <a:p>
            <a:endParaRPr lang="en-US" altLang="ko-KR" sz="1100"/>
          </a:p>
          <a:p>
            <a:r>
              <a:rPr lang="en-US" altLang="ko-KR" sz="1100"/>
              <a:t>48~50Line</a:t>
            </a:r>
            <a:r>
              <a:rPr lang="ko-KR" altLang="en-US" sz="1100"/>
              <a:t> </a:t>
            </a:r>
            <a:r>
              <a:rPr lang="en-US" altLang="ko-KR" sz="1100"/>
              <a:t>:</a:t>
            </a:r>
            <a:r>
              <a:rPr lang="ko-KR" altLang="en-US" sz="1100"/>
              <a:t> 포인트 차감</a:t>
            </a:r>
            <a:r>
              <a:rPr lang="en-US" altLang="ko-KR" sz="1100"/>
              <a:t>API </a:t>
            </a:r>
            <a:r>
              <a:rPr lang="ko-KR" altLang="en-US" sz="1100"/>
              <a:t>요청 및 성공응답 시 이후 예외발생에 대한 보상트랜잭션 플래그 </a:t>
            </a:r>
            <a:br>
              <a:rPr lang="en-US" altLang="ko-KR" sz="1100"/>
            </a:br>
            <a:r>
              <a:rPr lang="en-US" altLang="ko-KR" sz="1100"/>
              <a:t>                       isPointDeducted true </a:t>
            </a:r>
            <a:r>
              <a:rPr lang="ko-KR" altLang="en-US" sz="1100"/>
              <a:t>로 변경</a:t>
            </a:r>
            <a:endParaRPr lang="en-US" altLang="ko-KR" sz="1100"/>
          </a:p>
          <a:p>
            <a:r>
              <a:rPr lang="en-US" altLang="ko-KR" sz="1100"/>
              <a:t>53~60Line : </a:t>
            </a:r>
            <a:r>
              <a:rPr lang="ko-KR" altLang="en-US" sz="1100"/>
              <a:t>게시글 등록 이후 예외 발생시 작성 게시글에 대한 보상 트랜잭션 플래그 </a:t>
            </a:r>
            <a:br>
              <a:rPr lang="en-US" altLang="ko-KR" sz="1100"/>
            </a:br>
            <a:r>
              <a:rPr lang="en-US" altLang="ko-KR" sz="1100"/>
              <a:t>                       isBoardCreated true </a:t>
            </a:r>
            <a:r>
              <a:rPr lang="ko-KR" altLang="en-US" sz="1100"/>
              <a:t>로 변경 및 저장한 게시글 아이디 변수 </a:t>
            </a:r>
            <a:r>
              <a:rPr lang="en-US" altLang="ko-KR" sz="1100"/>
              <a:t>savedBoardId </a:t>
            </a:r>
            <a:r>
              <a:rPr lang="ko-KR" altLang="en-US" sz="1100"/>
              <a:t>저장</a:t>
            </a:r>
            <a:endParaRPr lang="en-US" altLang="ko-KR" sz="1100"/>
          </a:p>
          <a:p>
            <a:r>
              <a:rPr lang="en-US" altLang="ko-KR" sz="1100"/>
              <a:t>catch</a:t>
            </a:r>
            <a:r>
              <a:rPr lang="ko-KR" altLang="en-US" sz="1100"/>
              <a:t> 문 </a:t>
            </a:r>
            <a:r>
              <a:rPr lang="en-US" altLang="ko-KR" sz="1100"/>
              <a:t>: </a:t>
            </a:r>
            <a:r>
              <a:rPr lang="ko-KR" altLang="en-US" sz="1100"/>
              <a:t>예외가 발생시 보상트랜잭션을 활성화하는 각각의 플래그 동작에 의하여 트랜잭션이 </a:t>
            </a:r>
            <a:br>
              <a:rPr lang="en-US" altLang="ko-KR" sz="1100"/>
            </a:br>
            <a:r>
              <a:rPr lang="en-US" altLang="ko-KR" sz="1100"/>
              <a:t>                  </a:t>
            </a:r>
            <a:r>
              <a:rPr lang="ko-KR" altLang="en-US" sz="1100"/>
              <a:t>이루어진다</a:t>
            </a:r>
            <a:r>
              <a:rPr lang="en-US" altLang="ko-KR" sz="1100"/>
              <a:t>. </a:t>
            </a:r>
            <a:br>
              <a:rPr lang="en-US" altLang="ko-KR" sz="1100"/>
            </a:br>
            <a:r>
              <a:rPr lang="en-US" altLang="ko-KR" sz="1100"/>
              <a:t>                  </a:t>
            </a:r>
            <a:r>
              <a:rPr lang="ko-KR" altLang="en-US" sz="1100"/>
              <a:t>활동 점수 적립 </a:t>
            </a:r>
            <a:r>
              <a:rPr lang="en-US" altLang="ko-KR" sz="1100"/>
              <a:t>API</a:t>
            </a:r>
            <a:r>
              <a:rPr lang="ko-KR" altLang="en-US" sz="1100"/>
              <a:t> 의 경우 마지막에 작성되어 </a:t>
            </a:r>
            <a:r>
              <a:rPr lang="en-US" altLang="ko-KR" sz="1100"/>
              <a:t>user-service</a:t>
            </a:r>
            <a:r>
              <a:rPr lang="ko-KR" altLang="en-US" sz="1100"/>
              <a:t>에서 적립에 실패하면 그대로 </a:t>
            </a:r>
            <a:br>
              <a:rPr lang="en-US" altLang="ko-KR" sz="1100"/>
            </a:br>
            <a:r>
              <a:rPr lang="en-US" altLang="ko-KR" sz="1100"/>
              <a:t>                  user-service </a:t>
            </a:r>
            <a:r>
              <a:rPr lang="ko-KR" altLang="en-US" sz="1100"/>
              <a:t>내에서 </a:t>
            </a:r>
            <a:r>
              <a:rPr lang="en-US" altLang="ko-KR" sz="1100"/>
              <a:t>rollback / board-service</a:t>
            </a:r>
            <a:r>
              <a:rPr lang="ko-KR" altLang="en-US" sz="1100"/>
              <a:t>에서 </a:t>
            </a:r>
            <a:r>
              <a:rPr lang="en-US" altLang="ko-KR" sz="1100"/>
              <a:t>activeScore</a:t>
            </a:r>
            <a:r>
              <a:rPr lang="ko-KR" altLang="en-US" sz="1100"/>
              <a:t>에 대한 보상을 할 변경사항이 없다</a:t>
            </a:r>
            <a:r>
              <a:rPr lang="en-US" altLang="ko-KR" sz="1100"/>
              <a:t>.</a:t>
            </a:r>
          </a:p>
          <a:p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91582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9F1E7-47EA-1202-65E5-3D1C857A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Saga </a:t>
            </a:r>
            <a:r>
              <a:rPr lang="ko-KR" altLang="en-US" sz="4000"/>
              <a:t>패턴 적용 </a:t>
            </a:r>
            <a:r>
              <a:rPr lang="en-US" altLang="ko-KR" sz="4000"/>
              <a:t>board create API </a:t>
            </a:r>
            <a:r>
              <a:rPr lang="ko-KR" altLang="en-US" sz="4000"/>
              <a:t>확인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40453EE-6E1B-C098-2B63-497E1CF0C3A9}"/>
              </a:ext>
            </a:extLst>
          </p:cNvPr>
          <p:cNvGrpSpPr/>
          <p:nvPr/>
        </p:nvGrpSpPr>
        <p:grpSpPr>
          <a:xfrm>
            <a:off x="1238325" y="1842840"/>
            <a:ext cx="9130147" cy="1941176"/>
            <a:chOff x="762837" y="2373192"/>
            <a:chExt cx="9130147" cy="1941176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5A1CFBC-A946-6700-1351-A7CEA09CBCBF}"/>
                </a:ext>
              </a:extLst>
            </p:cNvPr>
            <p:cNvGrpSpPr/>
            <p:nvPr/>
          </p:nvGrpSpPr>
          <p:grpSpPr>
            <a:xfrm>
              <a:off x="7826609" y="2373192"/>
              <a:ext cx="2066375" cy="1622060"/>
              <a:chOff x="7479961" y="2505456"/>
              <a:chExt cx="2066375" cy="1622060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2763FE7-E28A-4828-595C-18715D597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52919" r="37826"/>
              <a:stretch>
                <a:fillRect/>
              </a:stretch>
            </p:blipFill>
            <p:spPr>
              <a:xfrm>
                <a:off x="7479961" y="2505456"/>
                <a:ext cx="1883495" cy="13276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D7FB62-AA56-CBC3-77A2-11604A38B696}"/>
                  </a:ext>
                </a:extLst>
              </p:cNvPr>
              <p:cNvSpPr txBox="1"/>
              <p:nvPr/>
            </p:nvSpPr>
            <p:spPr>
              <a:xfrm>
                <a:off x="7479961" y="3758184"/>
                <a:ext cx="20663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point</a:t>
                </a:r>
                <a:endParaRPr lang="ko-KR" altLang="en-US"/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C70095B-F120-0E8C-706F-280FCA016FA4}"/>
                </a:ext>
              </a:extLst>
            </p:cNvPr>
            <p:cNvGrpSpPr/>
            <p:nvPr/>
          </p:nvGrpSpPr>
          <p:grpSpPr>
            <a:xfrm>
              <a:off x="762837" y="2373192"/>
              <a:ext cx="6494445" cy="1941176"/>
              <a:chOff x="762837" y="2373192"/>
              <a:chExt cx="6494445" cy="1941176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09963FA-7200-A4F2-3272-4E4B0144A398}"/>
                  </a:ext>
                </a:extLst>
              </p:cNvPr>
              <p:cNvGrpSpPr/>
              <p:nvPr/>
            </p:nvGrpSpPr>
            <p:grpSpPr>
              <a:xfrm>
                <a:off x="4913805" y="2425346"/>
                <a:ext cx="2343477" cy="1261626"/>
                <a:chOff x="4476205" y="2611646"/>
                <a:chExt cx="2343477" cy="1261626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9260F3A4-1AC3-3021-38F1-1E3C671E9B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76205" y="2611646"/>
                  <a:ext cx="2343477" cy="771633"/>
                </a:xfrm>
                <a:prstGeom prst="rect">
                  <a:avLst/>
                </a:prstGeom>
              </p:spPr>
            </p:pic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B70F36-D56E-4DEC-5885-ABED387DC0AA}"/>
                    </a:ext>
                  </a:extLst>
                </p:cNvPr>
                <p:cNvSpPr txBox="1"/>
                <p:nvPr/>
              </p:nvSpPr>
              <p:spPr>
                <a:xfrm>
                  <a:off x="4476205" y="3503940"/>
                  <a:ext cx="20663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/>
                    <a:t>board</a:t>
                  </a:r>
                  <a:endParaRPr lang="ko-KR" altLang="en-US"/>
                </a:p>
              </p:txBody>
            </p: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981DA2A5-2D8D-9B66-71EE-C014D8C60B33}"/>
                  </a:ext>
                </a:extLst>
              </p:cNvPr>
              <p:cNvGrpSpPr/>
              <p:nvPr/>
            </p:nvGrpSpPr>
            <p:grpSpPr>
              <a:xfrm>
                <a:off x="762837" y="2373192"/>
                <a:ext cx="3991532" cy="1941176"/>
                <a:chOff x="353608" y="2530028"/>
                <a:chExt cx="3991532" cy="1941176"/>
              </a:xfrm>
            </p:grpSpPr>
            <p:pic>
              <p:nvPicPr>
                <p:cNvPr id="12" name="그림 11">
                  <a:extLst>
                    <a:ext uri="{FF2B5EF4-FFF2-40B4-BE49-F238E27FC236}">
                      <a16:creationId xmlns:a16="http://schemas.microsoft.com/office/drawing/2014/main" id="{C68FC91D-4C83-8BF7-8B96-9E21BA575E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3608" y="2530028"/>
                  <a:ext cx="3991532" cy="1571844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36770DD-9431-54D5-749A-B168E5F43D2F}"/>
                    </a:ext>
                  </a:extLst>
                </p:cNvPr>
                <p:cNvSpPr txBox="1"/>
                <p:nvPr/>
              </p:nvSpPr>
              <p:spPr>
                <a:xfrm>
                  <a:off x="353608" y="4101872"/>
                  <a:ext cx="20663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/>
                    <a:t>users</a:t>
                  </a:r>
                  <a:endParaRPr lang="ko-KR" altLang="en-US"/>
                </a:p>
              </p:txBody>
            </p:sp>
          </p:grp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AE8DF638-020A-9C11-DE85-32587DD3A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67" y="4301252"/>
            <a:ext cx="5925377" cy="23244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57E6C8C-5D34-ECC2-D17B-DAC0BB6057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301252"/>
            <a:ext cx="6001321" cy="18025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201E261-3FC1-1F00-3817-C65F51501204}"/>
              </a:ext>
            </a:extLst>
          </p:cNvPr>
          <p:cNvSpPr txBox="1"/>
          <p:nvPr/>
        </p:nvSpPr>
        <p:spPr>
          <a:xfrm>
            <a:off x="1179576" y="3931920"/>
            <a:ext cx="4151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요청 전 데이터 확인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2B2B96-7A60-C765-443E-72DBD6CD76AF}"/>
              </a:ext>
            </a:extLst>
          </p:cNvPr>
          <p:cNvSpPr txBox="1"/>
          <p:nvPr/>
        </p:nvSpPr>
        <p:spPr>
          <a:xfrm>
            <a:off x="6126480" y="6103820"/>
            <a:ext cx="433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0070C0"/>
                </a:solidFill>
              </a:rPr>
              <a:t>에러 발생</a:t>
            </a:r>
          </a:p>
        </p:txBody>
      </p:sp>
    </p:spTree>
    <p:extLst>
      <p:ext uri="{BB962C8B-B14F-4D97-AF65-F5344CB8AC3E}">
        <p14:creationId xmlns:p14="http://schemas.microsoft.com/office/powerpoint/2010/main" val="8584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48352-366B-5023-B9D1-4DF48BA4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Saga </a:t>
            </a:r>
            <a:r>
              <a:rPr lang="ko-KR" altLang="en-US"/>
              <a:t>패턴 적용 </a:t>
            </a:r>
            <a:r>
              <a:rPr lang="en-US" altLang="ko-KR"/>
              <a:t>board create API </a:t>
            </a:r>
            <a:r>
              <a:rPr lang="ko-KR" altLang="en-US"/>
              <a:t>확인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BD7668A-D5E2-8BCC-027F-7BE835614A72}"/>
              </a:ext>
            </a:extLst>
          </p:cNvPr>
          <p:cNvGrpSpPr/>
          <p:nvPr/>
        </p:nvGrpSpPr>
        <p:grpSpPr>
          <a:xfrm>
            <a:off x="1238325" y="1842840"/>
            <a:ext cx="9130147" cy="1941176"/>
            <a:chOff x="762837" y="2373192"/>
            <a:chExt cx="9130147" cy="1941176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8CB5DC4-B437-460E-F568-8F8ABB4666CD}"/>
                </a:ext>
              </a:extLst>
            </p:cNvPr>
            <p:cNvGrpSpPr/>
            <p:nvPr/>
          </p:nvGrpSpPr>
          <p:grpSpPr>
            <a:xfrm>
              <a:off x="7826609" y="2373192"/>
              <a:ext cx="2066375" cy="1622060"/>
              <a:chOff x="7479961" y="2505456"/>
              <a:chExt cx="2066375" cy="1622060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10A08A7B-CB11-1336-7C62-107108380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52919" r="37826"/>
              <a:stretch>
                <a:fillRect/>
              </a:stretch>
            </p:blipFill>
            <p:spPr>
              <a:xfrm>
                <a:off x="7479961" y="2505456"/>
                <a:ext cx="1883495" cy="132760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37EE48-C473-C0D3-8CC3-51B285B341EA}"/>
                  </a:ext>
                </a:extLst>
              </p:cNvPr>
              <p:cNvSpPr txBox="1"/>
              <p:nvPr/>
            </p:nvSpPr>
            <p:spPr>
              <a:xfrm>
                <a:off x="7479961" y="3758184"/>
                <a:ext cx="20663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point</a:t>
                </a:r>
                <a:endParaRPr lang="ko-KR" altLang="en-US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A868736-7ED1-3539-37C3-95A83BA6AC26}"/>
                </a:ext>
              </a:extLst>
            </p:cNvPr>
            <p:cNvGrpSpPr/>
            <p:nvPr/>
          </p:nvGrpSpPr>
          <p:grpSpPr>
            <a:xfrm>
              <a:off x="762837" y="2373192"/>
              <a:ext cx="6494445" cy="1941176"/>
              <a:chOff x="762837" y="2373192"/>
              <a:chExt cx="6494445" cy="1941176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BE229ED1-5C4B-31A1-9F0D-613FD850E344}"/>
                  </a:ext>
                </a:extLst>
              </p:cNvPr>
              <p:cNvGrpSpPr/>
              <p:nvPr/>
            </p:nvGrpSpPr>
            <p:grpSpPr>
              <a:xfrm>
                <a:off x="4913805" y="2425346"/>
                <a:ext cx="2343477" cy="1261626"/>
                <a:chOff x="4476205" y="2611646"/>
                <a:chExt cx="2343477" cy="1261626"/>
              </a:xfrm>
            </p:grpSpPr>
            <p:pic>
              <p:nvPicPr>
                <p:cNvPr id="10" name="그림 9">
                  <a:extLst>
                    <a:ext uri="{FF2B5EF4-FFF2-40B4-BE49-F238E27FC236}">
                      <a16:creationId xmlns:a16="http://schemas.microsoft.com/office/drawing/2014/main" id="{9DDD2C08-5E1A-A4A7-8120-68E1CB0949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76205" y="2611646"/>
                  <a:ext cx="2343477" cy="771633"/>
                </a:xfrm>
                <a:prstGeom prst="rect">
                  <a:avLst/>
                </a:prstGeom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F00A3CE-824C-0AC3-9626-F56F5BC0D378}"/>
                    </a:ext>
                  </a:extLst>
                </p:cNvPr>
                <p:cNvSpPr txBox="1"/>
                <p:nvPr/>
              </p:nvSpPr>
              <p:spPr>
                <a:xfrm>
                  <a:off x="4476205" y="3503940"/>
                  <a:ext cx="20663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/>
                    <a:t>board</a:t>
                  </a:r>
                  <a:endParaRPr lang="ko-KR" altLang="en-US"/>
                </a:p>
              </p:txBody>
            </p: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75CA9E85-3F8C-2561-5496-07A821E0C3E8}"/>
                  </a:ext>
                </a:extLst>
              </p:cNvPr>
              <p:cNvGrpSpPr/>
              <p:nvPr/>
            </p:nvGrpSpPr>
            <p:grpSpPr>
              <a:xfrm>
                <a:off x="762837" y="2373192"/>
                <a:ext cx="3991532" cy="1941176"/>
                <a:chOff x="353608" y="2530028"/>
                <a:chExt cx="3991532" cy="1941176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A8ED1CB8-B00D-502B-5620-960F5D21DB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3608" y="2530028"/>
                  <a:ext cx="3991532" cy="1571844"/>
                </a:xfrm>
                <a:prstGeom prst="rect">
                  <a:avLst/>
                </a:prstGeom>
              </p:spPr>
            </p:pic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F2938D8-4B64-A14A-FA57-64EE56178818}"/>
                    </a:ext>
                  </a:extLst>
                </p:cNvPr>
                <p:cNvSpPr txBox="1"/>
                <p:nvPr/>
              </p:nvSpPr>
              <p:spPr>
                <a:xfrm>
                  <a:off x="353608" y="4101872"/>
                  <a:ext cx="20663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/>
                    <a:t>users</a:t>
                  </a:r>
                  <a:endParaRPr lang="ko-KR" altLang="en-US"/>
                </a:p>
              </p:txBody>
            </p:sp>
          </p:grp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798A331-CEFF-E7BC-EFD0-BC0D67F7FD04}"/>
              </a:ext>
            </a:extLst>
          </p:cNvPr>
          <p:cNvSpPr txBox="1"/>
          <p:nvPr/>
        </p:nvSpPr>
        <p:spPr>
          <a:xfrm>
            <a:off x="1179576" y="3931920"/>
            <a:ext cx="4151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요청 후 데이터 확인 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변화 없음</a:t>
            </a:r>
            <a:r>
              <a:rPr lang="en-US" altLang="ko-KR">
                <a:sym typeface="Wingdings" panose="05000000000000000000" pitchFamily="2" charset="2"/>
              </a:rPr>
              <a:t>.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12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78ACC-44E6-9485-7A71-C6BABA3DD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Saga </a:t>
            </a:r>
            <a:r>
              <a:rPr lang="ko-KR" altLang="en-US"/>
              <a:t>패턴 적용 </a:t>
            </a:r>
            <a:r>
              <a:rPr lang="en-US" altLang="ko-KR"/>
              <a:t>board create API </a:t>
            </a:r>
            <a:r>
              <a:rPr lang="ko-KR" altLang="en-US"/>
              <a:t>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F1370-54EB-6F89-B7F9-5E020D5D7A3D}"/>
              </a:ext>
            </a:extLst>
          </p:cNvPr>
          <p:cNvSpPr txBox="1"/>
          <p:nvPr/>
        </p:nvSpPr>
        <p:spPr>
          <a:xfrm>
            <a:off x="1097280" y="3867912"/>
            <a:ext cx="711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에러 발생 코드 삭제 후 </a:t>
            </a:r>
            <a:r>
              <a:rPr lang="en-US" altLang="ko-KR"/>
              <a:t>board create </a:t>
            </a:r>
            <a:r>
              <a:rPr lang="ko-KR" altLang="en-US"/>
              <a:t>테스트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F9FFDC6-A424-09B1-3EF4-84B27ECBFBC4}"/>
              </a:ext>
            </a:extLst>
          </p:cNvPr>
          <p:cNvGrpSpPr/>
          <p:nvPr/>
        </p:nvGrpSpPr>
        <p:grpSpPr>
          <a:xfrm>
            <a:off x="1097281" y="1871859"/>
            <a:ext cx="5715000" cy="1996053"/>
            <a:chOff x="1097280" y="1871859"/>
            <a:chExt cx="7144747" cy="263879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ED99C22-4780-A95A-B5C7-0264BCEE5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71859"/>
              <a:ext cx="7144747" cy="2638793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278D890-1C8B-8599-719A-743A12A0633D}"/>
                </a:ext>
              </a:extLst>
            </p:cNvPr>
            <p:cNvSpPr/>
            <p:nvPr/>
          </p:nvSpPr>
          <p:spPr>
            <a:xfrm>
              <a:off x="2130552" y="3685032"/>
              <a:ext cx="3758184" cy="2743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AC47F14-6DC9-3AE8-26B3-4D50E7B01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23" y="4284735"/>
            <a:ext cx="5925377" cy="23244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D7F2E21-556D-D216-16FC-121D4C77B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193" y="4284735"/>
            <a:ext cx="5041084" cy="84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34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2D937-6671-F213-A1AE-C46091C5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80A87-38D7-BC62-C487-B31DF665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Saga </a:t>
            </a:r>
            <a:r>
              <a:rPr lang="ko-KR" altLang="en-US"/>
              <a:t>패턴 적용 </a:t>
            </a:r>
            <a:r>
              <a:rPr lang="en-US" altLang="ko-KR"/>
              <a:t>board create API </a:t>
            </a:r>
            <a:r>
              <a:rPr lang="ko-KR" altLang="en-US"/>
              <a:t>확인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2972721-CC0D-DE37-DA2E-CE230DDE2218}"/>
              </a:ext>
            </a:extLst>
          </p:cNvPr>
          <p:cNvGrpSpPr/>
          <p:nvPr/>
        </p:nvGrpSpPr>
        <p:grpSpPr>
          <a:xfrm>
            <a:off x="1097280" y="1980998"/>
            <a:ext cx="9216876" cy="1807579"/>
            <a:chOff x="1097280" y="1980998"/>
            <a:chExt cx="9216876" cy="180757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6A7147C-7D54-7F61-D9E0-31F21698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76706" y="1980998"/>
              <a:ext cx="1800476" cy="144800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EF61751-79E3-BBA7-619F-DA1BFCCB2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977" y="1980998"/>
              <a:ext cx="2381582" cy="98121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856D078-FD38-9C06-8B19-20C3CF069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280" y="1980998"/>
              <a:ext cx="3943900" cy="131463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87CD07-EF14-5951-E053-0DAAC704F5F0}"/>
                </a:ext>
              </a:extLst>
            </p:cNvPr>
            <p:cNvSpPr txBox="1"/>
            <p:nvPr/>
          </p:nvSpPr>
          <p:spPr>
            <a:xfrm>
              <a:off x="8247781" y="3419245"/>
              <a:ext cx="2066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point</a:t>
              </a:r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3A11DDD-9615-397A-154C-E75BFBBDBAC3}"/>
                </a:ext>
              </a:extLst>
            </p:cNvPr>
            <p:cNvSpPr txBox="1"/>
            <p:nvPr/>
          </p:nvSpPr>
          <p:spPr>
            <a:xfrm>
              <a:off x="5334977" y="3110965"/>
              <a:ext cx="2066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board</a:t>
              </a:r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8769BD-B93A-E064-8A37-D5AA65E2DBCB}"/>
                </a:ext>
              </a:extLst>
            </p:cNvPr>
            <p:cNvSpPr txBox="1"/>
            <p:nvPr/>
          </p:nvSpPr>
          <p:spPr>
            <a:xfrm>
              <a:off x="1181630" y="3419245"/>
              <a:ext cx="2066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users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58568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</TotalTime>
  <Words>708</Words>
  <Application>Microsoft Office PowerPoint</Application>
  <PresentationFormat>와이드스크린</PresentationFormat>
  <Paragraphs>96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Consolas</vt:lpstr>
      <vt:lpstr>Wingdings</vt:lpstr>
      <vt:lpstr>추억</vt:lpstr>
      <vt:lpstr>MSA환경에서 트랜잭션 관리</vt:lpstr>
      <vt:lpstr>문제시 되는 상황 구현 – ActiveScore Service Exception</vt:lpstr>
      <vt:lpstr>명확한 확인을 위한 DB 데이터 수정</vt:lpstr>
      <vt:lpstr>게시글 등록API 트랜잭션 살펴보기</vt:lpstr>
      <vt:lpstr>MSA 트랜잭션 관리를 위한 SGA패턴 개요</vt:lpstr>
      <vt:lpstr>BoardService create메소드에 Saga 패턴 적용</vt:lpstr>
      <vt:lpstr>BoardService create메소드에 Saga 패턴 적용</vt:lpstr>
      <vt:lpstr>Saga 패턴 적용 board create API 확인</vt:lpstr>
      <vt:lpstr>Saga 패턴 적용 board create API 확인</vt:lpstr>
      <vt:lpstr>Saga 패턴 적용 board create API 확인</vt:lpstr>
      <vt:lpstr>Saga 패턴 적용 board create API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18</cp:revision>
  <dcterms:created xsi:type="dcterms:W3CDTF">2026-08-10T10:43:41Z</dcterms:created>
  <dcterms:modified xsi:type="dcterms:W3CDTF">2026-08-10T14:10:16Z</dcterms:modified>
</cp:coreProperties>
</file>