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B30D6B5A-D718-4852-B536-2A03A8345508}">
          <p14:sldIdLst>
            <p14:sldId id="257"/>
            <p14:sldId id="258"/>
            <p14:sldId id="259"/>
            <p14:sldId id="260"/>
            <p14:sldId id="261"/>
          </p14:sldIdLst>
        </p14:section>
        <p14:section name="API GateWay서버 구성하기" id="{C0590004-2A66-43BF-80A2-AF8211A55588}">
          <p14:sldIdLst>
            <p14:sldId id="262"/>
            <p14:sldId id="263"/>
            <p14:sldId id="264"/>
          </p14:sldIdLst>
        </p14:section>
        <p14:section name="외부용API와 마이크로 서비스간 통신용 API 구분" id="{5B1697F8-B9A1-477E-8FF4-006F9419166A}">
          <p14:sldIdLst>
            <p14:sldId id="266"/>
          </p14:sldIdLst>
        </p14:section>
        <p14:section name="user-service 외부,내부 API 구분" id="{564725FB-B8BD-4BA5-B07C-A2F39D0FE867}">
          <p14:sldIdLst>
            <p14:sldId id="267"/>
            <p14:sldId id="268"/>
            <p14:sldId id="269"/>
          </p14:sldIdLst>
        </p14:section>
        <p14:section name="board-service 외부,내부 API 구분" id="{6A5B6E26-8F37-4513-9787-0F7B5AB2C7AC}">
          <p14:sldIdLst>
            <p14:sldId id="270"/>
            <p14:sldId id="271"/>
          </p14:sldIdLst>
        </p14:section>
        <p14:section name="point-service 외부, 내부API 구분" id="{2588E864-F9C0-4912-9F1C-C49FBAD8C579}">
          <p14:sldIdLst>
            <p14:sldId id="272"/>
          </p14:sldIdLst>
        </p14:section>
        <p14:section name="API GateWay로 API접근 제한하기" id="{4F85EFAD-E8D9-4968-8910-3B9B5E0998F9}">
          <p14:sldIdLst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38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54C2A-F05C-4ACA-AF11-5E117E9855EA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B2EC4-F228-4842-BE7F-9B23C32600CF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6576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54C2A-F05C-4ACA-AF11-5E117E9855EA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B2EC4-F228-4842-BE7F-9B23C32600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0915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54C2A-F05C-4ACA-AF11-5E117E9855EA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B2EC4-F228-4842-BE7F-9B23C32600CF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834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54C2A-F05C-4ACA-AF11-5E117E9855EA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B2EC4-F228-4842-BE7F-9B23C32600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8238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54C2A-F05C-4ACA-AF11-5E117E9855EA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B2EC4-F228-4842-BE7F-9B23C32600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310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54C2A-F05C-4ACA-AF11-5E117E9855EA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B2EC4-F228-4842-BE7F-9B23C32600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2605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54C2A-F05C-4ACA-AF11-5E117E9855EA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B2EC4-F228-4842-BE7F-9B23C32600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6809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7654C2A-F05C-4ACA-AF11-5E117E9855EA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1AB2EC4-F228-4842-BE7F-9B23C32600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1649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54C2A-F05C-4ACA-AF11-5E117E9855EA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B2EC4-F228-4842-BE7F-9B23C32600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1274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54C2A-F05C-4ACA-AF11-5E117E9855EA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B2EC4-F228-4842-BE7F-9B23C32600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8851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54C2A-F05C-4ACA-AF11-5E117E9855EA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B2EC4-F228-4842-BE7F-9B23C32600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0591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7654C2A-F05C-4ACA-AF11-5E117E9855EA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1AB2EC4-F228-4842-BE7F-9B23C32600CF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8648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41835C-654E-E0E3-F72D-B2DFFFE876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/>
              <a:t>API Gateway</a:t>
            </a:r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8FEAF45-125E-FCD5-58EE-304312E598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ko-KR" altLang="en-US" sz="1800"/>
              <a:t>클라이언트가 백엔드 서버에 접근하기 전에 거쳐가는 입구 역할을 하는 서버</a:t>
            </a:r>
          </a:p>
        </p:txBody>
      </p:sp>
    </p:spTree>
    <p:extLst>
      <p:ext uri="{BB962C8B-B14F-4D97-AF65-F5344CB8AC3E}">
        <p14:creationId xmlns:p14="http://schemas.microsoft.com/office/powerpoint/2010/main" val="34589862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FBA63A-FB5C-B915-DDBB-E719A1841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API GateWay </a:t>
            </a:r>
            <a:r>
              <a:rPr lang="ko-KR" altLang="en-US"/>
              <a:t>서버란</a:t>
            </a:r>
            <a:r>
              <a:rPr lang="en-US" altLang="ko-KR"/>
              <a:t>?</a:t>
            </a:r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A3F3D0D-A1DF-F65D-E926-C2306682D5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1637" y="1975104"/>
            <a:ext cx="6602027" cy="469087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78037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78CC11-EE9B-C509-6E78-1E3B01FC3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API Gateway</a:t>
            </a:r>
            <a:r>
              <a:rPr lang="ko-KR" altLang="en-US"/>
              <a:t>를 사용하는 이유</a:t>
            </a:r>
            <a:r>
              <a:rPr lang="en-US" altLang="ko-KR"/>
              <a:t>-1</a:t>
            </a:r>
            <a:endParaRPr lang="ko-KR" altLang="en-US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239073F6-3D6E-5AF9-39C0-373ACC18EDCE}"/>
              </a:ext>
            </a:extLst>
          </p:cNvPr>
          <p:cNvGrpSpPr/>
          <p:nvPr/>
        </p:nvGrpSpPr>
        <p:grpSpPr>
          <a:xfrm>
            <a:off x="1842494" y="1919077"/>
            <a:ext cx="8507012" cy="3019846"/>
            <a:chOff x="1842494" y="1919077"/>
            <a:chExt cx="8507012" cy="3019846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0B08A167-66B1-F663-A597-303A46D98B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42494" y="1919077"/>
              <a:ext cx="8507012" cy="3019846"/>
            </a:xfrm>
            <a:prstGeom prst="rect">
              <a:avLst/>
            </a:prstGeom>
          </p:spPr>
        </p:pic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912BF9EB-1519-CCB9-6DCC-502898F7475A}"/>
                </a:ext>
              </a:extLst>
            </p:cNvPr>
            <p:cNvGrpSpPr/>
            <p:nvPr/>
          </p:nvGrpSpPr>
          <p:grpSpPr>
            <a:xfrm>
              <a:off x="4315968" y="2350008"/>
              <a:ext cx="4559808" cy="329184"/>
              <a:chOff x="4315968" y="2350008"/>
              <a:chExt cx="4559808" cy="329184"/>
            </a:xfrm>
          </p:grpSpPr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DEE566C4-708B-A54B-73A9-3C65D43855A9}"/>
                  </a:ext>
                </a:extLst>
              </p:cNvPr>
              <p:cNvSpPr/>
              <p:nvPr/>
            </p:nvSpPr>
            <p:spPr>
              <a:xfrm>
                <a:off x="4315968" y="2350008"/>
                <a:ext cx="1965960" cy="329184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0DFA5E52-C3DB-3F92-1834-5F5818604F98}"/>
                  </a:ext>
                </a:extLst>
              </p:cNvPr>
              <p:cNvSpPr/>
              <p:nvPr/>
            </p:nvSpPr>
            <p:spPr>
              <a:xfrm>
                <a:off x="6909816" y="2350008"/>
                <a:ext cx="1965960" cy="329184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606A2AAA-F232-B3E2-DA80-E4FA42ADA68C}"/>
                </a:ext>
              </a:extLst>
            </p:cNvPr>
            <p:cNvSpPr/>
            <p:nvPr/>
          </p:nvSpPr>
          <p:spPr>
            <a:xfrm>
              <a:off x="5175504" y="3666744"/>
              <a:ext cx="4160520" cy="21945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296871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4505B-C4D8-283B-7AF1-348B20BA0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2893BB-A382-F79A-BD76-C12E3E267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API Gateway</a:t>
            </a:r>
            <a:r>
              <a:rPr lang="ko-KR" altLang="en-US"/>
              <a:t>를 사용하는 이유</a:t>
            </a:r>
            <a:r>
              <a:rPr lang="en-US" altLang="ko-KR"/>
              <a:t>-2</a:t>
            </a:r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B87E5D3A-5687-6473-1B06-269A24A04967}"/>
              </a:ext>
            </a:extLst>
          </p:cNvPr>
          <p:cNvGrpSpPr/>
          <p:nvPr/>
        </p:nvGrpSpPr>
        <p:grpSpPr>
          <a:xfrm>
            <a:off x="2447877" y="1906122"/>
            <a:ext cx="6996803" cy="4787286"/>
            <a:chOff x="2447877" y="1906122"/>
            <a:chExt cx="6996803" cy="4787286"/>
          </a:xfrm>
          <a:solidFill>
            <a:schemeClr val="tx1"/>
          </a:solidFill>
        </p:grpSpPr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7836E67D-D216-4AFA-5C0F-7BDBD5BCCAB1}"/>
                </a:ext>
              </a:extLst>
            </p:cNvPr>
            <p:cNvGrpSpPr/>
            <p:nvPr/>
          </p:nvGrpSpPr>
          <p:grpSpPr>
            <a:xfrm>
              <a:off x="2447877" y="1906122"/>
              <a:ext cx="6996803" cy="4787286"/>
              <a:chOff x="2447877" y="1906122"/>
              <a:chExt cx="6996803" cy="4787286"/>
            </a:xfrm>
            <a:grpFill/>
          </p:grpSpPr>
          <p:pic>
            <p:nvPicPr>
              <p:cNvPr id="5" name="그림 4">
                <a:extLst>
                  <a:ext uri="{FF2B5EF4-FFF2-40B4-BE49-F238E27FC236}">
                    <a16:creationId xmlns:a16="http://schemas.microsoft.com/office/drawing/2014/main" id="{4A7CF4BC-E915-DD4B-9AED-2FE21E24BDD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447877" y="1906122"/>
                <a:ext cx="6996803" cy="4787286"/>
              </a:xfrm>
              <a:prstGeom prst="rect">
                <a:avLst/>
              </a:prstGeom>
              <a:grpFill/>
            </p:spPr>
          </p:pic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414EFC30-B9E8-8897-AF02-3375CB4033C0}"/>
                  </a:ext>
                </a:extLst>
              </p:cNvPr>
              <p:cNvSpPr/>
              <p:nvPr/>
            </p:nvSpPr>
            <p:spPr>
              <a:xfrm>
                <a:off x="3511296" y="1906122"/>
                <a:ext cx="4507992" cy="242718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DFA2D37B-E6FF-2EB4-0F81-16BD1E4A35E6}"/>
                </a:ext>
              </a:extLst>
            </p:cNvPr>
            <p:cNvSpPr/>
            <p:nvPr/>
          </p:nvSpPr>
          <p:spPr>
            <a:xfrm>
              <a:off x="5513832" y="2148840"/>
              <a:ext cx="877824" cy="24271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477460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0CDFD4-3A37-9ACC-1675-174649F18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API GateWay</a:t>
            </a:r>
            <a:r>
              <a:rPr lang="ko-KR" altLang="en-US"/>
              <a:t>를 사용할 때 사용하는 툴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8F2FC93-F1DE-140E-332B-706EEB4180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7363" y="1873293"/>
            <a:ext cx="5676869" cy="2883821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CDE5A01C-C169-C857-4503-920B777F56D3}"/>
              </a:ext>
            </a:extLst>
          </p:cNvPr>
          <p:cNvGrpSpPr/>
          <p:nvPr/>
        </p:nvGrpSpPr>
        <p:grpSpPr>
          <a:xfrm>
            <a:off x="2214992" y="4893047"/>
            <a:ext cx="7487695" cy="1857634"/>
            <a:chOff x="2214992" y="4893047"/>
            <a:chExt cx="7487695" cy="1857634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17470921-FE7B-1248-9880-927455B703B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14992" y="4893047"/>
              <a:ext cx="7487695" cy="1857634"/>
            </a:xfrm>
            <a:prstGeom prst="rect">
              <a:avLst/>
            </a:prstGeom>
          </p:spPr>
        </p:pic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F6BC1E75-6516-7B61-C2D5-078E0A2DEA12}"/>
                </a:ext>
              </a:extLst>
            </p:cNvPr>
            <p:cNvGrpSpPr/>
            <p:nvPr/>
          </p:nvGrpSpPr>
          <p:grpSpPr>
            <a:xfrm>
              <a:off x="2642616" y="5696712"/>
              <a:ext cx="1719072" cy="677860"/>
              <a:chOff x="2642616" y="5696712"/>
              <a:chExt cx="1719072" cy="677860"/>
            </a:xfrm>
          </p:grpSpPr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3CD1A296-C16C-54A9-64B9-B82462ADF11F}"/>
                  </a:ext>
                </a:extLst>
              </p:cNvPr>
              <p:cNvSpPr/>
              <p:nvPr/>
            </p:nvSpPr>
            <p:spPr>
              <a:xfrm>
                <a:off x="2642616" y="5696712"/>
                <a:ext cx="1719072" cy="301752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E09AB651-C327-F7AF-5AC3-9E4C6D479C63}"/>
                  </a:ext>
                </a:extLst>
              </p:cNvPr>
              <p:cNvSpPr/>
              <p:nvPr/>
            </p:nvSpPr>
            <p:spPr>
              <a:xfrm>
                <a:off x="2642616" y="5998464"/>
                <a:ext cx="1389888" cy="376108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14174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2CBB7B-09E0-C35B-C0D7-D2398022B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API GateWay </a:t>
            </a:r>
            <a:r>
              <a:rPr lang="ko-KR" altLang="en-US"/>
              <a:t>애플리케이션 생성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85EDAB1-EE92-D5E2-DD5F-49F82976B2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246" y="1987856"/>
            <a:ext cx="9910434" cy="430321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044787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B4E470-DEC3-081A-B176-F8CA9CB79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application.yml </a:t>
            </a:r>
            <a:r>
              <a:rPr lang="ko-KR" altLang="en-US"/>
              <a:t>설정</a:t>
            </a:r>
            <a:r>
              <a:rPr lang="en-US" altLang="ko-KR"/>
              <a:t>(</a:t>
            </a:r>
            <a:r>
              <a:rPr lang="ko-KR" altLang="en-US"/>
              <a:t>라우팅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688549-CBB0-DC18-332F-43B6E9A54EA3}"/>
              </a:ext>
            </a:extLst>
          </p:cNvPr>
          <p:cNvSpPr txBox="1"/>
          <p:nvPr/>
        </p:nvSpPr>
        <p:spPr>
          <a:xfrm>
            <a:off x="204978" y="1977648"/>
            <a:ext cx="6094476" cy="404341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server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port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9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8000</a:t>
            </a:r>
            <a:endParaRPr lang="en-US" altLang="ko-KR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altLang="ko-KR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spring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cloud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gateway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server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9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webflux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ko-KR" sz="9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routes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        -   </a:t>
            </a:r>
            <a:r>
              <a:rPr lang="en-US" altLang="ko-KR" sz="9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9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user-service</a:t>
            </a:r>
            <a:endParaRPr lang="en-US" altLang="ko-KR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            </a:t>
            </a:r>
            <a:r>
              <a:rPr lang="en-US" altLang="ko-KR" sz="9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uri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9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http://localhost:8080</a:t>
            </a:r>
            <a:endParaRPr lang="en-US" altLang="ko-KR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            </a:t>
            </a:r>
            <a:r>
              <a:rPr lang="en-US" altLang="ko-KR" sz="9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predicates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                - </a:t>
            </a:r>
            <a:r>
              <a:rPr lang="en-US" altLang="ko-KR" sz="9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Path=/users/**</a:t>
            </a:r>
            <a:endParaRPr lang="en-US" altLang="ko-KR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        -   </a:t>
            </a:r>
            <a:r>
              <a:rPr lang="en-US" altLang="ko-KR" sz="9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9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board-service</a:t>
            </a:r>
            <a:endParaRPr lang="en-US" altLang="ko-KR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            </a:t>
            </a:r>
            <a:r>
              <a:rPr lang="en-US" altLang="ko-KR" sz="9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uri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9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http://localhost:8081</a:t>
            </a:r>
            <a:endParaRPr lang="en-US" altLang="ko-KR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            </a:t>
            </a:r>
            <a:r>
              <a:rPr lang="en-US" altLang="ko-KR" sz="9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predicates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                - </a:t>
            </a:r>
            <a:r>
              <a:rPr lang="en-US" altLang="ko-KR" sz="9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Path=/boards/**</a:t>
            </a:r>
            <a:endParaRPr lang="en-US" altLang="ko-KR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        -   </a:t>
            </a:r>
            <a:r>
              <a:rPr lang="en-US" altLang="ko-KR" sz="9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9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point-service</a:t>
            </a:r>
            <a:endParaRPr lang="en-US" altLang="ko-KR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            </a:t>
            </a:r>
            <a:r>
              <a:rPr lang="en-US" altLang="ko-KR" sz="9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uri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9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http://localhost:8082</a:t>
            </a:r>
            <a:endParaRPr lang="en-US" altLang="ko-KR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            </a:t>
            </a:r>
            <a:r>
              <a:rPr lang="en-US" altLang="ko-KR" sz="9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predicates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                - </a:t>
            </a:r>
            <a:r>
              <a:rPr lang="en-US" altLang="ko-KR" sz="9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Path=/points/**</a:t>
            </a:r>
            <a:endParaRPr lang="en-US" altLang="ko-KR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C83A25-490B-7B4D-3D6E-42AF66290313}"/>
              </a:ext>
            </a:extLst>
          </p:cNvPr>
          <p:cNvSpPr txBox="1"/>
          <p:nvPr/>
        </p:nvSpPr>
        <p:spPr>
          <a:xfrm>
            <a:off x="6428232" y="1977648"/>
            <a:ext cx="55587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id : </a:t>
            </a:r>
            <a:r>
              <a:rPr lang="ko-KR" altLang="en-US" sz="1400"/>
              <a:t>라우팅할 서버 명</a:t>
            </a:r>
            <a:endParaRPr lang="en-US" altLang="ko-KR" sz="1400"/>
          </a:p>
          <a:p>
            <a:r>
              <a:rPr lang="en-US" altLang="ko-KR" sz="1400"/>
              <a:t>url : </a:t>
            </a:r>
            <a:r>
              <a:rPr lang="ko-KR" altLang="en-US" sz="1400"/>
              <a:t>각 서버별 서비스 주소</a:t>
            </a:r>
            <a:endParaRPr lang="en-US" altLang="ko-KR" sz="1400"/>
          </a:p>
          <a:p>
            <a:r>
              <a:rPr lang="en-US" altLang="ko-KR" sz="1400"/>
              <a:t>predicates: </a:t>
            </a:r>
            <a:r>
              <a:rPr lang="ko-KR" altLang="en-US" sz="1400"/>
              <a:t>클라이언트 요청 </a:t>
            </a:r>
            <a:r>
              <a:rPr lang="en-US" altLang="ko-KR" sz="1400"/>
              <a:t>URL </a:t>
            </a:r>
            <a:r>
              <a:rPr lang="ko-KR" altLang="en-US" sz="1400"/>
              <a:t>패턴에 따른 </a:t>
            </a:r>
            <a:r>
              <a:rPr lang="en-US" altLang="ko-KR" sz="1400"/>
              <a:t>API </a:t>
            </a:r>
            <a:r>
              <a:rPr lang="ko-KR" altLang="en-US" sz="1400"/>
              <a:t>서버 분배</a:t>
            </a:r>
            <a:endParaRPr lang="en-US" altLang="ko-KR" sz="1400"/>
          </a:p>
          <a:p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13090654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C53DFD-7B53-01F6-251E-B0A89E7F3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API</a:t>
            </a:r>
            <a:r>
              <a:rPr lang="ko-KR" altLang="en-US"/>
              <a:t> </a:t>
            </a:r>
            <a:r>
              <a:rPr lang="en-US" altLang="ko-KR"/>
              <a:t>GateWay</a:t>
            </a:r>
            <a:r>
              <a:rPr lang="ko-KR" altLang="en-US"/>
              <a:t> 동작 확인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8F6B24-126C-6E86-5386-A4B7A41BEBB6}"/>
              </a:ext>
            </a:extLst>
          </p:cNvPr>
          <p:cNvSpPr txBox="1"/>
          <p:nvPr/>
        </p:nvSpPr>
        <p:spPr>
          <a:xfrm>
            <a:off x="1097280" y="1819656"/>
            <a:ext cx="9281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user-service / board-service / point-service / api-gateway-service </a:t>
            </a:r>
            <a:r>
              <a:rPr lang="ko-KR" altLang="en-US"/>
              <a:t>동작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19E5324E-EDE9-3792-6180-ABA3E72E0902}"/>
              </a:ext>
            </a:extLst>
          </p:cNvPr>
          <p:cNvGrpSpPr/>
          <p:nvPr/>
        </p:nvGrpSpPr>
        <p:grpSpPr>
          <a:xfrm>
            <a:off x="429768" y="2351282"/>
            <a:ext cx="6388318" cy="2549902"/>
            <a:chOff x="429768" y="2351282"/>
            <a:chExt cx="6388318" cy="2549902"/>
          </a:xfrm>
        </p:grpSpPr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E7212FA4-183B-25D5-6D92-5DA173288B38}"/>
                </a:ext>
              </a:extLst>
            </p:cNvPr>
            <p:cNvGrpSpPr/>
            <p:nvPr/>
          </p:nvGrpSpPr>
          <p:grpSpPr>
            <a:xfrm>
              <a:off x="429768" y="2351282"/>
              <a:ext cx="6388318" cy="2549902"/>
              <a:chOff x="429768" y="2351282"/>
              <a:chExt cx="6388318" cy="2549902"/>
            </a:xfrm>
          </p:grpSpPr>
          <p:pic>
            <p:nvPicPr>
              <p:cNvPr id="4" name="그림 3">
                <a:extLst>
                  <a:ext uri="{FF2B5EF4-FFF2-40B4-BE49-F238E27FC236}">
                    <a16:creationId xmlns:a16="http://schemas.microsoft.com/office/drawing/2014/main" id="{87CA149F-EFE2-4FB5-3D47-5C6F5FEE72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29768" y="2351282"/>
                <a:ext cx="6388318" cy="2549902"/>
              </a:xfrm>
              <a:prstGeom prst="rect">
                <a:avLst/>
              </a:prstGeom>
            </p:spPr>
          </p:pic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45478E3F-115C-3458-A6CF-6BFB3FD08C5F}"/>
                  </a:ext>
                </a:extLst>
              </p:cNvPr>
              <p:cNvSpPr/>
              <p:nvPr/>
            </p:nvSpPr>
            <p:spPr>
              <a:xfrm>
                <a:off x="1490472" y="2459736"/>
                <a:ext cx="576072" cy="182880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96D688F0-6699-83FB-53B9-569FA3F054B9}"/>
                </a:ext>
              </a:extLst>
            </p:cNvPr>
            <p:cNvSpPr/>
            <p:nvPr/>
          </p:nvSpPr>
          <p:spPr>
            <a:xfrm>
              <a:off x="5449824" y="4349496"/>
              <a:ext cx="795528" cy="16764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5D7E2F17-1909-4909-CE8D-29F8E383CDEC}"/>
              </a:ext>
            </a:extLst>
          </p:cNvPr>
          <p:cNvGrpSpPr/>
          <p:nvPr/>
        </p:nvGrpSpPr>
        <p:grpSpPr>
          <a:xfrm>
            <a:off x="6915560" y="2351281"/>
            <a:ext cx="4846672" cy="3025871"/>
            <a:chOff x="6915560" y="2351281"/>
            <a:chExt cx="4846672" cy="3025871"/>
          </a:xfrm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78BF8E4B-9C54-FAD8-D10D-157303935BA2}"/>
                </a:ext>
              </a:extLst>
            </p:cNvPr>
            <p:cNvGrpSpPr/>
            <p:nvPr/>
          </p:nvGrpSpPr>
          <p:grpSpPr>
            <a:xfrm>
              <a:off x="6915560" y="2351281"/>
              <a:ext cx="4846672" cy="3025871"/>
              <a:chOff x="6915560" y="2351281"/>
              <a:chExt cx="4846672" cy="3025871"/>
            </a:xfrm>
          </p:grpSpPr>
          <p:pic>
            <p:nvPicPr>
              <p:cNvPr id="7" name="그림 6">
                <a:extLst>
                  <a:ext uri="{FF2B5EF4-FFF2-40B4-BE49-F238E27FC236}">
                    <a16:creationId xmlns:a16="http://schemas.microsoft.com/office/drawing/2014/main" id="{66E0F456-52BD-7D00-49B3-C1F1A5E3B6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15560" y="2351281"/>
                <a:ext cx="4846672" cy="3025871"/>
              </a:xfrm>
              <a:prstGeom prst="rect">
                <a:avLst/>
              </a:prstGeom>
            </p:spPr>
          </p:pic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F361F303-4CAF-F0C0-8EE0-C9265A9D0561}"/>
                  </a:ext>
                </a:extLst>
              </p:cNvPr>
              <p:cNvSpPr/>
              <p:nvPr/>
            </p:nvSpPr>
            <p:spPr>
              <a:xfrm>
                <a:off x="8287574" y="2459736"/>
                <a:ext cx="1295338" cy="237744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CA8462C3-CE79-62BB-1B55-BDCC7DFF9718}"/>
                </a:ext>
              </a:extLst>
            </p:cNvPr>
            <p:cNvSpPr/>
            <p:nvPr/>
          </p:nvSpPr>
          <p:spPr>
            <a:xfrm>
              <a:off x="7385304" y="5105400"/>
              <a:ext cx="4044696" cy="23774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E0B8AEE4-05AE-777D-7CA7-1F80728CE117}"/>
              </a:ext>
            </a:extLst>
          </p:cNvPr>
          <p:cNvSpPr txBox="1"/>
          <p:nvPr/>
        </p:nvSpPr>
        <p:spPr>
          <a:xfrm>
            <a:off x="420624" y="5577840"/>
            <a:ext cx="113416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API</a:t>
            </a:r>
            <a:r>
              <a:rPr lang="ko-KR" altLang="en-US"/>
              <a:t>서버 주소로 서비스별 패턴에 따른 </a:t>
            </a:r>
            <a:r>
              <a:rPr lang="en-US" altLang="ko-KR"/>
              <a:t>API </a:t>
            </a:r>
            <a:r>
              <a:rPr lang="ko-KR" altLang="en-US"/>
              <a:t>요청을 전달시 각 서비스 </a:t>
            </a:r>
            <a:r>
              <a:rPr lang="en-US" altLang="ko-KR"/>
              <a:t>API</a:t>
            </a:r>
            <a:r>
              <a:rPr lang="ko-KR" altLang="en-US"/>
              <a:t>요청에 맞는 결과를 응답받는 것으로 보아</a:t>
            </a:r>
            <a:endParaRPr lang="en-US" altLang="ko-KR"/>
          </a:p>
          <a:p>
            <a:r>
              <a:rPr lang="en-US" altLang="ko-KR"/>
              <a:t>ApiGateway</a:t>
            </a:r>
            <a:r>
              <a:rPr lang="ko-KR" altLang="en-US"/>
              <a:t>가 정상 동작하고 있다고 볼 수 있다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9646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0A5D83-7CF1-F124-CC33-570369BBD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외부용</a:t>
            </a:r>
            <a:r>
              <a:rPr lang="en-US" altLang="ko-KR"/>
              <a:t>API</a:t>
            </a: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266EC3-540C-B6BB-E8C6-5E8A6C80829C}"/>
              </a:ext>
            </a:extLst>
          </p:cNvPr>
          <p:cNvSpPr txBox="1"/>
          <p:nvPr/>
        </p:nvSpPr>
        <p:spPr>
          <a:xfrm>
            <a:off x="1197864" y="1865376"/>
            <a:ext cx="10058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MSA </a:t>
            </a:r>
            <a:r>
              <a:rPr lang="ko-KR" altLang="en-US"/>
              <a:t>에서는 클라이언트가 접근가능한 </a:t>
            </a:r>
            <a:r>
              <a:rPr lang="ko-KR" altLang="en-US" b="1">
                <a:solidFill>
                  <a:srgbClr val="FF0000"/>
                </a:solidFill>
              </a:rPr>
              <a:t>외부용 </a:t>
            </a:r>
            <a:r>
              <a:rPr lang="en-US" altLang="ko-KR" b="1">
                <a:solidFill>
                  <a:srgbClr val="FF0000"/>
                </a:solidFill>
              </a:rPr>
              <a:t>API</a:t>
            </a:r>
            <a:r>
              <a:rPr lang="ko-KR" altLang="en-US"/>
              <a:t>와 백엔드 서버끼리 통신할 </a:t>
            </a:r>
            <a:r>
              <a:rPr lang="ko-KR" altLang="en-US" b="1">
                <a:solidFill>
                  <a:srgbClr val="FF0000"/>
                </a:solidFill>
              </a:rPr>
              <a:t>내부용 </a:t>
            </a:r>
            <a:r>
              <a:rPr lang="en-US" altLang="ko-KR" b="1">
                <a:solidFill>
                  <a:srgbClr val="FF0000"/>
                </a:solidFill>
              </a:rPr>
              <a:t>API</a:t>
            </a:r>
            <a:r>
              <a:rPr lang="ko-KR" altLang="en-US"/>
              <a:t>를 </a:t>
            </a:r>
            <a:r>
              <a:rPr lang="ko-KR" altLang="en-US" b="1">
                <a:solidFill>
                  <a:srgbClr val="FF0000"/>
                </a:solidFill>
              </a:rPr>
              <a:t>구분</a:t>
            </a:r>
            <a:r>
              <a:rPr lang="ko-KR" altLang="en-US"/>
              <a:t>해야한다</a:t>
            </a:r>
            <a:r>
              <a:rPr lang="en-US" altLang="ko-KR"/>
              <a:t>. </a:t>
            </a:r>
            <a:r>
              <a:rPr lang="ko-KR" altLang="en-US"/>
              <a:t>외부클라이언트에서 내부용 </a:t>
            </a:r>
            <a:r>
              <a:rPr lang="en-US" altLang="ko-KR"/>
              <a:t>API</a:t>
            </a:r>
            <a:r>
              <a:rPr lang="ko-KR" altLang="en-US"/>
              <a:t>를 통해 데이터 조작을 할 수 있고 이러한 </a:t>
            </a:r>
            <a:r>
              <a:rPr lang="ko-KR" altLang="en-US" b="1">
                <a:solidFill>
                  <a:srgbClr val="FF0000"/>
                </a:solidFill>
              </a:rPr>
              <a:t>보안 처리를 하기 위해 </a:t>
            </a:r>
            <a:r>
              <a:rPr lang="en-US" altLang="ko-KR" b="1">
                <a:solidFill>
                  <a:srgbClr val="FF0000"/>
                </a:solidFill>
              </a:rPr>
              <a:t>url</a:t>
            </a:r>
            <a:r>
              <a:rPr lang="ko-KR" altLang="en-US" b="1">
                <a:solidFill>
                  <a:srgbClr val="FF0000"/>
                </a:solidFill>
              </a:rPr>
              <a:t>패턴으로 구분</a:t>
            </a:r>
            <a:r>
              <a:rPr lang="ko-KR" altLang="en-US"/>
              <a:t>해놓으면 </a:t>
            </a:r>
            <a:r>
              <a:rPr lang="ko-KR" altLang="en-US" b="1">
                <a:solidFill>
                  <a:srgbClr val="FF0000"/>
                </a:solidFill>
              </a:rPr>
              <a:t>보안을 적용하기 쉽기 </a:t>
            </a:r>
            <a:r>
              <a:rPr lang="ko-KR" altLang="en-US"/>
              <a:t>때문이다</a:t>
            </a:r>
            <a:r>
              <a:rPr lang="en-US" altLang="ko-KR"/>
              <a:t>.</a:t>
            </a:r>
            <a:br>
              <a:rPr lang="en-US" altLang="ko-KR"/>
            </a:br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1801CF7-2C4C-502A-7CB2-1A38342191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864" y="2778505"/>
            <a:ext cx="3666744" cy="400702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3EFD323-31A0-2383-AC2C-5F86A56D88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7303" y="2778505"/>
            <a:ext cx="6792273" cy="114316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7C8D1BE-BCF3-59E8-3CF6-EFD500BDCEF4}"/>
              </a:ext>
            </a:extLst>
          </p:cNvPr>
          <p:cNvSpPr txBox="1"/>
          <p:nvPr/>
        </p:nvSpPr>
        <p:spPr>
          <a:xfrm>
            <a:off x="5077303" y="4059936"/>
            <a:ext cx="67922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특정 사용자 정보 조회나 사용자 목록 조회는 관리자단에서나 확인하는 </a:t>
            </a:r>
            <a:r>
              <a:rPr lang="en-US" altLang="ko-KR" sz="1200"/>
              <a:t>API</a:t>
            </a:r>
            <a:r>
              <a:rPr lang="ko-KR" altLang="en-US" sz="1200"/>
              <a:t>이지 사용자가</a:t>
            </a:r>
            <a:br>
              <a:rPr lang="en-US" altLang="ko-KR" sz="1200"/>
            </a:br>
            <a:r>
              <a:rPr lang="ko-KR" altLang="en-US" sz="1200"/>
              <a:t>다른 사용자의 정보를 조회하기위한 정보가 아니다</a:t>
            </a:r>
            <a:r>
              <a:rPr lang="en-US" altLang="ko-KR" sz="1200"/>
              <a:t>. </a:t>
            </a:r>
            <a:r>
              <a:rPr lang="ko-KR" altLang="en-US" sz="1200"/>
              <a:t>그럼으로 내부 </a:t>
            </a:r>
            <a:r>
              <a:rPr lang="en-US" altLang="ko-KR" sz="1200"/>
              <a:t>API</a:t>
            </a:r>
            <a:r>
              <a:rPr lang="ko-KR" altLang="en-US" sz="1200"/>
              <a:t>로 구분된다</a:t>
            </a:r>
            <a:r>
              <a:rPr lang="en-US" altLang="ko-KR" sz="1200"/>
              <a:t>.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23704063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A24CF9-195B-66A1-D876-104709476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600"/>
              <a:t>사용자 내부 통신 </a:t>
            </a:r>
            <a:r>
              <a:rPr lang="en-US" altLang="ko-KR" sz="3600"/>
              <a:t>API</a:t>
            </a:r>
            <a:r>
              <a:rPr lang="ko-KR" altLang="en-US" sz="3600"/>
              <a:t>만 컨트롤 하는 </a:t>
            </a:r>
            <a:r>
              <a:rPr lang="en-US" altLang="ko-KR" sz="3600"/>
              <a:t>UserInternalController </a:t>
            </a:r>
            <a:r>
              <a:rPr lang="ko-KR" altLang="en-US" sz="3600"/>
              <a:t>생성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B032841A-C1A3-FE66-BB4D-5871A831BC43}"/>
              </a:ext>
            </a:extLst>
          </p:cNvPr>
          <p:cNvGrpSpPr/>
          <p:nvPr/>
        </p:nvGrpSpPr>
        <p:grpSpPr>
          <a:xfrm>
            <a:off x="3738349" y="1880860"/>
            <a:ext cx="2495898" cy="1962424"/>
            <a:chOff x="1097280" y="1972300"/>
            <a:chExt cx="2495898" cy="1962424"/>
          </a:xfrm>
        </p:grpSpPr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3C464D3B-5C7C-793D-8185-AC7922EA6EE0}"/>
                </a:ext>
              </a:extLst>
            </p:cNvPr>
            <p:cNvGrpSpPr/>
            <p:nvPr/>
          </p:nvGrpSpPr>
          <p:grpSpPr>
            <a:xfrm>
              <a:off x="1097280" y="1972300"/>
              <a:ext cx="2495898" cy="1962424"/>
              <a:chOff x="1097280" y="1972300"/>
              <a:chExt cx="2495898" cy="1962424"/>
            </a:xfrm>
          </p:grpSpPr>
          <p:pic>
            <p:nvPicPr>
              <p:cNvPr id="4" name="그림 3">
                <a:extLst>
                  <a:ext uri="{FF2B5EF4-FFF2-40B4-BE49-F238E27FC236}">
                    <a16:creationId xmlns:a16="http://schemas.microsoft.com/office/drawing/2014/main" id="{F9811BBA-EA09-D789-74A0-092C3699D5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97280" y="1972300"/>
                <a:ext cx="2495898" cy="1962424"/>
              </a:xfrm>
              <a:prstGeom prst="rect">
                <a:avLst/>
              </a:prstGeom>
            </p:spPr>
          </p:pic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4BDD3F7E-C251-4D03-F1DC-F2CDDD07086C}"/>
                  </a:ext>
                </a:extLst>
              </p:cNvPr>
              <p:cNvSpPr/>
              <p:nvPr/>
            </p:nvSpPr>
            <p:spPr>
              <a:xfrm>
                <a:off x="1499616" y="3429000"/>
                <a:ext cx="1335024" cy="265176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8" name="연결선: 구부러짐 7">
                <a:extLst>
                  <a:ext uri="{FF2B5EF4-FFF2-40B4-BE49-F238E27FC236}">
                    <a16:creationId xmlns:a16="http://schemas.microsoft.com/office/drawing/2014/main" id="{C26448E2-53CC-6C9D-C75A-FFA6E28EAFB8}"/>
                  </a:ext>
                </a:extLst>
              </p:cNvPr>
              <p:cNvCxnSpPr>
                <a:endCxn id="6" idx="3"/>
              </p:cNvCxnSpPr>
              <p:nvPr/>
            </p:nvCxnSpPr>
            <p:spPr>
              <a:xfrm>
                <a:off x="2834640" y="3557016"/>
                <a:ext cx="338328" cy="256672"/>
              </a:xfrm>
              <a:prstGeom prst="curvedConnector3">
                <a:avLst>
                  <a:gd name="adj1" fmla="val 167568"/>
                </a:avLst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27C82E01-8C2F-B72D-8EDB-174D74AEADAD}"/>
                </a:ext>
              </a:extLst>
            </p:cNvPr>
            <p:cNvSpPr/>
            <p:nvPr/>
          </p:nvSpPr>
          <p:spPr>
            <a:xfrm>
              <a:off x="1499616" y="3692652"/>
              <a:ext cx="1673352" cy="24207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E8E908BB-B095-C291-21E9-D4CBCF0A9B64}"/>
              </a:ext>
            </a:extLst>
          </p:cNvPr>
          <p:cNvGrpSpPr/>
          <p:nvPr/>
        </p:nvGrpSpPr>
        <p:grpSpPr>
          <a:xfrm>
            <a:off x="6329824" y="1880860"/>
            <a:ext cx="5712823" cy="4776168"/>
            <a:chOff x="3751216" y="1972300"/>
            <a:chExt cx="5712823" cy="4776168"/>
          </a:xfrm>
        </p:grpSpPr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DEAFDA4F-950B-AFAC-C6BC-D0D3A4CDC278}"/>
                </a:ext>
              </a:extLst>
            </p:cNvPr>
            <p:cNvGrpSpPr/>
            <p:nvPr/>
          </p:nvGrpSpPr>
          <p:grpSpPr>
            <a:xfrm>
              <a:off x="3751216" y="1972300"/>
              <a:ext cx="5712823" cy="4776168"/>
              <a:chOff x="3751216" y="1972300"/>
              <a:chExt cx="5712823" cy="4776168"/>
            </a:xfrm>
          </p:grpSpPr>
          <p:pic>
            <p:nvPicPr>
              <p:cNvPr id="10" name="그림 9">
                <a:extLst>
                  <a:ext uri="{FF2B5EF4-FFF2-40B4-BE49-F238E27FC236}">
                    <a16:creationId xmlns:a16="http://schemas.microsoft.com/office/drawing/2014/main" id="{455EBCA8-9354-174D-CAFC-9343971A65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51216" y="1972300"/>
                <a:ext cx="5712823" cy="4776168"/>
              </a:xfrm>
              <a:prstGeom prst="rect">
                <a:avLst/>
              </a:prstGeom>
            </p:spPr>
          </p:pic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303C55E7-CB15-461A-4D3E-2FCC7E265A96}"/>
                  </a:ext>
                </a:extLst>
              </p:cNvPr>
              <p:cNvSpPr/>
              <p:nvPr/>
            </p:nvSpPr>
            <p:spPr>
              <a:xfrm>
                <a:off x="4974336" y="2093976"/>
                <a:ext cx="1243584" cy="210312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4E28D80-6861-0EA8-F571-BB4E115DCA04}"/>
                </a:ext>
              </a:extLst>
            </p:cNvPr>
            <p:cNvSpPr/>
            <p:nvPr/>
          </p:nvSpPr>
          <p:spPr>
            <a:xfrm>
              <a:off x="4267199" y="3300984"/>
              <a:ext cx="5196839" cy="312724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B9A99D36-437C-5C69-D1D6-85F321E05776}"/>
              </a:ext>
            </a:extLst>
          </p:cNvPr>
          <p:cNvSpPr txBox="1"/>
          <p:nvPr/>
        </p:nvSpPr>
        <p:spPr>
          <a:xfrm>
            <a:off x="1014984" y="4005072"/>
            <a:ext cx="52192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sz="1200"/>
              <a:t>UserController</a:t>
            </a:r>
            <a:r>
              <a:rPr lang="ko-KR" altLang="en-US" sz="1200"/>
              <a:t>를 복제하여 </a:t>
            </a:r>
            <a:br>
              <a:rPr lang="en-US" altLang="ko-KR" sz="1200"/>
            </a:br>
            <a:r>
              <a:rPr lang="en-US" altLang="ko-KR" sz="1200"/>
              <a:t>UserInternalController</a:t>
            </a:r>
            <a:r>
              <a:rPr lang="ko-KR" altLang="en-US" sz="1200"/>
              <a:t>로 이름을 변경한다</a:t>
            </a:r>
            <a:r>
              <a:rPr lang="en-US" altLang="ko-KR" sz="1200"/>
              <a:t>.</a:t>
            </a:r>
          </a:p>
          <a:p>
            <a:pPr marL="342900" indent="-342900">
              <a:buAutoNum type="arabicPeriod"/>
            </a:pPr>
            <a:endParaRPr lang="en-US" altLang="ko-KR" sz="1200"/>
          </a:p>
          <a:p>
            <a:pPr marL="342900" indent="-342900">
              <a:buAutoNum type="arabicPeriod"/>
            </a:pPr>
            <a:r>
              <a:rPr lang="ko-KR" altLang="en-US" sz="1200" b="1">
                <a:solidFill>
                  <a:srgbClr val="FF0000"/>
                </a:solidFill>
              </a:rPr>
              <a:t>회원가입 </a:t>
            </a:r>
            <a:r>
              <a:rPr lang="en-US" altLang="ko-KR" sz="1200" b="1">
                <a:solidFill>
                  <a:srgbClr val="FF0000"/>
                </a:solidFill>
              </a:rPr>
              <a:t>API Url </a:t>
            </a:r>
            <a:r>
              <a:rPr lang="ko-KR" altLang="en-US" sz="1200" b="1">
                <a:solidFill>
                  <a:srgbClr val="FF0000"/>
                </a:solidFill>
              </a:rPr>
              <a:t>을 제외한 모든 </a:t>
            </a:r>
            <a:r>
              <a:rPr lang="en-US" altLang="ko-KR" sz="1200" b="1">
                <a:solidFill>
                  <a:srgbClr val="FF0000"/>
                </a:solidFill>
              </a:rPr>
              <a:t>API</a:t>
            </a:r>
            <a:r>
              <a:rPr lang="ko-KR" altLang="en-US" sz="1200" b="1">
                <a:solidFill>
                  <a:srgbClr val="FF0000"/>
                </a:solidFill>
              </a:rPr>
              <a:t>는 내부 </a:t>
            </a:r>
            <a:r>
              <a:rPr lang="en-US" altLang="ko-KR" sz="1200" b="1">
                <a:solidFill>
                  <a:srgbClr val="FF0000"/>
                </a:solidFill>
              </a:rPr>
              <a:t>API</a:t>
            </a:r>
            <a:r>
              <a:rPr lang="ko-KR" altLang="en-US" sz="1200"/>
              <a:t>임으로 </a:t>
            </a:r>
            <a:br>
              <a:rPr lang="en-US" altLang="ko-KR" sz="1200"/>
            </a:br>
            <a:r>
              <a:rPr lang="ko-KR" altLang="en-US" sz="1200"/>
              <a:t>회원가입 </a:t>
            </a:r>
            <a:r>
              <a:rPr lang="en-US" altLang="ko-KR" sz="1200"/>
              <a:t>API</a:t>
            </a:r>
            <a:r>
              <a:rPr lang="ko-KR" altLang="en-US" sz="1200"/>
              <a:t>만 지우고 모두 남긴다</a:t>
            </a:r>
            <a:r>
              <a:rPr lang="en-US" altLang="ko-KR" sz="1200"/>
              <a:t>.</a:t>
            </a:r>
          </a:p>
          <a:p>
            <a:pPr marL="342900" indent="-342900">
              <a:buAutoNum type="arabicPeriod"/>
            </a:pPr>
            <a:endParaRPr lang="en-US" altLang="ko-KR" sz="1200"/>
          </a:p>
          <a:p>
            <a:pPr marL="342900" indent="-342900">
              <a:buAutoNum type="arabicPeriod"/>
            </a:pPr>
            <a:r>
              <a:rPr lang="en-US" altLang="ko-KR" sz="1200"/>
              <a:t>UserInternalController </a:t>
            </a:r>
            <a:r>
              <a:rPr lang="ko-KR" altLang="en-US" sz="1200"/>
              <a:t>의 진입 </a:t>
            </a:r>
            <a:r>
              <a:rPr lang="en-US" altLang="ko-KR" sz="1200"/>
              <a:t>Url</a:t>
            </a:r>
            <a:r>
              <a:rPr lang="ko-KR" altLang="en-US" sz="1200"/>
              <a:t>을 </a:t>
            </a:r>
            <a:r>
              <a:rPr lang="en-US" altLang="ko-KR" sz="1200"/>
              <a:t>/internal/users </a:t>
            </a:r>
            <a:r>
              <a:rPr lang="ko-KR" altLang="en-US" sz="1200"/>
              <a:t>로 시작하도록 변경한다</a:t>
            </a:r>
            <a:r>
              <a:rPr lang="en-US" altLang="ko-KR" sz="1200"/>
              <a:t>.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35606612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58FBED-68C4-BA57-31DB-B6DBAB32F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UserController </a:t>
            </a:r>
            <a:r>
              <a:rPr lang="ko-KR" altLang="en-US"/>
              <a:t>변경점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9761693E-545B-2466-6BDD-D68BF4DD8353}"/>
              </a:ext>
            </a:extLst>
          </p:cNvPr>
          <p:cNvGrpSpPr/>
          <p:nvPr/>
        </p:nvGrpSpPr>
        <p:grpSpPr>
          <a:xfrm>
            <a:off x="931141" y="2049355"/>
            <a:ext cx="2495898" cy="1962424"/>
            <a:chOff x="1097280" y="1972300"/>
            <a:chExt cx="2495898" cy="1962424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EBC0F1EA-D23D-0003-E968-05EF8552BD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0" y="1972300"/>
              <a:ext cx="2495898" cy="1962424"/>
            </a:xfrm>
            <a:prstGeom prst="rect">
              <a:avLst/>
            </a:prstGeom>
          </p:spPr>
        </p:pic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B7AE6283-3D6C-12BF-A9DE-B0E243F63182}"/>
                </a:ext>
              </a:extLst>
            </p:cNvPr>
            <p:cNvSpPr/>
            <p:nvPr/>
          </p:nvSpPr>
          <p:spPr>
            <a:xfrm>
              <a:off x="1472184" y="3429000"/>
              <a:ext cx="1335024" cy="26517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AAE5426-D913-C872-4FE6-A6852BCF464C}"/>
              </a:ext>
            </a:extLst>
          </p:cNvPr>
          <p:cNvSpPr txBox="1"/>
          <p:nvPr/>
        </p:nvSpPr>
        <p:spPr>
          <a:xfrm>
            <a:off x="8366760" y="2049355"/>
            <a:ext cx="382524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en-US" altLang="ko-KR" sz="1200"/>
              <a:t>UserInternalController </a:t>
            </a:r>
            <a:r>
              <a:rPr lang="ko-KR" altLang="en-US" sz="1200"/>
              <a:t>와는 다르게</a:t>
            </a:r>
            <a:r>
              <a:rPr lang="en-US" altLang="ko-KR" sz="1200"/>
              <a:t>, </a:t>
            </a:r>
            <a:r>
              <a:rPr lang="ko-KR" altLang="en-US" sz="1200"/>
              <a:t>회원가입 </a:t>
            </a:r>
            <a:r>
              <a:rPr lang="en-US" altLang="ko-KR" sz="1200"/>
              <a:t>Url</a:t>
            </a:r>
            <a:r>
              <a:rPr lang="ko-KR" altLang="en-US" sz="1200"/>
              <a:t>만 </a:t>
            </a:r>
            <a:br>
              <a:rPr lang="en-US" altLang="ko-KR" sz="1200"/>
            </a:br>
            <a:r>
              <a:rPr lang="en-US" altLang="ko-KR" sz="1200"/>
              <a:t>    </a:t>
            </a:r>
            <a:r>
              <a:rPr lang="ko-KR" altLang="en-US" sz="1200"/>
              <a:t>남기고 모든 요청</a:t>
            </a:r>
            <a:r>
              <a:rPr lang="en-US" altLang="ko-KR" sz="1200"/>
              <a:t>Url</a:t>
            </a:r>
            <a:r>
              <a:rPr lang="ko-KR" altLang="en-US" sz="1200"/>
              <a:t>을 삭제한다</a:t>
            </a:r>
            <a:r>
              <a:rPr lang="en-US" altLang="ko-KR" sz="1200"/>
              <a:t>.</a:t>
            </a:r>
          </a:p>
          <a:p>
            <a:pPr marL="228600" indent="-228600">
              <a:buAutoNum type="arabicPeriod"/>
            </a:pPr>
            <a:endParaRPr lang="en-US" altLang="ko-KR" sz="1200"/>
          </a:p>
          <a:p>
            <a:pPr marL="228600" indent="-228600">
              <a:buAutoNum type="arabicPeriod"/>
            </a:pPr>
            <a:r>
              <a:rPr lang="ko-KR" altLang="en-US" sz="1200"/>
              <a:t>외부클라이언트가 </a:t>
            </a:r>
            <a:r>
              <a:rPr lang="en-US" altLang="ko-KR" sz="1200"/>
              <a:t>UserController</a:t>
            </a:r>
            <a:r>
              <a:rPr lang="ko-KR" altLang="en-US" sz="1200"/>
              <a:t>에 진입하는 </a:t>
            </a:r>
            <a:r>
              <a:rPr lang="en-US" altLang="ko-KR" sz="1200"/>
              <a:t>Url </a:t>
            </a:r>
            <a:r>
              <a:rPr lang="ko-KR" altLang="en-US" sz="1200"/>
              <a:t>패턴으로 변경한다</a:t>
            </a:r>
            <a:r>
              <a:rPr lang="en-US" altLang="ko-KR" sz="1200"/>
              <a:t>. ( /api/users/ ...)</a:t>
            </a:r>
            <a:endParaRPr lang="ko-KR" altLang="en-US" sz="1200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56378513-DE9A-3A4D-7C69-4746049945BC}"/>
              </a:ext>
            </a:extLst>
          </p:cNvPr>
          <p:cNvGrpSpPr/>
          <p:nvPr/>
        </p:nvGrpSpPr>
        <p:grpSpPr>
          <a:xfrm>
            <a:off x="3601456" y="2049355"/>
            <a:ext cx="4696480" cy="3362794"/>
            <a:chOff x="3601456" y="2049355"/>
            <a:chExt cx="4696480" cy="3362794"/>
          </a:xfrm>
        </p:grpSpPr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E831A464-B92E-C6E5-FE88-E0EBFDCD9702}"/>
                </a:ext>
              </a:extLst>
            </p:cNvPr>
            <p:cNvGrpSpPr/>
            <p:nvPr/>
          </p:nvGrpSpPr>
          <p:grpSpPr>
            <a:xfrm>
              <a:off x="3601456" y="2049355"/>
              <a:ext cx="4696480" cy="3362794"/>
              <a:chOff x="3601456" y="2049355"/>
              <a:chExt cx="4696480" cy="3362794"/>
            </a:xfrm>
          </p:grpSpPr>
          <p:pic>
            <p:nvPicPr>
              <p:cNvPr id="4" name="그림 3">
                <a:extLst>
                  <a:ext uri="{FF2B5EF4-FFF2-40B4-BE49-F238E27FC236}">
                    <a16:creationId xmlns:a16="http://schemas.microsoft.com/office/drawing/2014/main" id="{2495D13D-BD40-53DE-0BF2-203839F28B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01456" y="2049355"/>
                <a:ext cx="4696480" cy="3362794"/>
              </a:xfrm>
              <a:prstGeom prst="rect">
                <a:avLst/>
              </a:prstGeom>
            </p:spPr>
          </p:pic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6072E872-16CB-19E6-13F0-38557D28E36F}"/>
                  </a:ext>
                </a:extLst>
              </p:cNvPr>
              <p:cNvSpPr/>
              <p:nvPr/>
            </p:nvSpPr>
            <p:spPr>
              <a:xfrm>
                <a:off x="5180053" y="2254765"/>
                <a:ext cx="1335024" cy="265176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C9B55F62-8019-A29A-0BB7-F7E5CE25467A}"/>
                </a:ext>
              </a:extLst>
            </p:cNvPr>
            <p:cNvSpPr/>
            <p:nvPr/>
          </p:nvSpPr>
          <p:spPr>
            <a:xfrm>
              <a:off x="4354044" y="3638642"/>
              <a:ext cx="3829835" cy="140884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1343636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7704EA-6340-738A-87D8-8F99B1FA9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/>
              <a:t>user-service</a:t>
            </a:r>
            <a:r>
              <a:rPr lang="ko-KR" altLang="en-US" sz="3200"/>
              <a:t>에서 다른 서비스로 보내는 요청 </a:t>
            </a:r>
            <a:r>
              <a:rPr lang="en-US" altLang="ko-KR" sz="3200"/>
              <a:t>Url</a:t>
            </a:r>
            <a:r>
              <a:rPr lang="ko-KR" altLang="en-US" sz="3200"/>
              <a:t>변경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6A17FD-4402-17D7-0AAB-05B5697F03B3}"/>
              </a:ext>
            </a:extLst>
          </p:cNvPr>
          <p:cNvGrpSpPr/>
          <p:nvPr/>
        </p:nvGrpSpPr>
        <p:grpSpPr>
          <a:xfrm>
            <a:off x="438524" y="1870951"/>
            <a:ext cx="2829320" cy="2000529"/>
            <a:chOff x="438524" y="1870951"/>
            <a:chExt cx="2829320" cy="2000529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A143F7E8-EF71-739A-A1CB-08AEAB20FC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8524" y="1870951"/>
              <a:ext cx="2829320" cy="2000529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F5BDE0AB-F055-25F7-8DB5-CEBB0ABCC4AB}"/>
                </a:ext>
              </a:extLst>
            </p:cNvPr>
            <p:cNvSpPr/>
            <p:nvPr/>
          </p:nvSpPr>
          <p:spPr>
            <a:xfrm>
              <a:off x="813816" y="2752344"/>
              <a:ext cx="1097280" cy="26517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DE97E8B7-25D8-BF45-3E2F-EF93EF25586E}"/>
              </a:ext>
            </a:extLst>
          </p:cNvPr>
          <p:cNvGrpSpPr/>
          <p:nvPr/>
        </p:nvGrpSpPr>
        <p:grpSpPr>
          <a:xfrm>
            <a:off x="3513582" y="1870951"/>
            <a:ext cx="6389370" cy="4748351"/>
            <a:chOff x="3513582" y="1870951"/>
            <a:chExt cx="6389370" cy="4748351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60CE84C-AAF5-B00E-4F8B-8B2A0743DFF7}"/>
                </a:ext>
              </a:extLst>
            </p:cNvPr>
            <p:cNvSpPr txBox="1"/>
            <p:nvPr/>
          </p:nvSpPr>
          <p:spPr>
            <a:xfrm>
              <a:off x="3513582" y="1870951"/>
              <a:ext cx="6389370" cy="4748351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>
              <a:spAutoFit/>
            </a:bodyPr>
            <a:lstStyle/>
            <a:p>
              <a:pPr>
                <a:lnSpc>
                  <a:spcPts val="1425"/>
                </a:lnSpc>
                <a:buNone/>
              </a:pP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@</a:t>
              </a:r>
              <a:r>
                <a:rPr lang="en-US" altLang="ko-KR" sz="10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Component</a:t>
              </a:r>
              <a:endPara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000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public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class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PointClient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{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000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private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final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RestClient</a:t>
              </a:r>
              <a:r>
                <a:rPr lang="en-US" altLang="ko-KR" sz="1000" b="0">
                  <a:solidFill>
                    <a:srgbClr val="FFA657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79C0FF"/>
                  </a:solidFill>
                  <a:effectLst/>
                  <a:latin typeface="Consolas" panose="020B0609020204030204" pitchFamily="49" charset="0"/>
                </a:rPr>
                <a:t>restClient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000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public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D2A8FF"/>
                  </a:solidFill>
                  <a:effectLst/>
                  <a:latin typeface="Consolas" panose="020B0609020204030204" pitchFamily="49" charset="0"/>
                </a:rPr>
                <a:t>PointClient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(@</a:t>
              </a:r>
              <a:r>
                <a:rPr lang="en-US" altLang="ko-KR" sz="10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Value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ko-KR" sz="10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"${client.point-service.url}"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) </a:t>
              </a:r>
              <a:r>
                <a:rPr lang="en-US" altLang="ko-KR" sz="10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String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FFA657"/>
                  </a:solidFill>
                  <a:effectLst/>
                  <a:latin typeface="Consolas" panose="020B0609020204030204" pitchFamily="49" charset="0"/>
                </a:rPr>
                <a:t>pointServiceUrl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){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000" b="0">
                  <a:solidFill>
                    <a:srgbClr val="79C0FF"/>
                  </a:solidFill>
                  <a:effectLst/>
                  <a:latin typeface="Consolas" panose="020B0609020204030204" pitchFamily="49" charset="0"/>
                </a:rPr>
                <a:t>this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altLang="ko-KR" sz="1000" b="0">
                  <a:solidFill>
                    <a:srgbClr val="79C0FF"/>
                  </a:solidFill>
                  <a:effectLst/>
                  <a:latin typeface="Consolas" panose="020B0609020204030204" pitchFamily="49" charset="0"/>
                </a:rPr>
                <a:t>restClient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RestClient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altLang="ko-KR" sz="1000" b="0">
                  <a:solidFill>
                    <a:srgbClr val="D2A8FF"/>
                  </a:solidFill>
                  <a:effectLst/>
                  <a:latin typeface="Consolas" panose="020B0609020204030204" pitchFamily="49" charset="0"/>
                </a:rPr>
                <a:t>builder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()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    .</a:t>
              </a:r>
              <a:r>
                <a:rPr lang="en-US" altLang="ko-KR" sz="1000" b="0">
                  <a:solidFill>
                    <a:srgbClr val="D2A8FF"/>
                  </a:solidFill>
                  <a:effectLst/>
                  <a:latin typeface="Consolas" panose="020B0609020204030204" pitchFamily="49" charset="0"/>
                </a:rPr>
                <a:t>baseUrl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ko-KR" sz="1000" b="0">
                  <a:solidFill>
                    <a:srgbClr val="FFA657"/>
                  </a:solidFill>
                  <a:effectLst/>
                  <a:latin typeface="Consolas" panose="020B0609020204030204" pitchFamily="49" charset="0"/>
                </a:rPr>
                <a:t>pointServiceUrl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)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    .</a:t>
              </a:r>
              <a:r>
                <a:rPr lang="en-US" altLang="ko-KR" sz="1000" b="0">
                  <a:solidFill>
                    <a:srgbClr val="D2A8FF"/>
                  </a:solidFill>
                  <a:effectLst/>
                  <a:latin typeface="Consolas" panose="020B0609020204030204" pitchFamily="49" charset="0"/>
                </a:rPr>
                <a:t>build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();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}</a:t>
              </a:r>
            </a:p>
            <a:p>
              <a:pPr>
                <a:lnSpc>
                  <a:spcPts val="1425"/>
                </a:lnSpc>
                <a:buNone/>
              </a:pPr>
              <a:endParaRPr lang="en-US" altLang="ko-KR" sz="1000">
                <a:solidFill>
                  <a:srgbClr val="BBBEBF"/>
                </a:solidFill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000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public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void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D2A8FF"/>
                  </a:solidFill>
                  <a:effectLst/>
                  <a:latin typeface="Consolas" panose="020B0609020204030204" pitchFamily="49" charset="0"/>
                </a:rPr>
                <a:t>addPoints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ko-KR" sz="10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Long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FFA657"/>
                  </a:solidFill>
                  <a:effectLst/>
                  <a:latin typeface="Consolas" panose="020B0609020204030204" pitchFamily="49" charset="0"/>
                </a:rPr>
                <a:t>userId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ko-KR" sz="10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int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FFA657"/>
                  </a:solidFill>
                  <a:effectLst/>
                  <a:latin typeface="Consolas" panose="020B0609020204030204" pitchFamily="49" charset="0"/>
                </a:rPr>
                <a:t>point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){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0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AddPointRequestDto</a:t>
              </a:r>
              <a:r>
                <a:rPr lang="en-US" altLang="ko-KR" sz="1000" b="0">
                  <a:solidFill>
                    <a:srgbClr val="FFA657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addPointRequestwDto</a:t>
              </a:r>
              <a:r>
                <a:rPr lang="en-US" altLang="ko-KR" sz="1000" b="0">
                  <a:solidFill>
                    <a:srgbClr val="FFA657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endPara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    </a:t>
              </a:r>
              <a:r>
                <a:rPr lang="en-US" altLang="ko-KR" sz="1000" b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new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D2A8FF"/>
                  </a:solidFill>
                  <a:effectLst/>
                  <a:latin typeface="Consolas" panose="020B0609020204030204" pitchFamily="49" charset="0"/>
                </a:rPr>
                <a:t>AddPointRequestDto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(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        </a:t>
              </a:r>
              <a:r>
                <a:rPr lang="en-US" altLang="ko-KR" sz="1000" b="0">
                  <a:solidFill>
                    <a:srgbClr val="FFA657"/>
                  </a:solidFill>
                  <a:effectLst/>
                  <a:latin typeface="Consolas" panose="020B0609020204030204" pitchFamily="49" charset="0"/>
                </a:rPr>
                <a:t>userId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,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        </a:t>
              </a:r>
              <a:r>
                <a:rPr lang="en-US" altLang="ko-KR" sz="1000" b="0">
                  <a:solidFill>
                    <a:srgbClr val="FFA657"/>
                  </a:solidFill>
                  <a:effectLst/>
                  <a:latin typeface="Consolas" panose="020B0609020204030204" pitchFamily="49" charset="0"/>
                </a:rPr>
                <a:t>point</a:t>
              </a:r>
              <a:endPara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    );</a:t>
              </a:r>
              <a:b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</a:br>
              <a:endPara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000" b="0">
                  <a:solidFill>
                    <a:srgbClr val="79C0FF"/>
                  </a:solidFill>
                  <a:effectLst/>
                  <a:latin typeface="Consolas" panose="020B0609020204030204" pitchFamily="49" charset="0"/>
                </a:rPr>
                <a:t>restClient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altLang="ko-KR" sz="1000" b="0">
                  <a:solidFill>
                    <a:srgbClr val="D2A8FF"/>
                  </a:solidFill>
                  <a:effectLst/>
                  <a:latin typeface="Consolas" panose="020B0609020204030204" pitchFamily="49" charset="0"/>
                </a:rPr>
                <a:t>post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()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    .</a:t>
              </a:r>
              <a:r>
                <a:rPr lang="en-US" altLang="ko-KR" sz="1000" b="0">
                  <a:solidFill>
                    <a:srgbClr val="D2A8FF"/>
                  </a:solidFill>
                  <a:effectLst/>
                  <a:latin typeface="Consolas" panose="020B0609020204030204" pitchFamily="49" charset="0"/>
                </a:rPr>
                <a:t>uri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ko-KR" sz="10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"/internal/points/add"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)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    .</a:t>
              </a:r>
              <a:r>
                <a:rPr lang="en-US" altLang="ko-KR" sz="1000" b="0">
                  <a:solidFill>
                    <a:srgbClr val="D2A8FF"/>
                  </a:solidFill>
                  <a:effectLst/>
                  <a:latin typeface="Consolas" panose="020B0609020204030204" pitchFamily="49" charset="0"/>
                </a:rPr>
                <a:t>contentType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ko-KR" sz="10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MediaType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altLang="ko-KR" sz="1000" b="0">
                  <a:solidFill>
                    <a:srgbClr val="79C0FF"/>
                  </a:solidFill>
                  <a:effectLst/>
                  <a:latin typeface="Consolas" panose="020B0609020204030204" pitchFamily="49" charset="0"/>
                </a:rPr>
                <a:t>APPLICATION_JSON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)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    .</a:t>
              </a:r>
              <a:r>
                <a:rPr lang="en-US" altLang="ko-KR" sz="1000" b="0">
                  <a:solidFill>
                    <a:srgbClr val="D2A8FF"/>
                  </a:solidFill>
                  <a:effectLst/>
                  <a:latin typeface="Consolas" panose="020B0609020204030204" pitchFamily="49" charset="0"/>
                </a:rPr>
                <a:t>body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ko-KR" sz="1000" b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addPointRequestwDto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)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    .</a:t>
              </a:r>
              <a:r>
                <a:rPr lang="en-US" altLang="ko-KR" sz="1000" b="0">
                  <a:solidFill>
                    <a:srgbClr val="D2A8FF"/>
                  </a:solidFill>
                  <a:effectLst/>
                  <a:latin typeface="Consolas" panose="020B0609020204030204" pitchFamily="49" charset="0"/>
                </a:rPr>
                <a:t>retrieve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()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    .</a:t>
              </a:r>
              <a:r>
                <a:rPr lang="en-US" altLang="ko-KR" sz="1000" b="0">
                  <a:solidFill>
                    <a:srgbClr val="D2A8FF"/>
                  </a:solidFill>
                  <a:effectLst/>
                  <a:latin typeface="Consolas" panose="020B0609020204030204" pitchFamily="49" charset="0"/>
                </a:rPr>
                <a:t>toBodilessEntity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();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}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}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E788AD43-07D4-4A9C-597C-E4FC59E4B239}"/>
                </a:ext>
              </a:extLst>
            </p:cNvPr>
            <p:cNvSpPr/>
            <p:nvPr/>
          </p:nvSpPr>
          <p:spPr>
            <a:xfrm>
              <a:off x="4773168" y="5102352"/>
              <a:ext cx="1591056" cy="2286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0B96761-53D0-E9F7-7A04-C1F51E864D8F}"/>
              </a:ext>
            </a:extLst>
          </p:cNvPr>
          <p:cNvSpPr/>
          <p:nvPr/>
        </p:nvSpPr>
        <p:spPr>
          <a:xfrm>
            <a:off x="7370064" y="3504938"/>
            <a:ext cx="4821936" cy="21460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회원가입후 포인트 적립을 위한 요청은</a:t>
            </a:r>
            <a:endParaRPr lang="en-US" altLang="ko-KR"/>
          </a:p>
          <a:p>
            <a:pPr algn="ctr"/>
            <a:r>
              <a:rPr lang="ko-KR" altLang="en-US"/>
              <a:t>내부 </a:t>
            </a:r>
            <a:r>
              <a:rPr lang="en-US" altLang="ko-KR"/>
              <a:t>API</a:t>
            </a:r>
            <a:r>
              <a:rPr lang="ko-KR" altLang="en-US"/>
              <a:t>임으로 </a:t>
            </a:r>
            <a:r>
              <a:rPr lang="en-US" altLang="ko-KR"/>
              <a:t>/internal/ </a:t>
            </a:r>
            <a:r>
              <a:rPr lang="ko-KR" altLang="en-US"/>
              <a:t>로 요청</a:t>
            </a:r>
            <a:r>
              <a:rPr lang="en-US" altLang="ko-KR"/>
              <a:t>url</a:t>
            </a:r>
            <a:r>
              <a:rPr lang="ko-KR" altLang="en-US"/>
              <a:t>이 시작되도록 변경한다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65439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FF778B-E6A2-00F8-BD95-851200D89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BoardContoller </a:t>
            </a:r>
            <a:r>
              <a:rPr lang="ko-KR" altLang="en-US"/>
              <a:t>변경점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66CE56-08C7-3F06-7E68-0464D861E312}"/>
              </a:ext>
            </a:extLst>
          </p:cNvPr>
          <p:cNvSpPr txBox="1"/>
          <p:nvPr/>
        </p:nvSpPr>
        <p:spPr>
          <a:xfrm>
            <a:off x="6391656" y="1855537"/>
            <a:ext cx="555416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/>
              <a:t>BoardController </a:t>
            </a:r>
            <a:r>
              <a:rPr lang="ko-KR" altLang="en-US"/>
              <a:t>내 </a:t>
            </a:r>
            <a:r>
              <a:rPr lang="en-US" altLang="ko-KR"/>
              <a:t>Url</a:t>
            </a:r>
            <a:r>
              <a:rPr lang="ko-KR" altLang="en-US"/>
              <a:t>은 모두 사용자가 </a:t>
            </a:r>
            <a:br>
              <a:rPr lang="en-US" altLang="ko-KR"/>
            </a:br>
            <a:r>
              <a:rPr lang="ko-KR" altLang="en-US"/>
              <a:t>사용해야하는 </a:t>
            </a:r>
            <a:r>
              <a:rPr lang="en-US" altLang="ko-KR"/>
              <a:t>Url </a:t>
            </a:r>
            <a:r>
              <a:rPr lang="ko-KR" altLang="en-US"/>
              <a:t>정보이다</a:t>
            </a:r>
            <a:r>
              <a:rPr lang="en-US" altLang="ko-KR"/>
              <a:t>. </a:t>
            </a:r>
            <a:r>
              <a:rPr lang="ko-KR" altLang="en-US"/>
              <a:t>그럼으로 외부</a:t>
            </a:r>
            <a:r>
              <a:rPr lang="en-US" altLang="ko-KR"/>
              <a:t>API</a:t>
            </a:r>
            <a:r>
              <a:rPr lang="ko-KR" altLang="en-US"/>
              <a:t>로써 동작할 수 있도록 </a:t>
            </a:r>
            <a:r>
              <a:rPr lang="en-US" altLang="ko-KR"/>
              <a:t>Controller</a:t>
            </a:r>
            <a:r>
              <a:rPr lang="ko-KR" altLang="en-US"/>
              <a:t>의 진입 </a:t>
            </a:r>
            <a:r>
              <a:rPr lang="en-US" altLang="ko-KR"/>
              <a:t>Url</a:t>
            </a:r>
            <a:r>
              <a:rPr lang="ko-KR" altLang="en-US"/>
              <a:t>을 </a:t>
            </a:r>
            <a:r>
              <a:rPr lang="en-US" altLang="ko-KR"/>
              <a:t>/api </a:t>
            </a:r>
            <a:r>
              <a:rPr lang="ko-KR" altLang="en-US"/>
              <a:t>로 시작할 수 있도록 변경한다</a:t>
            </a:r>
            <a:r>
              <a:rPr lang="en-US" altLang="ko-KR"/>
              <a:t>.</a:t>
            </a:r>
          </a:p>
          <a:p>
            <a:pPr marL="342900" indent="-342900">
              <a:buAutoNum type="arabicPeriod"/>
            </a:pPr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3D1E6441-EF5A-0E03-8A44-77B058A1CCED}"/>
              </a:ext>
            </a:extLst>
          </p:cNvPr>
          <p:cNvGrpSpPr/>
          <p:nvPr/>
        </p:nvGrpSpPr>
        <p:grpSpPr>
          <a:xfrm>
            <a:off x="246181" y="1855537"/>
            <a:ext cx="6081467" cy="4907439"/>
            <a:chOff x="246181" y="1855537"/>
            <a:chExt cx="6081467" cy="4907439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A5110F3B-3B68-B042-920A-88B872BE718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6181" y="1855537"/>
              <a:ext cx="6081467" cy="4907439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A34B236B-DAC7-9E23-6F2C-75BD232B9C3E}"/>
                </a:ext>
              </a:extLst>
            </p:cNvPr>
            <p:cNvSpPr/>
            <p:nvPr/>
          </p:nvSpPr>
          <p:spPr>
            <a:xfrm>
              <a:off x="1627632" y="2066544"/>
              <a:ext cx="310896" cy="16459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1680481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그룹 13">
            <a:extLst>
              <a:ext uri="{FF2B5EF4-FFF2-40B4-BE49-F238E27FC236}">
                <a16:creationId xmlns:a16="http://schemas.microsoft.com/office/drawing/2014/main" id="{273E9D61-7983-0B60-BE0C-B79DF6FEF66A}"/>
              </a:ext>
            </a:extLst>
          </p:cNvPr>
          <p:cNvGrpSpPr/>
          <p:nvPr/>
        </p:nvGrpSpPr>
        <p:grpSpPr>
          <a:xfrm>
            <a:off x="2805211" y="1860899"/>
            <a:ext cx="5144102" cy="4602237"/>
            <a:chOff x="2805211" y="1860899"/>
            <a:chExt cx="5144102" cy="4602237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0DE20CA3-4685-5E88-7639-5B303D9AE0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05211" y="1860899"/>
              <a:ext cx="5144102" cy="4602237"/>
            </a:xfrm>
            <a:prstGeom prst="rect">
              <a:avLst/>
            </a:prstGeom>
            <a:ln w="38100">
              <a:solidFill>
                <a:srgbClr val="FF0000"/>
              </a:solidFill>
            </a:ln>
          </p:spPr>
        </p:pic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FD641557-CE0B-A787-727A-AE92F94F5046}"/>
                </a:ext>
              </a:extLst>
            </p:cNvPr>
            <p:cNvSpPr/>
            <p:nvPr/>
          </p:nvSpPr>
          <p:spPr>
            <a:xfrm>
              <a:off x="4416101" y="3776472"/>
              <a:ext cx="585667" cy="23917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1906CAF5-06B4-DD5D-76A8-A7C1DD90F9EE}"/>
                </a:ext>
              </a:extLst>
            </p:cNvPr>
            <p:cNvSpPr/>
            <p:nvPr/>
          </p:nvSpPr>
          <p:spPr>
            <a:xfrm>
              <a:off x="4416101" y="5419344"/>
              <a:ext cx="585667" cy="23917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234B0C2B-F67D-E04D-D401-70B668FA1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/>
              <a:t>board-service </a:t>
            </a:r>
            <a:r>
              <a:rPr lang="ko-KR" altLang="en-US" sz="4000"/>
              <a:t>다른 서비스 요청 </a:t>
            </a:r>
            <a:r>
              <a:rPr lang="en-US" altLang="ko-KR" sz="4000"/>
              <a:t>url</a:t>
            </a:r>
            <a:r>
              <a:rPr lang="ko-KR" altLang="en-US" sz="4000"/>
              <a:t>변경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5D68890-3BA7-B166-DA35-3CE954C27D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591" y="1860899"/>
            <a:ext cx="2362530" cy="1362265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49863689-5DF5-7CD1-92B6-272188CDA4E3}"/>
              </a:ext>
            </a:extLst>
          </p:cNvPr>
          <p:cNvSpPr/>
          <p:nvPr/>
        </p:nvSpPr>
        <p:spPr>
          <a:xfrm>
            <a:off x="658368" y="2724912"/>
            <a:ext cx="1243584" cy="4982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B7CF466-E5A7-C874-664D-D8F7EE9E2EB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6999"/>
          <a:stretch>
            <a:fillRect/>
          </a:stretch>
        </p:blipFill>
        <p:spPr>
          <a:xfrm>
            <a:off x="8411645" y="3150012"/>
            <a:ext cx="3688915" cy="3634836"/>
          </a:xfrm>
          <a:prstGeom prst="rect">
            <a:avLst/>
          </a:prstGeom>
          <a:ln w="28575">
            <a:solidFill>
              <a:srgbClr val="00B050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32DAAF9-8582-4688-CBA9-B5BA6DFD37B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3001"/>
          <a:stretch>
            <a:fillRect/>
          </a:stretch>
        </p:blipFill>
        <p:spPr>
          <a:xfrm>
            <a:off x="6336022" y="2025491"/>
            <a:ext cx="3688915" cy="3223164"/>
          </a:xfrm>
          <a:prstGeom prst="rect">
            <a:avLst/>
          </a:prstGeom>
          <a:ln w="28575">
            <a:solidFill>
              <a:srgbClr val="00B050"/>
            </a:solidFill>
          </a:ln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22875769-153F-5123-CA34-2FD67B3AC31A}"/>
              </a:ext>
            </a:extLst>
          </p:cNvPr>
          <p:cNvSpPr/>
          <p:nvPr/>
        </p:nvSpPr>
        <p:spPr>
          <a:xfrm>
            <a:off x="7823765" y="3806952"/>
            <a:ext cx="585667" cy="23917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30FF547-0954-F4D4-8A59-20DA5456F64D}"/>
              </a:ext>
            </a:extLst>
          </p:cNvPr>
          <p:cNvSpPr/>
          <p:nvPr/>
        </p:nvSpPr>
        <p:spPr>
          <a:xfrm>
            <a:off x="9740957" y="5843016"/>
            <a:ext cx="585667" cy="23917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4C475BC-A046-CF12-00BA-9D17DADF51FD}"/>
              </a:ext>
            </a:extLst>
          </p:cNvPr>
          <p:cNvSpPr txBox="1"/>
          <p:nvPr/>
        </p:nvSpPr>
        <p:spPr>
          <a:xfrm>
            <a:off x="333591" y="3429000"/>
            <a:ext cx="246940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PointClient</a:t>
            </a:r>
            <a:r>
              <a:rPr lang="ko-KR" altLang="en-US" sz="1400"/>
              <a:t>와 </a:t>
            </a:r>
            <a:br>
              <a:rPr lang="en-US" altLang="ko-KR" sz="1400"/>
            </a:br>
            <a:r>
              <a:rPr lang="en-US" altLang="ko-KR" sz="1400"/>
              <a:t>UserClient</a:t>
            </a:r>
            <a:r>
              <a:rPr lang="ko-KR" altLang="en-US" sz="1400"/>
              <a:t>는</a:t>
            </a:r>
            <a:endParaRPr lang="en-US" altLang="ko-KR" sz="1400"/>
          </a:p>
          <a:p>
            <a:r>
              <a:rPr lang="ko-KR" altLang="en-US" sz="1400"/>
              <a:t>모두 내부 </a:t>
            </a:r>
            <a:r>
              <a:rPr lang="en-US" altLang="ko-KR" sz="1400"/>
              <a:t>Url </a:t>
            </a:r>
            <a:r>
              <a:rPr lang="ko-KR" altLang="en-US" sz="1400"/>
              <a:t>임으로</a:t>
            </a:r>
            <a:endParaRPr lang="en-US" altLang="ko-KR" sz="1400"/>
          </a:p>
          <a:p>
            <a:r>
              <a:rPr lang="ko-KR" altLang="en-US" sz="1400"/>
              <a:t>요청 </a:t>
            </a:r>
            <a:r>
              <a:rPr lang="en-US" altLang="ko-KR" sz="1400"/>
              <a:t>Url</a:t>
            </a:r>
            <a:r>
              <a:rPr lang="ko-KR" altLang="en-US" sz="1400"/>
              <a:t>을 </a:t>
            </a:r>
            <a:r>
              <a:rPr lang="en-US" altLang="ko-KR" sz="1400"/>
              <a:t>Internal</a:t>
            </a:r>
            <a:r>
              <a:rPr lang="ko-KR" altLang="en-US" sz="1400"/>
              <a:t>로 시작하도록 변경한다</a:t>
            </a:r>
            <a:r>
              <a:rPr lang="en-US" altLang="ko-KR" sz="1400"/>
              <a:t>.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1883904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F9DA30-70AE-BBAE-D80D-39C5949C1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PointController </a:t>
            </a:r>
            <a:r>
              <a:rPr lang="ko-KR" altLang="en-US"/>
              <a:t>변경점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0733581-A060-BCA0-F44C-01C8B2753A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002" y="1852727"/>
            <a:ext cx="2400635" cy="108600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49FFC6A-C195-108C-E024-13B42A4486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5555" y="1852727"/>
            <a:ext cx="5287113" cy="438211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A6F0A90-4A29-6A8A-7D4A-0FE6DCFA6BBC}"/>
              </a:ext>
            </a:extLst>
          </p:cNvPr>
          <p:cNvSpPr txBox="1"/>
          <p:nvPr/>
        </p:nvSpPr>
        <p:spPr>
          <a:xfrm>
            <a:off x="8492668" y="1852727"/>
            <a:ext cx="369933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point-service </a:t>
            </a:r>
            <a:r>
              <a:rPr lang="ko-KR" altLang="en-US" sz="1400"/>
              <a:t>내 모든 </a:t>
            </a:r>
            <a:r>
              <a:rPr lang="en-US" altLang="ko-KR" sz="1400"/>
              <a:t>url</a:t>
            </a:r>
            <a:r>
              <a:rPr lang="ko-KR" altLang="en-US" sz="1400"/>
              <a:t>은 내부 통신용 </a:t>
            </a:r>
            <a:r>
              <a:rPr lang="en-US" altLang="ko-KR" sz="1400"/>
              <a:t>URL </a:t>
            </a:r>
            <a:r>
              <a:rPr lang="ko-KR" altLang="en-US" sz="1400"/>
              <a:t>이다</a:t>
            </a:r>
            <a:r>
              <a:rPr lang="en-US" altLang="ko-KR" sz="1400"/>
              <a:t>.</a:t>
            </a:r>
          </a:p>
          <a:p>
            <a:endParaRPr lang="en-US" altLang="ko-KR" sz="1400"/>
          </a:p>
          <a:p>
            <a:r>
              <a:rPr lang="ko-KR" altLang="en-US" sz="1400"/>
              <a:t>그럼으로 </a:t>
            </a:r>
            <a:r>
              <a:rPr lang="en-US" altLang="ko-KR" sz="1400"/>
              <a:t>PointController </a:t>
            </a:r>
            <a:r>
              <a:rPr lang="ko-KR" altLang="en-US" sz="1400"/>
              <a:t>명을 </a:t>
            </a:r>
            <a:r>
              <a:rPr lang="en-US" altLang="ko-KR" sz="1400"/>
              <a:t>PointInternalController</a:t>
            </a:r>
            <a:r>
              <a:rPr lang="ko-KR" altLang="en-US" sz="1400"/>
              <a:t>로 변경하며</a:t>
            </a:r>
            <a:r>
              <a:rPr lang="en-US" altLang="ko-KR" sz="1400"/>
              <a:t>, </a:t>
            </a:r>
            <a:br>
              <a:rPr lang="en-US" altLang="ko-KR" sz="1400"/>
            </a:br>
            <a:br>
              <a:rPr lang="en-US" altLang="ko-KR" sz="1400"/>
            </a:br>
            <a:r>
              <a:rPr lang="en-US" altLang="ko-KR" sz="1400"/>
              <a:t>Controller</a:t>
            </a:r>
            <a:r>
              <a:rPr lang="ko-KR" altLang="en-US" sz="1400"/>
              <a:t>의 진입 </a:t>
            </a:r>
            <a:r>
              <a:rPr lang="en-US" altLang="ko-KR" sz="1400"/>
              <a:t>url</a:t>
            </a:r>
            <a:r>
              <a:rPr lang="ko-KR" altLang="en-US" sz="1400"/>
              <a:t>을 </a:t>
            </a:r>
            <a:r>
              <a:rPr lang="en-US" altLang="ko-KR" sz="1400"/>
              <a:t>/internal</a:t>
            </a:r>
            <a:r>
              <a:rPr lang="ko-KR" altLang="en-US" sz="1400"/>
              <a:t>로 시작하도록 설정한다</a:t>
            </a:r>
            <a:r>
              <a:rPr lang="en-US" altLang="ko-KR" sz="1400"/>
              <a:t>.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4380583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201B67-3B43-B85E-E396-15C03DC87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API Gateway</a:t>
            </a:r>
            <a:r>
              <a:rPr lang="ko-KR" altLang="en-US"/>
              <a:t>를 통해 내부</a:t>
            </a:r>
            <a:r>
              <a:rPr lang="en-US" altLang="ko-KR"/>
              <a:t>API </a:t>
            </a:r>
            <a:r>
              <a:rPr lang="ko-KR" altLang="en-US"/>
              <a:t>접근 차단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E2BD80-DA9B-EA7B-B6DF-999704E16DBF}"/>
              </a:ext>
            </a:extLst>
          </p:cNvPr>
          <p:cNvSpPr txBox="1"/>
          <p:nvPr/>
        </p:nvSpPr>
        <p:spPr>
          <a:xfrm>
            <a:off x="1097280" y="1931041"/>
            <a:ext cx="6094476" cy="332526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server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port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05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8000</a:t>
            </a:r>
            <a:endParaRPr lang="en-US" altLang="ko-KR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altLang="ko-KR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spring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cloud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gateway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5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server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05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webflux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ko-KR" sz="105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routes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        -   </a:t>
            </a:r>
            <a:r>
              <a:rPr lang="en-US" altLang="ko-KR" sz="105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05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user-service</a:t>
            </a:r>
            <a:endParaRPr lang="en-US" altLang="ko-KR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            </a:t>
            </a:r>
            <a:r>
              <a:rPr lang="en-US" altLang="ko-KR" sz="105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uri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05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http://localhost:8080</a:t>
            </a:r>
            <a:endParaRPr lang="en-US" altLang="ko-KR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            </a:t>
            </a:r>
            <a:r>
              <a:rPr lang="en-US" altLang="ko-KR" sz="105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predicates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                - </a:t>
            </a:r>
            <a:r>
              <a:rPr lang="en-US" altLang="ko-KR" sz="105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Path=/api/users/**</a:t>
            </a:r>
            <a:endParaRPr lang="en-US" altLang="ko-KR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        -   </a:t>
            </a:r>
            <a:r>
              <a:rPr lang="en-US" altLang="ko-KR" sz="105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05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board-service</a:t>
            </a:r>
            <a:endParaRPr lang="en-US" altLang="ko-KR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            </a:t>
            </a:r>
            <a:r>
              <a:rPr lang="en-US" altLang="ko-KR" sz="105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uri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05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http://localhost:8081</a:t>
            </a:r>
            <a:endParaRPr lang="en-US" altLang="ko-KR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            </a:t>
            </a:r>
            <a:r>
              <a:rPr lang="en-US" altLang="ko-KR" sz="105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predicates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                - </a:t>
            </a:r>
            <a:r>
              <a:rPr lang="en-US" altLang="ko-KR" sz="105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Path=/api/boards/**</a:t>
            </a:r>
            <a:endParaRPr lang="en-US" altLang="ko-KR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7AEBAD-07C7-A242-4388-0A87E89D831C}"/>
              </a:ext>
            </a:extLst>
          </p:cNvPr>
          <p:cNvSpPr txBox="1"/>
          <p:nvPr/>
        </p:nvSpPr>
        <p:spPr>
          <a:xfrm>
            <a:off x="7287768" y="1931041"/>
            <a:ext cx="466344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/>
              <a:t>point-service</a:t>
            </a:r>
            <a:r>
              <a:rPr lang="ko-KR" altLang="en-US"/>
              <a:t>는 클라이언트가 접근하여 </a:t>
            </a:r>
            <a:br>
              <a:rPr lang="en-US" altLang="ko-KR"/>
            </a:br>
            <a:r>
              <a:rPr lang="ko-KR" altLang="en-US"/>
              <a:t>사용하는 </a:t>
            </a:r>
            <a:r>
              <a:rPr lang="en-US" altLang="ko-KR"/>
              <a:t>Url</a:t>
            </a:r>
            <a:r>
              <a:rPr lang="ko-KR" altLang="en-US"/>
              <a:t>이 존재하지 않음으로 </a:t>
            </a:r>
            <a:r>
              <a:rPr lang="en-US" altLang="ko-KR"/>
              <a:t>API GateWay</a:t>
            </a:r>
            <a:r>
              <a:rPr lang="ko-KR" altLang="en-US"/>
              <a:t>에 설정할 필요가 없다</a:t>
            </a:r>
            <a:r>
              <a:rPr lang="en-US" altLang="ko-KR"/>
              <a:t>.</a:t>
            </a:r>
          </a:p>
          <a:p>
            <a:pPr marL="342900" indent="-342900">
              <a:buAutoNum type="arabicPeriod"/>
            </a:pPr>
            <a:r>
              <a:rPr lang="ko-KR" altLang="en-US"/>
              <a:t>접근 허용 </a:t>
            </a:r>
            <a:r>
              <a:rPr lang="en-US" altLang="ko-KR"/>
              <a:t>url</a:t>
            </a:r>
            <a:r>
              <a:rPr lang="ko-KR" altLang="en-US"/>
              <a:t>은 </a:t>
            </a:r>
            <a:r>
              <a:rPr lang="en-US" altLang="ko-KR"/>
              <a:t>/api </a:t>
            </a:r>
            <a:r>
              <a:rPr lang="ko-KR" altLang="en-US"/>
              <a:t>로 시작함으로 </a:t>
            </a:r>
            <a:br>
              <a:rPr lang="en-US" altLang="ko-KR"/>
            </a:br>
            <a:r>
              <a:rPr lang="en-US" altLang="ko-KR"/>
              <a:t>user-service </a:t>
            </a:r>
            <a:r>
              <a:rPr lang="ko-KR" altLang="en-US"/>
              <a:t>와 </a:t>
            </a:r>
            <a:r>
              <a:rPr lang="en-US" altLang="ko-KR"/>
              <a:t>board-service</a:t>
            </a:r>
            <a:r>
              <a:rPr lang="ko-KR" altLang="en-US"/>
              <a:t>의 </a:t>
            </a:r>
            <a:r>
              <a:rPr lang="en-US" altLang="ko-KR"/>
              <a:t>url </a:t>
            </a:r>
            <a:r>
              <a:rPr lang="ko-KR" altLang="en-US"/>
              <a:t>패턴을 </a:t>
            </a:r>
            <a:r>
              <a:rPr lang="en-US" altLang="ko-KR"/>
              <a:t>/api</a:t>
            </a:r>
            <a:r>
              <a:rPr lang="ko-KR" altLang="en-US"/>
              <a:t>로 시작하도록 변경한다</a:t>
            </a:r>
            <a:r>
              <a:rPr lang="en-US" altLang="ko-KR"/>
              <a:t>.</a:t>
            </a:r>
          </a:p>
          <a:p>
            <a:pPr marL="342900" indent="-342900">
              <a:buAutoNum type="arabicPeriod"/>
            </a:pPr>
            <a:endParaRPr lang="en-US" altLang="ko-KR"/>
          </a:p>
          <a:p>
            <a:pPr marL="342900" indent="-342900">
              <a:buAutoNum type="arabicPeriod"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90289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E3BAF6-3010-A464-7FEF-0C8480A95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접근 </a:t>
            </a:r>
            <a:r>
              <a:rPr lang="en-US" altLang="ko-KR"/>
              <a:t>/ </a:t>
            </a:r>
            <a:r>
              <a:rPr lang="ko-KR" altLang="en-US"/>
              <a:t>차단 </a:t>
            </a:r>
            <a:r>
              <a:rPr lang="en-US" altLang="ko-KR"/>
              <a:t>url </a:t>
            </a:r>
            <a:r>
              <a:rPr lang="ko-KR" altLang="en-US"/>
              <a:t>테스트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A0571A09-1364-421D-13F5-FFBED35476D0}"/>
              </a:ext>
            </a:extLst>
          </p:cNvPr>
          <p:cNvGrpSpPr/>
          <p:nvPr/>
        </p:nvGrpSpPr>
        <p:grpSpPr>
          <a:xfrm>
            <a:off x="1097280" y="1934370"/>
            <a:ext cx="3553321" cy="2349976"/>
            <a:chOff x="1097280" y="1934370"/>
            <a:chExt cx="3553321" cy="2349976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DE303021-1A8F-4C16-9759-7FE467E306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0" y="1934370"/>
              <a:ext cx="3553321" cy="2257740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DAADB6F7-D8BF-B427-BEAB-38B29842BBF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64441" y="3931872"/>
              <a:ext cx="1686160" cy="352474"/>
            </a:xfrm>
            <a:prstGeom prst="rect">
              <a:avLst/>
            </a:prstGeom>
          </p:spPr>
        </p:pic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797A070B-FC8C-46AE-FE83-EFDE5F17D682}"/>
              </a:ext>
            </a:extLst>
          </p:cNvPr>
          <p:cNvGrpSpPr/>
          <p:nvPr/>
        </p:nvGrpSpPr>
        <p:grpSpPr>
          <a:xfrm>
            <a:off x="4992586" y="1934370"/>
            <a:ext cx="6545030" cy="1800477"/>
            <a:chOff x="4992586" y="1934370"/>
            <a:chExt cx="6545030" cy="1800477"/>
          </a:xfrm>
        </p:grpSpPr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26C7B380-A018-630A-499A-91B2411BCFA2}"/>
                </a:ext>
              </a:extLst>
            </p:cNvPr>
            <p:cNvGrpSpPr/>
            <p:nvPr/>
          </p:nvGrpSpPr>
          <p:grpSpPr>
            <a:xfrm>
              <a:off x="4992586" y="1934370"/>
              <a:ext cx="4906060" cy="428685"/>
              <a:chOff x="4992586" y="1934370"/>
              <a:chExt cx="4906060" cy="428685"/>
            </a:xfrm>
          </p:grpSpPr>
          <p:pic>
            <p:nvPicPr>
              <p:cNvPr id="9" name="그림 8">
                <a:extLst>
                  <a:ext uri="{FF2B5EF4-FFF2-40B4-BE49-F238E27FC236}">
                    <a16:creationId xmlns:a16="http://schemas.microsoft.com/office/drawing/2014/main" id="{B8A5632E-E623-B3AE-B3A1-3DB9F3268B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92586" y="1934370"/>
                <a:ext cx="3267531" cy="362001"/>
              </a:xfrm>
              <a:prstGeom prst="rect">
                <a:avLst/>
              </a:prstGeom>
            </p:spPr>
          </p:pic>
          <p:pic>
            <p:nvPicPr>
              <p:cNvPr id="11" name="그림 10">
                <a:extLst>
                  <a:ext uri="{FF2B5EF4-FFF2-40B4-BE49-F238E27FC236}">
                    <a16:creationId xmlns:a16="http://schemas.microsoft.com/office/drawing/2014/main" id="{DE5677CA-E973-47EA-A6C6-EDD43E82E5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260117" y="1934370"/>
                <a:ext cx="1638529" cy="428685"/>
              </a:xfrm>
              <a:prstGeom prst="rect">
                <a:avLst/>
              </a:prstGeom>
            </p:spPr>
          </p:pic>
        </p:grpSp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879E7824-0EFC-46CC-CCCF-0E75E36A53A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992586" y="2296371"/>
              <a:ext cx="6545030" cy="1438476"/>
            </a:xfrm>
            <a:prstGeom prst="rect">
              <a:avLst/>
            </a:prstGeom>
          </p:spPr>
        </p:pic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28E65F36-D3A0-DE59-E78D-4FCEDC9ED441}"/>
              </a:ext>
            </a:extLst>
          </p:cNvPr>
          <p:cNvGrpSpPr/>
          <p:nvPr/>
        </p:nvGrpSpPr>
        <p:grpSpPr>
          <a:xfrm>
            <a:off x="1097280" y="4512978"/>
            <a:ext cx="10812384" cy="2257740"/>
            <a:chOff x="1097280" y="4512978"/>
            <a:chExt cx="10812384" cy="2257740"/>
          </a:xfrm>
        </p:grpSpPr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021D8857-8EB1-8BE5-1C32-51D7F48FCF9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97280" y="4512978"/>
              <a:ext cx="3219899" cy="2257740"/>
            </a:xfrm>
            <a:prstGeom prst="rect">
              <a:avLst/>
            </a:prstGeom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647E74FF-2E50-3D8F-0B01-861BA7F6F87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317179" y="4917847"/>
              <a:ext cx="7592485" cy="1448002"/>
            </a:xfrm>
            <a:prstGeom prst="rect">
              <a:avLst/>
            </a:prstGeom>
          </p:spPr>
        </p:pic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9C53F6B2-D6FE-D6DA-06C3-8D73B5EE955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317179" y="4520767"/>
              <a:ext cx="1559259" cy="39707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92870608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98</TotalTime>
  <Words>703</Words>
  <Application>Microsoft Office PowerPoint</Application>
  <PresentationFormat>와이드스크린</PresentationFormat>
  <Paragraphs>107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1" baseType="lpstr">
      <vt:lpstr>Calibri</vt:lpstr>
      <vt:lpstr>Calibri Light</vt:lpstr>
      <vt:lpstr>Consolas</vt:lpstr>
      <vt:lpstr>추억</vt:lpstr>
      <vt:lpstr>API Gateway</vt:lpstr>
      <vt:lpstr>API GateWay 서버란?</vt:lpstr>
      <vt:lpstr>API Gateway를 사용하는 이유-1</vt:lpstr>
      <vt:lpstr>API Gateway를 사용하는 이유-2</vt:lpstr>
      <vt:lpstr>API GateWay를 사용할 때 사용하는 툴</vt:lpstr>
      <vt:lpstr>API GateWay 애플리케이션 생성</vt:lpstr>
      <vt:lpstr>application.yml 설정(라우팅)</vt:lpstr>
      <vt:lpstr>API GateWay 동작 확인</vt:lpstr>
      <vt:lpstr>외부용API</vt:lpstr>
      <vt:lpstr>사용자 내부 통신 API만 컨트롤 하는 UserInternalController 생성</vt:lpstr>
      <vt:lpstr>UserController 변경점</vt:lpstr>
      <vt:lpstr>user-service에서 다른 서비스로 보내는 요청 Url변경</vt:lpstr>
      <vt:lpstr>BoardContoller 변경점</vt:lpstr>
      <vt:lpstr>board-service 다른 서비스 요청 url변경</vt:lpstr>
      <vt:lpstr>PointController 변경점</vt:lpstr>
      <vt:lpstr>API Gateway를 통해 내부API 접근 차단</vt:lpstr>
      <vt:lpstr>접근 / 차단 url 테스트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22</cp:revision>
  <dcterms:created xsi:type="dcterms:W3CDTF">2026-08-16T06:41:05Z</dcterms:created>
  <dcterms:modified xsi:type="dcterms:W3CDTF">2026-08-18T07:08:49Z</dcterms:modified>
</cp:coreProperties>
</file>